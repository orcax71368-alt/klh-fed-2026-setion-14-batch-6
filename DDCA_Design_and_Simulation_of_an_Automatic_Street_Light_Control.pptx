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94" y="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5452" y="1612264"/>
            <a:ext cx="5041900" cy="3591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252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5452" y="579659"/>
            <a:ext cx="5854065" cy="6890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43685" y="1762474"/>
            <a:ext cx="6735445" cy="4291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F98AC7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620000" cy="6858000"/>
            </a:xfrm>
            <a:custGeom>
              <a:avLst/>
              <a:gdLst/>
              <a:ahLst/>
              <a:cxnLst/>
              <a:rect l="l" t="t" r="r" b="b"/>
              <a:pathLst>
                <a:path w="7620000" h="6858000">
                  <a:moveTo>
                    <a:pt x="0" y="6857999"/>
                  </a:moveTo>
                  <a:lnTo>
                    <a:pt x="7619999" y="6857999"/>
                  </a:lnTo>
                  <a:lnTo>
                    <a:pt x="7619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9999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6857999"/>
                  </a:lnTo>
                  <a:close/>
                </a:path>
              </a:pathLst>
            </a:custGeom>
            <a:solidFill>
              <a:srgbClr val="44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5250" y="152400"/>
              <a:ext cx="4381499" cy="65531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85452" y="1927828"/>
            <a:ext cx="6116320" cy="23507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75"/>
              </a:spcBef>
            </a:pPr>
            <a:r>
              <a:rPr sz="3700" spc="155" dirty="0"/>
              <a:t>Design</a:t>
            </a:r>
            <a:r>
              <a:rPr sz="3700" spc="175" dirty="0"/>
              <a:t> </a:t>
            </a:r>
            <a:r>
              <a:rPr sz="3700" spc="125" dirty="0"/>
              <a:t>and</a:t>
            </a:r>
            <a:r>
              <a:rPr sz="3700" spc="175" dirty="0"/>
              <a:t> </a:t>
            </a:r>
            <a:r>
              <a:rPr sz="3700" spc="114" dirty="0"/>
              <a:t>Simulation</a:t>
            </a:r>
            <a:r>
              <a:rPr sz="3700" spc="175" dirty="0"/>
              <a:t> </a:t>
            </a:r>
            <a:r>
              <a:rPr sz="3700" spc="150" dirty="0"/>
              <a:t>of</a:t>
            </a:r>
            <a:r>
              <a:rPr sz="3700" spc="175" dirty="0"/>
              <a:t> </a:t>
            </a:r>
            <a:r>
              <a:rPr sz="3700" spc="100" dirty="0"/>
              <a:t>an </a:t>
            </a:r>
            <a:r>
              <a:rPr sz="3700" spc="140" dirty="0"/>
              <a:t>Automatic</a:t>
            </a:r>
            <a:r>
              <a:rPr sz="3700" spc="170" dirty="0"/>
              <a:t> </a:t>
            </a:r>
            <a:r>
              <a:rPr sz="3700" spc="160" dirty="0"/>
              <a:t>Street</a:t>
            </a:r>
            <a:r>
              <a:rPr sz="3700" spc="170" dirty="0"/>
              <a:t> </a:t>
            </a:r>
            <a:r>
              <a:rPr sz="3700" spc="125" dirty="0"/>
              <a:t>Light</a:t>
            </a:r>
            <a:endParaRPr sz="3700"/>
          </a:p>
          <a:p>
            <a:pPr marL="12700" marR="1354455">
              <a:lnSpc>
                <a:spcPts val="4570"/>
              </a:lnSpc>
            </a:pPr>
            <a:r>
              <a:rPr sz="3700" spc="165" dirty="0"/>
              <a:t>Control</a:t>
            </a:r>
            <a:r>
              <a:rPr sz="3700" spc="170" dirty="0"/>
              <a:t> </a:t>
            </a:r>
            <a:r>
              <a:rPr sz="3700" spc="165" dirty="0"/>
              <a:t>System</a:t>
            </a:r>
            <a:r>
              <a:rPr sz="3700" spc="170" dirty="0"/>
              <a:t> </a:t>
            </a:r>
            <a:r>
              <a:rPr sz="3700" spc="150" dirty="0"/>
              <a:t>Using </a:t>
            </a:r>
            <a:r>
              <a:rPr sz="3700" spc="140" dirty="0"/>
              <a:t>Combinational</a:t>
            </a:r>
            <a:r>
              <a:rPr sz="3700" spc="165" dirty="0"/>
              <a:t> </a:t>
            </a:r>
            <a:r>
              <a:rPr sz="3700" spc="175" dirty="0"/>
              <a:t>Logic</a:t>
            </a:r>
            <a:endParaRPr sz="3700"/>
          </a:p>
        </p:txBody>
      </p:sp>
      <p:sp>
        <p:nvSpPr>
          <p:cNvPr id="7" name="object 7"/>
          <p:cNvSpPr txBox="1"/>
          <p:nvPr/>
        </p:nvSpPr>
        <p:spPr>
          <a:xfrm>
            <a:off x="685452" y="4597971"/>
            <a:ext cx="2280920" cy="2647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spc="-40" dirty="0">
                <a:solidFill>
                  <a:srgbClr val="D5E4EF"/>
                </a:solidFill>
                <a:latin typeface="Trebuchet MS"/>
                <a:cs typeface="Trebuchet MS"/>
              </a:rPr>
              <a:t>Group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75" dirty="0">
                <a:solidFill>
                  <a:srgbClr val="D5E4EF"/>
                </a:solidFill>
                <a:latin typeface="Trebuchet MS"/>
                <a:cs typeface="Trebuchet MS"/>
              </a:rPr>
              <a:t>Project</a:t>
            </a:r>
            <a:r>
              <a:rPr sz="155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30" dirty="0">
                <a:solidFill>
                  <a:srgbClr val="D5E4EF"/>
                </a:solidFill>
                <a:latin typeface="Trebuchet MS"/>
                <a:cs typeface="Trebuchet MS"/>
              </a:rPr>
              <a:t>Presentation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7620000" cy="6858000"/>
            </a:xfrm>
            <a:custGeom>
              <a:avLst/>
              <a:gdLst/>
              <a:ahLst/>
              <a:cxnLst/>
              <a:rect l="l" t="t" r="r" b="b"/>
              <a:pathLst>
                <a:path w="7620000" h="6858000">
                  <a:moveTo>
                    <a:pt x="0" y="6857999"/>
                  </a:moveTo>
                  <a:lnTo>
                    <a:pt x="7619999" y="6857999"/>
                  </a:lnTo>
                  <a:lnTo>
                    <a:pt x="76199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9999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6857999"/>
                  </a:lnTo>
                  <a:close/>
                </a:path>
              </a:pathLst>
            </a:custGeom>
            <a:solidFill>
              <a:srgbClr val="44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5250" y="142875"/>
              <a:ext cx="4381499" cy="657224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35" dirty="0"/>
              <a:t>Introduction</a:t>
            </a:r>
            <a:r>
              <a:rPr spc="160" dirty="0"/>
              <a:t> </a:t>
            </a:r>
            <a:r>
              <a:rPr spc="135" dirty="0"/>
              <a:t>and</a:t>
            </a:r>
            <a:r>
              <a:rPr spc="165" dirty="0"/>
              <a:t> </a:t>
            </a:r>
            <a:r>
              <a:rPr spc="135" dirty="0"/>
              <a:t>Objectives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95324" y="1419224"/>
            <a:ext cx="6229350" cy="4838700"/>
            <a:chOff x="695324" y="1419224"/>
            <a:chExt cx="6229350" cy="4838700"/>
          </a:xfrm>
        </p:grpSpPr>
        <p:sp>
          <p:nvSpPr>
            <p:cNvPr id="8" name="object 8"/>
            <p:cNvSpPr/>
            <p:nvPr/>
          </p:nvSpPr>
          <p:spPr>
            <a:xfrm>
              <a:off x="704849" y="1428749"/>
              <a:ext cx="6210300" cy="1676400"/>
            </a:xfrm>
            <a:custGeom>
              <a:avLst/>
              <a:gdLst/>
              <a:ahLst/>
              <a:cxnLst/>
              <a:rect l="l" t="t" r="r" b="b"/>
              <a:pathLst>
                <a:path w="6210300" h="1676400">
                  <a:moveTo>
                    <a:pt x="6198013" y="1676399"/>
                  </a:moveTo>
                  <a:lnTo>
                    <a:pt x="62297" y="1676399"/>
                  </a:lnTo>
                  <a:lnTo>
                    <a:pt x="57961" y="1675972"/>
                  </a:lnTo>
                  <a:lnTo>
                    <a:pt x="22624" y="1659966"/>
                  </a:lnTo>
                  <a:lnTo>
                    <a:pt x="2135" y="1627025"/>
                  </a:lnTo>
                  <a:lnTo>
                    <a:pt x="0" y="1614102"/>
                  </a:lnTo>
                  <a:lnTo>
                    <a:pt x="0" y="1609724"/>
                  </a:lnTo>
                  <a:lnTo>
                    <a:pt x="0" y="62297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6198013" y="0"/>
                  </a:lnTo>
                  <a:lnTo>
                    <a:pt x="6210299" y="12285"/>
                  </a:lnTo>
                  <a:lnTo>
                    <a:pt x="6210299" y="1664114"/>
                  </a:lnTo>
                  <a:lnTo>
                    <a:pt x="6199819" y="1676040"/>
                  </a:lnTo>
                  <a:lnTo>
                    <a:pt x="6198013" y="167639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4849" y="1428749"/>
              <a:ext cx="6210300" cy="1676400"/>
            </a:xfrm>
            <a:custGeom>
              <a:avLst/>
              <a:gdLst/>
              <a:ahLst/>
              <a:cxnLst/>
              <a:rect l="l" t="t" r="r" b="b"/>
              <a:pathLst>
                <a:path w="6210300" h="1676400">
                  <a:moveTo>
                    <a:pt x="0" y="16097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2"/>
                  </a:lnTo>
                  <a:lnTo>
                    <a:pt x="13669" y="25992"/>
                  </a:lnTo>
                  <a:lnTo>
                    <a:pt x="16433" y="22624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6196135" y="0"/>
                  </a:lnTo>
                  <a:lnTo>
                    <a:pt x="6198013" y="0"/>
                  </a:lnTo>
                  <a:lnTo>
                    <a:pt x="6199819" y="359"/>
                  </a:lnTo>
                  <a:lnTo>
                    <a:pt x="6209220" y="8743"/>
                  </a:lnTo>
                  <a:lnTo>
                    <a:pt x="6209939" y="10478"/>
                  </a:lnTo>
                  <a:lnTo>
                    <a:pt x="6210299" y="12285"/>
                  </a:lnTo>
                  <a:lnTo>
                    <a:pt x="6210299" y="14163"/>
                  </a:lnTo>
                  <a:lnTo>
                    <a:pt x="6210299" y="1662236"/>
                  </a:lnTo>
                  <a:lnTo>
                    <a:pt x="6196135" y="1676399"/>
                  </a:lnTo>
                  <a:lnTo>
                    <a:pt x="66675" y="1676399"/>
                  </a:lnTo>
                  <a:lnTo>
                    <a:pt x="29632" y="1665162"/>
                  </a:lnTo>
                  <a:lnTo>
                    <a:pt x="5075" y="1635239"/>
                  </a:lnTo>
                  <a:lnTo>
                    <a:pt x="0" y="1614102"/>
                  </a:lnTo>
                  <a:lnTo>
                    <a:pt x="0" y="1609724"/>
                  </a:lnTo>
                  <a:close/>
                </a:path>
              </a:pathLst>
            </a:custGeom>
            <a:ln w="19049">
              <a:solidFill>
                <a:srgbClr val="5C60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4849" y="3305174"/>
              <a:ext cx="6210300" cy="1371600"/>
            </a:xfrm>
            <a:custGeom>
              <a:avLst/>
              <a:gdLst/>
              <a:ahLst/>
              <a:cxnLst/>
              <a:rect l="l" t="t" r="r" b="b"/>
              <a:pathLst>
                <a:path w="6210300" h="1371600">
                  <a:moveTo>
                    <a:pt x="6198013" y="1371599"/>
                  </a:moveTo>
                  <a:lnTo>
                    <a:pt x="62297" y="1371599"/>
                  </a:lnTo>
                  <a:lnTo>
                    <a:pt x="57961" y="1371172"/>
                  </a:lnTo>
                  <a:lnTo>
                    <a:pt x="22624" y="1355166"/>
                  </a:lnTo>
                  <a:lnTo>
                    <a:pt x="2135" y="1322226"/>
                  </a:lnTo>
                  <a:lnTo>
                    <a:pt x="0" y="1309302"/>
                  </a:lnTo>
                  <a:lnTo>
                    <a:pt x="0" y="1304924"/>
                  </a:lnTo>
                  <a:lnTo>
                    <a:pt x="0" y="62296"/>
                  </a:lnTo>
                  <a:lnTo>
                    <a:pt x="13669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6198013" y="0"/>
                  </a:lnTo>
                  <a:lnTo>
                    <a:pt x="6210299" y="12284"/>
                  </a:lnTo>
                  <a:lnTo>
                    <a:pt x="6210299" y="1359313"/>
                  </a:lnTo>
                  <a:lnTo>
                    <a:pt x="6199819" y="1371240"/>
                  </a:lnTo>
                  <a:lnTo>
                    <a:pt x="6198013" y="137159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4849" y="3305174"/>
              <a:ext cx="6210300" cy="1371600"/>
            </a:xfrm>
            <a:custGeom>
              <a:avLst/>
              <a:gdLst/>
              <a:ahLst/>
              <a:cxnLst/>
              <a:rect l="l" t="t" r="r" b="b"/>
              <a:pathLst>
                <a:path w="6210300" h="1371600">
                  <a:moveTo>
                    <a:pt x="0" y="13049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6"/>
                  </a:lnTo>
                  <a:lnTo>
                    <a:pt x="2135" y="49372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6" y="29631"/>
                  </a:lnTo>
                  <a:lnTo>
                    <a:pt x="13669" y="25991"/>
                  </a:lnTo>
                  <a:lnTo>
                    <a:pt x="16433" y="2262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2" y="11236"/>
                  </a:lnTo>
                  <a:lnTo>
                    <a:pt x="33272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6196135" y="0"/>
                  </a:lnTo>
                  <a:lnTo>
                    <a:pt x="6198013" y="0"/>
                  </a:lnTo>
                  <a:lnTo>
                    <a:pt x="6199819" y="359"/>
                  </a:lnTo>
                  <a:lnTo>
                    <a:pt x="6209220" y="8743"/>
                  </a:lnTo>
                  <a:lnTo>
                    <a:pt x="6209939" y="10478"/>
                  </a:lnTo>
                  <a:lnTo>
                    <a:pt x="6210299" y="12284"/>
                  </a:lnTo>
                  <a:lnTo>
                    <a:pt x="6210299" y="14163"/>
                  </a:lnTo>
                  <a:lnTo>
                    <a:pt x="6210299" y="1357436"/>
                  </a:lnTo>
                  <a:lnTo>
                    <a:pt x="6196135" y="1371599"/>
                  </a:lnTo>
                  <a:lnTo>
                    <a:pt x="66675" y="1371599"/>
                  </a:lnTo>
                  <a:lnTo>
                    <a:pt x="41159" y="1366524"/>
                  </a:lnTo>
                  <a:lnTo>
                    <a:pt x="37114" y="1364848"/>
                  </a:lnTo>
                  <a:lnTo>
                    <a:pt x="8804" y="1338326"/>
                  </a:lnTo>
                  <a:lnTo>
                    <a:pt x="0" y="1309302"/>
                  </a:lnTo>
                  <a:lnTo>
                    <a:pt x="0" y="1304924"/>
                  </a:lnTo>
                  <a:close/>
                </a:path>
              </a:pathLst>
            </a:custGeom>
            <a:ln w="19049">
              <a:solidFill>
                <a:srgbClr val="5C60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04849" y="4876799"/>
              <a:ext cx="6210300" cy="1371600"/>
            </a:xfrm>
            <a:custGeom>
              <a:avLst/>
              <a:gdLst/>
              <a:ahLst/>
              <a:cxnLst/>
              <a:rect l="l" t="t" r="r" b="b"/>
              <a:pathLst>
                <a:path w="6210300" h="1371600">
                  <a:moveTo>
                    <a:pt x="6198013" y="1371599"/>
                  </a:moveTo>
                  <a:lnTo>
                    <a:pt x="62297" y="1371599"/>
                  </a:lnTo>
                  <a:lnTo>
                    <a:pt x="57961" y="1371172"/>
                  </a:lnTo>
                  <a:lnTo>
                    <a:pt x="22624" y="1355166"/>
                  </a:lnTo>
                  <a:lnTo>
                    <a:pt x="2135" y="1322225"/>
                  </a:lnTo>
                  <a:lnTo>
                    <a:pt x="0" y="1309302"/>
                  </a:lnTo>
                  <a:lnTo>
                    <a:pt x="0" y="1304924"/>
                  </a:lnTo>
                  <a:lnTo>
                    <a:pt x="0" y="62296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6198013" y="0"/>
                  </a:lnTo>
                  <a:lnTo>
                    <a:pt x="6210299" y="12285"/>
                  </a:lnTo>
                  <a:lnTo>
                    <a:pt x="6210299" y="1359313"/>
                  </a:lnTo>
                  <a:lnTo>
                    <a:pt x="6199819" y="1371240"/>
                  </a:lnTo>
                  <a:lnTo>
                    <a:pt x="6198013" y="137159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4849" y="4876799"/>
              <a:ext cx="6210300" cy="1371600"/>
            </a:xfrm>
            <a:custGeom>
              <a:avLst/>
              <a:gdLst/>
              <a:ahLst/>
              <a:cxnLst/>
              <a:rect l="l" t="t" r="r" b="b"/>
              <a:pathLst>
                <a:path w="6210300" h="1371600">
                  <a:moveTo>
                    <a:pt x="0" y="13049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1" y="53667"/>
                  </a:lnTo>
                  <a:lnTo>
                    <a:pt x="2135" y="49373"/>
                  </a:lnTo>
                  <a:lnTo>
                    <a:pt x="3399" y="45203"/>
                  </a:lnTo>
                  <a:lnTo>
                    <a:pt x="19528" y="19528"/>
                  </a:lnTo>
                  <a:lnTo>
                    <a:pt x="22624" y="16432"/>
                  </a:lnTo>
                  <a:lnTo>
                    <a:pt x="57961" y="426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6196135" y="0"/>
                  </a:lnTo>
                  <a:lnTo>
                    <a:pt x="6198013" y="0"/>
                  </a:lnTo>
                  <a:lnTo>
                    <a:pt x="6199819" y="359"/>
                  </a:lnTo>
                  <a:lnTo>
                    <a:pt x="6201555" y="1077"/>
                  </a:lnTo>
                  <a:lnTo>
                    <a:pt x="6203290" y="1796"/>
                  </a:lnTo>
                  <a:lnTo>
                    <a:pt x="6204822" y="2820"/>
                  </a:lnTo>
                  <a:lnTo>
                    <a:pt x="6206150" y="4148"/>
                  </a:lnTo>
                  <a:lnTo>
                    <a:pt x="6207478" y="5476"/>
                  </a:lnTo>
                  <a:lnTo>
                    <a:pt x="6208501" y="7007"/>
                  </a:lnTo>
                  <a:lnTo>
                    <a:pt x="6209220" y="8743"/>
                  </a:lnTo>
                  <a:lnTo>
                    <a:pt x="6209939" y="10478"/>
                  </a:lnTo>
                  <a:lnTo>
                    <a:pt x="6210299" y="12285"/>
                  </a:lnTo>
                  <a:lnTo>
                    <a:pt x="6210299" y="14163"/>
                  </a:lnTo>
                  <a:lnTo>
                    <a:pt x="6210299" y="1357436"/>
                  </a:lnTo>
                  <a:lnTo>
                    <a:pt x="6201555" y="1370520"/>
                  </a:lnTo>
                  <a:lnTo>
                    <a:pt x="6199819" y="1371240"/>
                  </a:lnTo>
                  <a:lnTo>
                    <a:pt x="6198013" y="1371599"/>
                  </a:lnTo>
                  <a:lnTo>
                    <a:pt x="6196135" y="1371599"/>
                  </a:lnTo>
                  <a:lnTo>
                    <a:pt x="66675" y="1371599"/>
                  </a:lnTo>
                  <a:lnTo>
                    <a:pt x="29632" y="1360362"/>
                  </a:lnTo>
                  <a:lnTo>
                    <a:pt x="5075" y="1330439"/>
                  </a:lnTo>
                  <a:lnTo>
                    <a:pt x="3399" y="1326395"/>
                  </a:lnTo>
                  <a:lnTo>
                    <a:pt x="2135" y="1322225"/>
                  </a:lnTo>
                  <a:lnTo>
                    <a:pt x="1281" y="1317932"/>
                  </a:lnTo>
                  <a:lnTo>
                    <a:pt x="427" y="1313638"/>
                  </a:lnTo>
                  <a:lnTo>
                    <a:pt x="0" y="1309302"/>
                  </a:lnTo>
                  <a:lnTo>
                    <a:pt x="0" y="1304924"/>
                  </a:lnTo>
                  <a:close/>
                </a:path>
              </a:pathLst>
            </a:custGeom>
            <a:ln w="19049">
              <a:solidFill>
                <a:srgbClr val="5C60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70160" y="1612264"/>
            <a:ext cx="5676900" cy="440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80" dirty="0">
                <a:solidFill>
                  <a:srgbClr val="D5E4EF"/>
                </a:solidFill>
                <a:latin typeface="Cambria"/>
                <a:cs typeface="Cambria"/>
              </a:rPr>
              <a:t>The</a:t>
            </a:r>
            <a:r>
              <a:rPr sz="1750" spc="8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750" spc="45" dirty="0">
                <a:solidFill>
                  <a:srgbClr val="D5E4EF"/>
                </a:solidFill>
                <a:latin typeface="Cambria"/>
                <a:cs typeface="Cambria"/>
              </a:rPr>
              <a:t>Problem</a:t>
            </a:r>
            <a:endParaRPr sz="1750">
              <a:latin typeface="Cambria"/>
              <a:cs typeface="Cambria"/>
            </a:endParaRPr>
          </a:p>
          <a:p>
            <a:pPr marL="12700" marR="327660">
              <a:lnSpc>
                <a:spcPct val="129200"/>
              </a:lnSpc>
              <a:spcBef>
                <a:spcPts val="550"/>
              </a:spcBef>
            </a:pPr>
            <a:r>
              <a:rPr sz="1500" spc="-35" dirty="0">
                <a:solidFill>
                  <a:srgbClr val="D5E4EF"/>
                </a:solidFill>
                <a:latin typeface="Trebuchet MS"/>
                <a:cs typeface="Trebuchet MS"/>
              </a:rPr>
              <a:t>Manual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street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lighting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5E4EF"/>
                </a:solidFill>
                <a:latin typeface="Trebuchet MS"/>
                <a:cs typeface="Trebuchet MS"/>
              </a:rPr>
              <a:t>causes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significant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energy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waste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drives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5E4EF"/>
                </a:solidFill>
                <a:latin typeface="Trebuchet MS"/>
                <a:cs typeface="Trebuchet MS"/>
              </a:rPr>
              <a:t>up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maintenance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costs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a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systemic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inefficiency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5E4EF"/>
                </a:solidFill>
                <a:latin typeface="Trebuchet MS"/>
                <a:cs typeface="Trebuchet MS"/>
              </a:rPr>
              <a:t>demanding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a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smarter solution.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50" spc="80" dirty="0">
                <a:solidFill>
                  <a:srgbClr val="D5E4EF"/>
                </a:solidFill>
                <a:latin typeface="Cambria"/>
                <a:cs typeface="Cambria"/>
              </a:rPr>
              <a:t>The</a:t>
            </a:r>
            <a:r>
              <a:rPr sz="1750" spc="8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750" spc="60" dirty="0">
                <a:solidFill>
                  <a:srgbClr val="D5E4EF"/>
                </a:solidFill>
                <a:latin typeface="Cambria"/>
                <a:cs typeface="Cambria"/>
              </a:rPr>
              <a:t>Objective</a:t>
            </a:r>
            <a:endParaRPr sz="1750">
              <a:latin typeface="Cambria"/>
              <a:cs typeface="Cambria"/>
            </a:endParaRPr>
          </a:p>
          <a:p>
            <a:pPr marL="12700" marR="5080">
              <a:lnSpc>
                <a:spcPct val="129200"/>
              </a:lnSpc>
              <a:spcBef>
                <a:spcPts val="475"/>
              </a:spcBef>
            </a:pPr>
            <a:r>
              <a:rPr sz="1500" spc="-35" dirty="0">
                <a:solidFill>
                  <a:srgbClr val="D5E4EF"/>
                </a:solidFill>
                <a:latin typeface="Trebuchet MS"/>
                <a:cs typeface="Trebuchet MS"/>
              </a:rPr>
              <a:t>Design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a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D5E4EF"/>
                </a:solidFill>
                <a:latin typeface="Trebuchet MS"/>
                <a:cs typeface="Trebuchet MS"/>
              </a:rPr>
              <a:t>fully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automated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control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system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5E4EF"/>
                </a:solidFill>
                <a:latin typeface="Trebuchet MS"/>
                <a:cs typeface="Trebuchet MS"/>
              </a:rPr>
              <a:t>using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fundamental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combinational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logic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gates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no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microcontrollers,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no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D5E4EF"/>
                </a:solidFill>
                <a:latin typeface="Trebuchet MS"/>
                <a:cs typeface="Trebuchet MS"/>
              </a:rPr>
              <a:t>software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5E4EF"/>
                </a:solidFill>
                <a:latin typeface="Trebuchet MS"/>
                <a:cs typeface="Trebuchet MS"/>
              </a:rPr>
              <a:t>overhead.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750" spc="105" dirty="0">
                <a:solidFill>
                  <a:srgbClr val="D5E4EF"/>
                </a:solidFill>
                <a:latin typeface="Cambria"/>
                <a:cs typeface="Cambria"/>
              </a:rPr>
              <a:t>Core</a:t>
            </a:r>
            <a:r>
              <a:rPr sz="1750" spc="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750" spc="40" dirty="0">
                <a:solidFill>
                  <a:srgbClr val="D5E4EF"/>
                </a:solidFill>
                <a:latin typeface="Cambria"/>
                <a:cs typeface="Cambria"/>
              </a:rPr>
              <a:t>Advantage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Zero</a:t>
            </a:r>
            <a:r>
              <a:rPr sz="15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manual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intervention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with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D5E4EF"/>
                </a:solidFill>
                <a:latin typeface="Trebuchet MS"/>
                <a:cs typeface="Trebuchet MS"/>
              </a:rPr>
              <a:t>real-</a:t>
            </a:r>
            <a:r>
              <a:rPr sz="1500" spc="-100" dirty="0">
                <a:solidFill>
                  <a:srgbClr val="D5E4EF"/>
                </a:solidFill>
                <a:latin typeface="Trebuchet MS"/>
                <a:cs typeface="Trebuchet MS"/>
              </a:rPr>
              <a:t>time,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sensor-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driven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responsiveness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lights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react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instantly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to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ambient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conditions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D5E4EF"/>
                </a:solidFill>
                <a:latin typeface="Trebuchet MS"/>
                <a:cs typeface="Trebuchet MS"/>
              </a:rPr>
              <a:t>traffic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presence.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5324" y="1419224"/>
            <a:ext cx="76200" cy="4838699"/>
            <a:chOff x="695324" y="1419224"/>
            <a:chExt cx="76200" cy="4838699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1419224"/>
              <a:ext cx="76200" cy="16954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324" y="3295649"/>
              <a:ext cx="76200" cy="13906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5324" y="4867274"/>
              <a:ext cx="76200" cy="13906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45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165" dirty="0"/>
              <a:t>System</a:t>
            </a:r>
            <a:r>
              <a:rPr sz="3700" spc="155" dirty="0"/>
              <a:t> </a:t>
            </a:r>
            <a:r>
              <a:rPr sz="3700" spc="135" dirty="0"/>
              <a:t>Architecture</a:t>
            </a:r>
            <a:endParaRPr sz="3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2143125"/>
            <a:ext cx="3467099" cy="34575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2381249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3095624"/>
            <a:ext cx="66675" cy="666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4105274"/>
            <a:ext cx="66675" cy="666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4495799"/>
            <a:ext cx="66675" cy="666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5505449"/>
            <a:ext cx="66675" cy="66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5895974"/>
            <a:ext cx="66675" cy="6667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60" dirty="0"/>
              <a:t>Input</a:t>
            </a:r>
            <a:r>
              <a:rPr spc="75" dirty="0"/>
              <a:t> </a:t>
            </a:r>
            <a:r>
              <a:rPr spc="60" dirty="0"/>
              <a:t>Sensors</a:t>
            </a:r>
          </a:p>
          <a:p>
            <a:pPr marL="331470" marR="5080">
              <a:lnSpc>
                <a:spcPct val="137100"/>
              </a:lnSpc>
              <a:spcBef>
                <a:spcPts val="1140"/>
              </a:spcBef>
            </a:pPr>
            <a:r>
              <a:rPr sz="1550" b="1" spc="-175" dirty="0">
                <a:solidFill>
                  <a:srgbClr val="D5E4EF"/>
                </a:solidFill>
                <a:latin typeface="Yu Gothic"/>
                <a:cs typeface="Yu Gothic"/>
              </a:rPr>
              <a:t>LDR</a:t>
            </a:r>
            <a:r>
              <a:rPr sz="1550" b="1" spc="-9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50" spc="-55" dirty="0">
                <a:solidFill>
                  <a:srgbClr val="D5E4EF"/>
                </a:solidFill>
                <a:latin typeface="Trebuchet MS"/>
                <a:cs typeface="Trebuchet MS"/>
              </a:rPr>
              <a:t>(Light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0" dirty="0">
                <a:solidFill>
                  <a:srgbClr val="D5E4EF"/>
                </a:solidFill>
                <a:latin typeface="Trebuchet MS"/>
                <a:cs typeface="Trebuchet MS"/>
              </a:rPr>
              <a:t>Dependent</a:t>
            </a:r>
            <a:r>
              <a:rPr sz="155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55" dirty="0">
                <a:solidFill>
                  <a:srgbClr val="D5E4EF"/>
                </a:solidFill>
                <a:latin typeface="Trebuchet MS"/>
                <a:cs typeface="Trebuchet MS"/>
              </a:rPr>
              <a:t>Resistor)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110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70" dirty="0">
                <a:solidFill>
                  <a:srgbClr val="D5E4EF"/>
                </a:solidFill>
                <a:latin typeface="Trebuchet MS"/>
                <a:cs typeface="Trebuchet MS"/>
              </a:rPr>
              <a:t>detects</a:t>
            </a:r>
            <a:r>
              <a:rPr sz="155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0" dirty="0">
                <a:solidFill>
                  <a:srgbClr val="D5E4EF"/>
                </a:solidFill>
                <a:latin typeface="Trebuchet MS"/>
                <a:cs typeface="Trebuchet MS"/>
              </a:rPr>
              <a:t>ambient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D5E4EF"/>
                </a:solidFill>
                <a:latin typeface="Trebuchet MS"/>
                <a:cs typeface="Trebuchet MS"/>
              </a:rPr>
              <a:t>light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75" dirty="0">
                <a:solidFill>
                  <a:srgbClr val="D5E4EF"/>
                </a:solidFill>
                <a:latin typeface="Trebuchet MS"/>
                <a:cs typeface="Trebuchet MS"/>
              </a:rPr>
              <a:t>levels,</a:t>
            </a:r>
            <a:r>
              <a:rPr sz="155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D5E4EF"/>
                </a:solidFill>
                <a:latin typeface="Trebuchet MS"/>
                <a:cs typeface="Trebuchet MS"/>
              </a:rPr>
              <a:t>distinguishing </a:t>
            </a:r>
            <a:r>
              <a:rPr sz="1550" spc="-25" dirty="0">
                <a:solidFill>
                  <a:srgbClr val="D5E4EF"/>
                </a:solidFill>
                <a:latin typeface="Trebuchet MS"/>
                <a:cs typeface="Trebuchet MS"/>
              </a:rPr>
              <a:t>day</a:t>
            </a:r>
            <a:r>
              <a:rPr sz="155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55" dirty="0">
                <a:solidFill>
                  <a:srgbClr val="D5E4EF"/>
                </a:solidFill>
                <a:latin typeface="Trebuchet MS"/>
                <a:cs typeface="Trebuchet MS"/>
              </a:rPr>
              <a:t>from</a:t>
            </a:r>
            <a:r>
              <a:rPr sz="155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D5E4EF"/>
                </a:solidFill>
                <a:latin typeface="Trebuchet MS"/>
                <a:cs typeface="Trebuchet MS"/>
              </a:rPr>
              <a:t>night</a:t>
            </a:r>
            <a:endParaRPr sz="1550">
              <a:latin typeface="Trebuchet MS"/>
              <a:cs typeface="Trebuchet MS"/>
            </a:endParaRPr>
          </a:p>
          <a:p>
            <a:pPr marL="331470">
              <a:lnSpc>
                <a:spcPct val="100000"/>
              </a:lnSpc>
              <a:spcBef>
                <a:spcPts val="1215"/>
              </a:spcBef>
            </a:pPr>
            <a:r>
              <a:rPr sz="1550" b="1" spc="-90" dirty="0">
                <a:solidFill>
                  <a:srgbClr val="D5E4EF"/>
                </a:solidFill>
                <a:latin typeface="Yu Gothic"/>
                <a:cs typeface="Yu Gothic"/>
              </a:rPr>
              <a:t>IR</a:t>
            </a:r>
            <a:r>
              <a:rPr sz="1550" b="1" spc="-10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50" b="1" spc="-254" dirty="0">
                <a:solidFill>
                  <a:srgbClr val="D5E4EF"/>
                </a:solidFill>
                <a:latin typeface="Yu Gothic"/>
                <a:cs typeface="Yu Gothic"/>
              </a:rPr>
              <a:t>/</a:t>
            </a:r>
            <a:r>
              <a:rPr sz="1550" b="1" spc="-95" dirty="0">
                <a:solidFill>
                  <a:srgbClr val="D5E4EF"/>
                </a:solidFill>
                <a:latin typeface="Yu Gothic"/>
                <a:cs typeface="Yu Gothic"/>
              </a:rPr>
              <a:t> Motion Sensor </a:t>
            </a:r>
            <a:r>
              <a:rPr sz="1550" spc="110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5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70" dirty="0">
                <a:solidFill>
                  <a:srgbClr val="D5E4EF"/>
                </a:solidFill>
                <a:latin typeface="Trebuchet MS"/>
                <a:cs typeface="Trebuchet MS"/>
              </a:rPr>
              <a:t>detects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60" dirty="0">
                <a:solidFill>
                  <a:srgbClr val="D5E4EF"/>
                </a:solidFill>
                <a:latin typeface="Trebuchet MS"/>
                <a:cs typeface="Trebuchet MS"/>
              </a:rPr>
              <a:t>vehicle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35" dirty="0">
                <a:solidFill>
                  <a:srgbClr val="D5E4EF"/>
                </a:solidFill>
                <a:latin typeface="Trebuchet MS"/>
                <a:cs typeface="Trebuchet MS"/>
              </a:rPr>
              <a:t>or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D5E4EF"/>
                </a:solidFill>
                <a:latin typeface="Trebuchet MS"/>
                <a:cs typeface="Trebuchet MS"/>
              </a:rPr>
              <a:t>pedestrian</a:t>
            </a:r>
            <a:r>
              <a:rPr sz="155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55" dirty="0">
                <a:solidFill>
                  <a:srgbClr val="D5E4EF"/>
                </a:solidFill>
                <a:latin typeface="Trebuchet MS"/>
                <a:cs typeface="Trebuchet MS"/>
              </a:rPr>
              <a:t>presence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30" dirty="0">
                <a:solidFill>
                  <a:srgbClr val="D5E4EF"/>
                </a:solidFill>
                <a:latin typeface="Trebuchet MS"/>
                <a:cs typeface="Trebuchet MS"/>
              </a:rPr>
              <a:t>in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75" dirty="0">
                <a:solidFill>
                  <a:srgbClr val="D5E4EF"/>
                </a:solidFill>
                <a:latin typeface="Trebuchet MS"/>
                <a:cs typeface="Trebuchet MS"/>
              </a:rPr>
              <a:t>real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20" dirty="0">
                <a:solidFill>
                  <a:srgbClr val="D5E4EF"/>
                </a:solidFill>
                <a:latin typeface="Trebuchet MS"/>
                <a:cs typeface="Trebuchet MS"/>
              </a:rPr>
              <a:t>time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pc="65" dirty="0"/>
              <a:t>Processing</a:t>
            </a:r>
            <a:r>
              <a:rPr spc="90" dirty="0"/>
              <a:t> </a:t>
            </a:r>
            <a:r>
              <a:rPr spc="70" dirty="0"/>
              <a:t>Unit</a:t>
            </a:r>
          </a:p>
          <a:p>
            <a:pPr marL="331470">
              <a:lnSpc>
                <a:spcPct val="100000"/>
              </a:lnSpc>
              <a:spcBef>
                <a:spcPts val="1905"/>
              </a:spcBef>
            </a:pPr>
            <a:r>
              <a:rPr sz="1550" spc="-35" dirty="0">
                <a:solidFill>
                  <a:srgbClr val="D5E4EF"/>
                </a:solidFill>
                <a:latin typeface="Trebuchet MS"/>
                <a:cs typeface="Trebuchet MS"/>
              </a:rPr>
              <a:t>Combinational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0" dirty="0">
                <a:solidFill>
                  <a:srgbClr val="D5E4EF"/>
                </a:solidFill>
                <a:latin typeface="Trebuchet MS"/>
                <a:cs typeface="Trebuchet MS"/>
              </a:rPr>
              <a:t>logic</a:t>
            </a:r>
            <a:r>
              <a:rPr sz="155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65" dirty="0">
                <a:solidFill>
                  <a:srgbClr val="D5E4EF"/>
                </a:solidFill>
                <a:latin typeface="Trebuchet MS"/>
                <a:cs typeface="Trebuchet MS"/>
              </a:rPr>
              <a:t>circuit</a:t>
            </a:r>
            <a:r>
              <a:rPr sz="155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D5E4EF"/>
                </a:solidFill>
                <a:latin typeface="Trebuchet MS"/>
                <a:cs typeface="Trebuchet MS"/>
              </a:rPr>
              <a:t>using</a:t>
            </a:r>
            <a:r>
              <a:rPr sz="155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b="1" spc="-140" dirty="0">
                <a:solidFill>
                  <a:srgbClr val="00D4FF"/>
                </a:solidFill>
                <a:latin typeface="Yu Gothic"/>
                <a:cs typeface="Yu Gothic"/>
              </a:rPr>
              <a:t>AND,</a:t>
            </a:r>
            <a:r>
              <a:rPr sz="1550" b="1" spc="-85" dirty="0">
                <a:solidFill>
                  <a:srgbClr val="00D4FF"/>
                </a:solidFill>
                <a:latin typeface="Yu Gothic"/>
                <a:cs typeface="Yu Gothic"/>
              </a:rPr>
              <a:t> OR, </a:t>
            </a:r>
            <a:r>
              <a:rPr sz="1550" b="1" spc="-170" dirty="0">
                <a:solidFill>
                  <a:srgbClr val="00D4FF"/>
                </a:solidFill>
                <a:latin typeface="Yu Gothic"/>
                <a:cs typeface="Yu Gothic"/>
              </a:rPr>
              <a:t>NOT</a:t>
            </a:r>
            <a:r>
              <a:rPr sz="1550" b="1" spc="-90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550" spc="-10" dirty="0">
                <a:solidFill>
                  <a:srgbClr val="D5E4EF"/>
                </a:solidFill>
                <a:latin typeface="Trebuchet MS"/>
                <a:cs typeface="Trebuchet MS"/>
              </a:rPr>
              <a:t>gates</a:t>
            </a:r>
            <a:endParaRPr sz="1550">
              <a:latin typeface="Trebuchet MS"/>
              <a:cs typeface="Trebuchet MS"/>
            </a:endParaRPr>
          </a:p>
          <a:p>
            <a:pPr marL="331470">
              <a:lnSpc>
                <a:spcPct val="100000"/>
              </a:lnSpc>
              <a:spcBef>
                <a:spcPts val="1215"/>
              </a:spcBef>
            </a:pPr>
            <a:r>
              <a:rPr sz="1550" dirty="0">
                <a:solidFill>
                  <a:srgbClr val="D5E4EF"/>
                </a:solidFill>
                <a:latin typeface="Trebuchet MS"/>
                <a:cs typeface="Trebuchet MS"/>
              </a:rPr>
              <a:t>No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D5E4EF"/>
                </a:solidFill>
                <a:latin typeface="Trebuchet MS"/>
                <a:cs typeface="Trebuchet MS"/>
              </a:rPr>
              <a:t>clock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35" dirty="0">
                <a:solidFill>
                  <a:srgbClr val="D5E4EF"/>
                </a:solidFill>
                <a:latin typeface="Trebuchet MS"/>
                <a:cs typeface="Trebuchet MS"/>
              </a:rPr>
              <a:t>or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25" dirty="0">
                <a:solidFill>
                  <a:srgbClr val="D5E4EF"/>
                </a:solidFill>
                <a:latin typeface="Trebuchet MS"/>
                <a:cs typeface="Trebuchet MS"/>
              </a:rPr>
              <a:t>memory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55" dirty="0">
                <a:solidFill>
                  <a:srgbClr val="D5E4EF"/>
                </a:solidFill>
                <a:latin typeface="Trebuchet MS"/>
                <a:cs typeface="Trebuchet MS"/>
              </a:rPr>
              <a:t>elements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110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D5E4EF"/>
                </a:solidFill>
                <a:latin typeface="Trebuchet MS"/>
                <a:cs typeface="Trebuchet MS"/>
              </a:rPr>
              <a:t>pure</a:t>
            </a:r>
            <a:r>
              <a:rPr sz="155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0" dirty="0">
                <a:solidFill>
                  <a:srgbClr val="D5E4EF"/>
                </a:solidFill>
                <a:latin typeface="Trebuchet MS"/>
                <a:cs typeface="Trebuchet MS"/>
              </a:rPr>
              <a:t>combinational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D5E4EF"/>
                </a:solidFill>
                <a:latin typeface="Trebuchet MS"/>
                <a:cs typeface="Trebuchet MS"/>
              </a:rPr>
              <a:t>design</a:t>
            </a:r>
            <a:endParaRPr sz="15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5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pc="100" dirty="0"/>
              <a:t>Output</a:t>
            </a:r>
            <a:r>
              <a:rPr spc="80" dirty="0"/>
              <a:t> </a:t>
            </a:r>
            <a:r>
              <a:rPr spc="65" dirty="0"/>
              <a:t>Stage</a:t>
            </a:r>
          </a:p>
          <a:p>
            <a:pPr marL="331470" marR="1530350">
              <a:lnSpc>
                <a:spcPct val="165300"/>
              </a:lnSpc>
              <a:spcBef>
                <a:spcPts val="690"/>
              </a:spcBef>
            </a:pPr>
            <a:r>
              <a:rPr sz="1550" spc="-20" dirty="0">
                <a:solidFill>
                  <a:srgbClr val="D5E4EF"/>
                </a:solidFill>
                <a:latin typeface="Trebuchet MS"/>
                <a:cs typeface="Trebuchet MS"/>
              </a:rPr>
              <a:t>LED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80" dirty="0">
                <a:solidFill>
                  <a:srgbClr val="D5E4EF"/>
                </a:solidFill>
                <a:latin typeface="Trebuchet MS"/>
                <a:cs typeface="Trebuchet MS"/>
              </a:rPr>
              <a:t>street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45" dirty="0">
                <a:solidFill>
                  <a:srgbClr val="D5E4EF"/>
                </a:solidFill>
                <a:latin typeface="Trebuchet MS"/>
                <a:cs typeface="Trebuchet MS"/>
              </a:rPr>
              <a:t>light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60" dirty="0">
                <a:solidFill>
                  <a:srgbClr val="D5E4EF"/>
                </a:solidFill>
                <a:latin typeface="Trebuchet MS"/>
                <a:cs typeface="Trebuchet MS"/>
              </a:rPr>
              <a:t>array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50" dirty="0">
                <a:solidFill>
                  <a:srgbClr val="D5E4EF"/>
                </a:solidFill>
                <a:latin typeface="Trebuchet MS"/>
                <a:cs typeface="Trebuchet MS"/>
              </a:rPr>
              <a:t>with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b="1" spc="-60" dirty="0">
                <a:solidFill>
                  <a:srgbClr val="D5E4EF"/>
                </a:solidFill>
                <a:latin typeface="Yu Gothic"/>
                <a:cs typeface="Yu Gothic"/>
              </a:rPr>
              <a:t>dimming</a:t>
            </a:r>
            <a:r>
              <a:rPr sz="1550" b="1" spc="-9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50" b="1" spc="-80" dirty="0">
                <a:solidFill>
                  <a:srgbClr val="D5E4EF"/>
                </a:solidFill>
                <a:latin typeface="Yu Gothic"/>
                <a:cs typeface="Yu Gothic"/>
              </a:rPr>
              <a:t>and</a:t>
            </a:r>
            <a:r>
              <a:rPr sz="1550" b="1" spc="-9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50" b="1" spc="-75" dirty="0">
                <a:solidFill>
                  <a:srgbClr val="D5E4EF"/>
                </a:solidFill>
                <a:latin typeface="Yu Gothic"/>
                <a:cs typeface="Yu Gothic"/>
              </a:rPr>
              <a:t>switching</a:t>
            </a:r>
            <a:r>
              <a:rPr sz="1550" b="1" spc="-9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50" spc="-10" dirty="0">
                <a:solidFill>
                  <a:srgbClr val="D5E4EF"/>
                </a:solidFill>
                <a:latin typeface="Trebuchet MS"/>
                <a:cs typeface="Trebuchet MS"/>
              </a:rPr>
              <a:t>control </a:t>
            </a:r>
            <a:r>
              <a:rPr sz="1550" spc="-65" dirty="0">
                <a:solidFill>
                  <a:srgbClr val="D5E4EF"/>
                </a:solidFill>
                <a:latin typeface="Trebuchet MS"/>
                <a:cs typeface="Trebuchet MS"/>
              </a:rPr>
              <a:t>Relay-</a:t>
            </a:r>
            <a:r>
              <a:rPr sz="1550" spc="-30" dirty="0">
                <a:solidFill>
                  <a:srgbClr val="D5E4EF"/>
                </a:solidFill>
                <a:latin typeface="Trebuchet MS"/>
                <a:cs typeface="Trebuchet MS"/>
              </a:rPr>
              <a:t>based</a:t>
            </a:r>
            <a:r>
              <a:rPr sz="155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55" dirty="0">
                <a:solidFill>
                  <a:srgbClr val="D5E4EF"/>
                </a:solidFill>
                <a:latin typeface="Trebuchet MS"/>
                <a:cs typeface="Trebuchet MS"/>
              </a:rPr>
              <a:t>driver</a:t>
            </a:r>
            <a:r>
              <a:rPr sz="155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75" dirty="0">
                <a:solidFill>
                  <a:srgbClr val="D5E4EF"/>
                </a:solidFill>
                <a:latin typeface="Trebuchet MS"/>
                <a:cs typeface="Trebuchet MS"/>
              </a:rPr>
              <a:t>for</a:t>
            </a:r>
            <a:r>
              <a:rPr sz="155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35" dirty="0">
                <a:solidFill>
                  <a:srgbClr val="D5E4EF"/>
                </a:solidFill>
                <a:latin typeface="Trebuchet MS"/>
                <a:cs typeface="Trebuchet MS"/>
              </a:rPr>
              <a:t>high-</a:t>
            </a:r>
            <a:r>
              <a:rPr sz="1550" spc="-40" dirty="0">
                <a:solidFill>
                  <a:srgbClr val="D5E4EF"/>
                </a:solidFill>
                <a:latin typeface="Trebuchet MS"/>
                <a:cs typeface="Trebuchet MS"/>
              </a:rPr>
              <a:t>power</a:t>
            </a:r>
            <a:r>
              <a:rPr sz="155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35" dirty="0">
                <a:solidFill>
                  <a:srgbClr val="D5E4EF"/>
                </a:solidFill>
                <a:latin typeface="Trebuchet MS"/>
                <a:cs typeface="Trebuchet MS"/>
              </a:rPr>
              <a:t>load</a:t>
            </a:r>
            <a:r>
              <a:rPr sz="1550" spc="-10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D5E4EF"/>
                </a:solidFill>
                <a:latin typeface="Trebuchet MS"/>
                <a:cs typeface="Trebuchet MS"/>
              </a:rPr>
              <a:t>switching</a:t>
            </a:r>
            <a:endParaRPr sz="1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35" dirty="0"/>
              <a:t>Combinational</a:t>
            </a:r>
            <a:r>
              <a:rPr spc="170" dirty="0"/>
              <a:t> </a:t>
            </a:r>
            <a:r>
              <a:rPr spc="185" dirty="0"/>
              <a:t>Logic</a:t>
            </a:r>
            <a:r>
              <a:rPr spc="175" dirty="0"/>
              <a:t> </a:t>
            </a:r>
            <a:r>
              <a:rPr spc="15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2190749"/>
            <a:ext cx="66675" cy="66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2552699"/>
            <a:ext cx="66675" cy="666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424" y="2914649"/>
            <a:ext cx="66675" cy="666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60" dirty="0"/>
              <a:t>Input</a:t>
            </a:r>
            <a:r>
              <a:rPr spc="85" dirty="0"/>
              <a:t> </a:t>
            </a:r>
            <a:r>
              <a:rPr spc="345" dirty="0"/>
              <a:t>/</a:t>
            </a:r>
            <a:r>
              <a:rPr spc="85" dirty="0"/>
              <a:t> </a:t>
            </a:r>
            <a:r>
              <a:rPr spc="100" dirty="0"/>
              <a:t>Output</a:t>
            </a:r>
            <a:r>
              <a:rPr spc="90" dirty="0"/>
              <a:t> </a:t>
            </a:r>
            <a:r>
              <a:rPr spc="55" dirty="0"/>
              <a:t>Definitions</a:t>
            </a:r>
          </a:p>
          <a:p>
            <a:pPr marL="315595" marR="1218565">
              <a:lnSpc>
                <a:spcPct val="158300"/>
              </a:lnSpc>
              <a:spcBef>
                <a:spcPts val="550"/>
              </a:spcBef>
            </a:pPr>
            <a:r>
              <a:rPr sz="1500" b="1" spc="-65" dirty="0">
                <a:solidFill>
                  <a:srgbClr val="D5E4EF"/>
                </a:solidFill>
                <a:latin typeface="Yu Gothic"/>
                <a:cs typeface="Yu Gothic"/>
              </a:rPr>
              <a:t>Input</a:t>
            </a:r>
            <a:r>
              <a:rPr sz="1500" b="1" spc="-11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180" dirty="0">
                <a:solidFill>
                  <a:srgbClr val="D5E4EF"/>
                </a:solidFill>
                <a:latin typeface="Yu Gothic"/>
                <a:cs typeface="Yu Gothic"/>
              </a:rPr>
              <a:t>A</a:t>
            </a:r>
            <a:r>
              <a:rPr sz="1500" b="1" spc="-10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Ambient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Light: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00D4FF"/>
                </a:solidFill>
                <a:latin typeface="Trebuchet MS"/>
                <a:cs typeface="Trebuchet MS"/>
              </a:rPr>
              <a:t>0</a:t>
            </a:r>
            <a:r>
              <a:rPr sz="1500" spc="-13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00D4FF"/>
                </a:solidFill>
                <a:latin typeface="Trebuchet MS"/>
                <a:cs typeface="Trebuchet MS"/>
              </a:rPr>
              <a:t>=</a:t>
            </a:r>
            <a:r>
              <a:rPr sz="1500" spc="-13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00D4FF"/>
                </a:solidFill>
                <a:latin typeface="Trebuchet MS"/>
                <a:cs typeface="Trebuchet MS"/>
              </a:rPr>
              <a:t>Dark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,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1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=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Bright </a:t>
            </a:r>
            <a:r>
              <a:rPr sz="1500" b="1" spc="-65" dirty="0">
                <a:solidFill>
                  <a:srgbClr val="D5E4EF"/>
                </a:solidFill>
                <a:latin typeface="Yu Gothic"/>
                <a:cs typeface="Yu Gothic"/>
              </a:rPr>
              <a:t>Input</a:t>
            </a:r>
            <a:r>
              <a:rPr sz="1500" b="1" spc="-11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170" dirty="0">
                <a:solidFill>
                  <a:srgbClr val="D5E4EF"/>
                </a:solidFill>
                <a:latin typeface="Yu Gothic"/>
                <a:cs typeface="Yu Gothic"/>
              </a:rPr>
              <a:t>B</a:t>
            </a:r>
            <a:r>
              <a:rPr sz="1500" b="1" spc="-114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5E4EF"/>
                </a:solidFill>
                <a:latin typeface="Trebuchet MS"/>
                <a:cs typeface="Trebuchet MS"/>
              </a:rPr>
              <a:t>Motion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5" dirty="0">
                <a:solidFill>
                  <a:srgbClr val="D5E4EF"/>
                </a:solidFill>
                <a:latin typeface="Trebuchet MS"/>
                <a:cs typeface="Trebuchet MS"/>
              </a:rPr>
              <a:t>Detected: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00D4FF"/>
                </a:solidFill>
                <a:latin typeface="Trebuchet MS"/>
                <a:cs typeface="Trebuchet MS"/>
              </a:rPr>
              <a:t>0</a:t>
            </a:r>
            <a:r>
              <a:rPr sz="1500" spc="-135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00D4FF"/>
                </a:solidFill>
                <a:latin typeface="Trebuchet MS"/>
                <a:cs typeface="Trebuchet MS"/>
              </a:rPr>
              <a:t>=</a:t>
            </a:r>
            <a:r>
              <a:rPr sz="1500" spc="-135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00D4FF"/>
                </a:solidFill>
                <a:latin typeface="Trebuchet MS"/>
                <a:cs typeface="Trebuchet MS"/>
              </a:rPr>
              <a:t>No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,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1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=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5E4EF"/>
                </a:solidFill>
                <a:latin typeface="Trebuchet MS"/>
                <a:cs typeface="Trebuchet MS"/>
              </a:rPr>
              <a:t>Yes </a:t>
            </a:r>
            <a:r>
              <a:rPr sz="1500" b="1" spc="-75" dirty="0">
                <a:solidFill>
                  <a:srgbClr val="D5E4EF"/>
                </a:solidFill>
                <a:latin typeface="Yu Gothic"/>
                <a:cs typeface="Yu Gothic"/>
              </a:rPr>
              <a:t>Output</a:t>
            </a:r>
            <a:r>
              <a:rPr sz="1500" b="1" spc="-11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254" dirty="0">
                <a:solidFill>
                  <a:srgbClr val="D5E4EF"/>
                </a:solidFill>
                <a:latin typeface="Yu Gothic"/>
                <a:cs typeface="Yu Gothic"/>
              </a:rPr>
              <a:t>Y</a:t>
            </a:r>
            <a:r>
              <a:rPr sz="1500" b="1" spc="-11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Light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Status: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00D4FF"/>
                </a:solidFill>
                <a:latin typeface="Trebuchet MS"/>
                <a:cs typeface="Trebuchet MS"/>
              </a:rPr>
              <a:t>0</a:t>
            </a:r>
            <a:r>
              <a:rPr sz="1500" spc="-130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00D4FF"/>
                </a:solidFill>
                <a:latin typeface="Trebuchet MS"/>
                <a:cs typeface="Trebuchet MS"/>
              </a:rPr>
              <a:t>=</a:t>
            </a:r>
            <a:r>
              <a:rPr sz="1500" spc="-135" dirty="0">
                <a:solidFill>
                  <a:srgbClr val="00D4FF"/>
                </a:solidFill>
                <a:latin typeface="Trebuchet MS"/>
                <a:cs typeface="Trebuchet MS"/>
              </a:rPr>
              <a:t> </a:t>
            </a:r>
            <a:r>
              <a:rPr sz="1500" spc="-120" dirty="0">
                <a:solidFill>
                  <a:srgbClr val="00D4FF"/>
                </a:solidFill>
                <a:latin typeface="Trebuchet MS"/>
                <a:cs typeface="Trebuchet MS"/>
              </a:rPr>
              <a:t>OFF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,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1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=</a:t>
            </a:r>
            <a:r>
              <a:rPr sz="1500" spc="-1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5E4EF"/>
                </a:solidFill>
                <a:latin typeface="Trebuchet MS"/>
                <a:cs typeface="Trebuchet MS"/>
              </a:rPr>
              <a:t>ON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pc="50" dirty="0"/>
              <a:t>Derived</a:t>
            </a:r>
            <a:r>
              <a:rPr spc="90" dirty="0"/>
              <a:t> Logic</a:t>
            </a:r>
            <a:r>
              <a:rPr spc="95" dirty="0"/>
              <a:t> </a:t>
            </a:r>
            <a:r>
              <a:rPr spc="45" dirty="0"/>
              <a:t>Expression</a:t>
            </a: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500" spc="-30" dirty="0">
                <a:solidFill>
                  <a:srgbClr val="D5E4EF"/>
                </a:solidFill>
                <a:latin typeface="Trebuchet MS"/>
                <a:cs typeface="Trebuchet MS"/>
              </a:rPr>
              <a:t>Using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b="1" spc="-95" dirty="0">
                <a:solidFill>
                  <a:srgbClr val="D5E4EF"/>
                </a:solidFill>
                <a:latin typeface="Yu Gothic"/>
                <a:cs typeface="Yu Gothic"/>
              </a:rPr>
              <a:t>Karnaugh</a:t>
            </a:r>
            <a:r>
              <a:rPr sz="1500" b="1" spc="-9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165" dirty="0">
                <a:solidFill>
                  <a:srgbClr val="D5E4EF"/>
                </a:solidFill>
                <a:latin typeface="Yu Gothic"/>
                <a:cs typeface="Yu Gothic"/>
              </a:rPr>
              <a:t>Map</a:t>
            </a:r>
            <a:r>
              <a:rPr sz="1500" b="1" spc="-9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175" dirty="0">
                <a:solidFill>
                  <a:srgbClr val="D5E4EF"/>
                </a:solidFill>
                <a:latin typeface="Yu Gothic"/>
                <a:cs typeface="Yu Gothic"/>
              </a:rPr>
              <a:t>(K-</a:t>
            </a:r>
            <a:r>
              <a:rPr sz="1500" b="1" spc="-150" dirty="0">
                <a:solidFill>
                  <a:srgbClr val="D5E4EF"/>
                </a:solidFill>
                <a:latin typeface="Yu Gothic"/>
                <a:cs typeface="Yu Gothic"/>
              </a:rPr>
              <a:t>Map)</a:t>
            </a:r>
            <a:r>
              <a:rPr sz="1500" b="1" spc="-8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simplification:</a:t>
            </a: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b="1" spc="-254" dirty="0">
                <a:solidFill>
                  <a:srgbClr val="00D4FF"/>
                </a:solidFill>
                <a:latin typeface="Yu Gothic"/>
                <a:cs typeface="Yu Gothic"/>
              </a:rPr>
              <a:t>Y</a:t>
            </a:r>
            <a:r>
              <a:rPr sz="1500" b="1" spc="-125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500" b="1" spc="-335" dirty="0">
                <a:solidFill>
                  <a:srgbClr val="00D4FF"/>
                </a:solidFill>
                <a:latin typeface="Yu Gothic"/>
                <a:cs typeface="Yu Gothic"/>
              </a:rPr>
              <a:t>=</a:t>
            </a:r>
            <a:r>
              <a:rPr sz="1500" b="1" spc="-125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500" b="1" spc="-180" dirty="0">
                <a:solidFill>
                  <a:srgbClr val="00D4FF"/>
                </a:solidFill>
                <a:latin typeface="Yu Gothic"/>
                <a:cs typeface="Yu Gothic"/>
              </a:rPr>
              <a:t>Ā</a:t>
            </a:r>
            <a:r>
              <a:rPr sz="1500" b="1" spc="-120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500" b="1" dirty="0">
                <a:solidFill>
                  <a:srgbClr val="00D4FF"/>
                </a:solidFill>
                <a:latin typeface="Yu Gothic"/>
                <a:cs typeface="Yu Gothic"/>
              </a:rPr>
              <a:t>·</a:t>
            </a:r>
            <a:r>
              <a:rPr sz="1500" b="1" spc="-120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500" b="1" spc="-50" dirty="0">
                <a:solidFill>
                  <a:srgbClr val="00D4FF"/>
                </a:solidFill>
                <a:latin typeface="Yu Gothic"/>
                <a:cs typeface="Yu Gothic"/>
              </a:rPr>
              <a:t>B</a:t>
            </a:r>
            <a:endParaRPr sz="1500">
              <a:latin typeface="Yu Gothic"/>
              <a:cs typeface="Yu Gothic"/>
            </a:endParaRPr>
          </a:p>
          <a:p>
            <a:pPr marL="12700" marR="5080">
              <a:lnSpc>
                <a:spcPct val="129200"/>
              </a:lnSpc>
              <a:spcBef>
                <a:spcPts val="1275"/>
              </a:spcBef>
            </a:pP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The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street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light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turns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5E4EF"/>
                </a:solidFill>
                <a:latin typeface="Trebuchet MS"/>
                <a:cs typeface="Trebuchet MS"/>
              </a:rPr>
              <a:t>ON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5E4EF"/>
                </a:solidFill>
                <a:latin typeface="Trebuchet MS"/>
                <a:cs typeface="Trebuchet MS"/>
              </a:rPr>
              <a:t>only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when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it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5E4EF"/>
                </a:solidFill>
                <a:latin typeface="Trebuchet MS"/>
                <a:cs typeface="Trebuchet MS"/>
              </a:rPr>
              <a:t>is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dark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45" dirty="0">
                <a:solidFill>
                  <a:srgbClr val="D5E4EF"/>
                </a:solidFill>
                <a:latin typeface="Trebuchet MS"/>
                <a:cs typeface="Trebuchet MS"/>
              </a:rPr>
              <a:t>(</a:t>
            </a:r>
            <a:r>
              <a:rPr sz="1500" b="1" spc="-145" dirty="0">
                <a:solidFill>
                  <a:srgbClr val="D5E4EF"/>
                </a:solidFill>
                <a:latin typeface="Yu Gothic"/>
                <a:cs typeface="Yu Gothic"/>
              </a:rPr>
              <a:t>A</a:t>
            </a:r>
            <a:r>
              <a:rPr sz="1500" b="1" spc="-11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335" dirty="0">
                <a:solidFill>
                  <a:srgbClr val="D5E4EF"/>
                </a:solidFill>
                <a:latin typeface="Yu Gothic"/>
                <a:cs typeface="Yu Gothic"/>
              </a:rPr>
              <a:t>=</a:t>
            </a:r>
            <a:r>
              <a:rPr sz="1500" b="1" spc="-10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100" dirty="0">
                <a:solidFill>
                  <a:srgbClr val="D5E4EF"/>
                </a:solidFill>
                <a:latin typeface="Yu Gothic"/>
                <a:cs typeface="Yu Gothic"/>
              </a:rPr>
              <a:t>0</a:t>
            </a:r>
            <a:r>
              <a:rPr sz="1500" spc="-100" dirty="0">
                <a:solidFill>
                  <a:srgbClr val="D5E4EF"/>
                </a:solidFill>
                <a:latin typeface="Trebuchet MS"/>
                <a:cs typeface="Trebuchet MS"/>
              </a:rPr>
              <a:t>)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motion </a:t>
            </a:r>
            <a:r>
              <a:rPr sz="1500" spc="-35" dirty="0">
                <a:solidFill>
                  <a:srgbClr val="D5E4EF"/>
                </a:solidFill>
                <a:latin typeface="Trebuchet MS"/>
                <a:cs typeface="Trebuchet MS"/>
              </a:rPr>
              <a:t>is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D5E4EF"/>
                </a:solidFill>
                <a:latin typeface="Trebuchet MS"/>
                <a:cs typeface="Trebuchet MS"/>
              </a:rPr>
              <a:t>detected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40" dirty="0">
                <a:solidFill>
                  <a:srgbClr val="D5E4EF"/>
                </a:solidFill>
                <a:latin typeface="Trebuchet MS"/>
                <a:cs typeface="Trebuchet MS"/>
              </a:rPr>
              <a:t>(</a:t>
            </a:r>
            <a:r>
              <a:rPr sz="1500" b="1" spc="-140" dirty="0">
                <a:solidFill>
                  <a:srgbClr val="D5E4EF"/>
                </a:solidFill>
                <a:latin typeface="Yu Gothic"/>
                <a:cs typeface="Yu Gothic"/>
              </a:rPr>
              <a:t>B</a:t>
            </a:r>
            <a:r>
              <a:rPr sz="1500" b="1" spc="-10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335" dirty="0">
                <a:solidFill>
                  <a:srgbClr val="D5E4EF"/>
                </a:solidFill>
                <a:latin typeface="Yu Gothic"/>
                <a:cs typeface="Yu Gothic"/>
              </a:rPr>
              <a:t>=</a:t>
            </a:r>
            <a:r>
              <a:rPr sz="1500" b="1" spc="-10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130" dirty="0">
                <a:solidFill>
                  <a:srgbClr val="D5E4EF"/>
                </a:solidFill>
                <a:latin typeface="Yu Gothic"/>
                <a:cs typeface="Yu Gothic"/>
              </a:rPr>
              <a:t>1</a:t>
            </a:r>
            <a:r>
              <a:rPr sz="1500" spc="-130" dirty="0">
                <a:solidFill>
                  <a:srgbClr val="D5E4EF"/>
                </a:solidFill>
                <a:latin typeface="Trebuchet MS"/>
                <a:cs typeface="Trebuchet MS"/>
              </a:rPr>
              <a:t>).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D5E4EF"/>
                </a:solidFill>
                <a:latin typeface="Trebuchet MS"/>
                <a:cs typeface="Trebuchet MS"/>
              </a:rPr>
              <a:t>All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other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conditions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keep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the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light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D5E4EF"/>
                </a:solidFill>
                <a:latin typeface="Trebuchet MS"/>
                <a:cs typeface="Trebuchet MS"/>
              </a:rPr>
              <a:t>OFF.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3954" y="1612264"/>
            <a:ext cx="1235710" cy="293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spc="60" dirty="0">
                <a:solidFill>
                  <a:srgbClr val="F98AC7"/>
                </a:solidFill>
                <a:latin typeface="Cambria"/>
                <a:cs typeface="Cambria"/>
              </a:rPr>
              <a:t>Truth</a:t>
            </a:r>
            <a:r>
              <a:rPr sz="1750" spc="9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750" spc="-20" dirty="0">
                <a:solidFill>
                  <a:srgbClr val="F98AC7"/>
                </a:solidFill>
                <a:latin typeface="Cambria"/>
                <a:cs typeface="Cambria"/>
              </a:rPr>
              <a:t>Table</a:t>
            </a:r>
            <a:endParaRPr sz="175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334123" y="2114549"/>
            <a:ext cx="5172075" cy="2705100"/>
            <a:chOff x="6334123" y="2114549"/>
            <a:chExt cx="5172075" cy="2705100"/>
          </a:xfrm>
        </p:grpSpPr>
        <p:sp>
          <p:nvSpPr>
            <p:cNvPr id="9" name="object 9"/>
            <p:cNvSpPr/>
            <p:nvPr/>
          </p:nvSpPr>
          <p:spPr>
            <a:xfrm>
              <a:off x="6338886" y="2119312"/>
              <a:ext cx="5162550" cy="2695575"/>
            </a:xfrm>
            <a:custGeom>
              <a:avLst/>
              <a:gdLst/>
              <a:ahLst/>
              <a:cxnLst/>
              <a:rect l="l" t="t" r="r" b="b"/>
              <a:pathLst>
                <a:path w="5162550" h="2695575">
                  <a:moveTo>
                    <a:pt x="0" y="2676648"/>
                  </a:moveTo>
                  <a:lnTo>
                    <a:pt x="0" y="18926"/>
                  </a:lnTo>
                  <a:lnTo>
                    <a:pt x="0" y="16416"/>
                  </a:lnTo>
                  <a:lnTo>
                    <a:pt x="480" y="14001"/>
                  </a:lnTo>
                  <a:lnTo>
                    <a:pt x="1440" y="11682"/>
                  </a:lnTo>
                  <a:lnTo>
                    <a:pt x="2400" y="9364"/>
                  </a:lnTo>
                  <a:lnTo>
                    <a:pt x="3768" y="7317"/>
                  </a:lnTo>
                  <a:lnTo>
                    <a:pt x="5543" y="5543"/>
                  </a:lnTo>
                  <a:lnTo>
                    <a:pt x="7317" y="3768"/>
                  </a:lnTo>
                  <a:lnTo>
                    <a:pt x="9364" y="2400"/>
                  </a:lnTo>
                  <a:lnTo>
                    <a:pt x="11683" y="1440"/>
                  </a:lnTo>
                  <a:lnTo>
                    <a:pt x="14001" y="480"/>
                  </a:lnTo>
                  <a:lnTo>
                    <a:pt x="16415" y="0"/>
                  </a:lnTo>
                  <a:lnTo>
                    <a:pt x="18926" y="0"/>
                  </a:lnTo>
                  <a:lnTo>
                    <a:pt x="5143623" y="0"/>
                  </a:lnTo>
                  <a:lnTo>
                    <a:pt x="5146132" y="0"/>
                  </a:lnTo>
                  <a:lnTo>
                    <a:pt x="5148546" y="480"/>
                  </a:lnTo>
                  <a:lnTo>
                    <a:pt x="5150864" y="1440"/>
                  </a:lnTo>
                  <a:lnTo>
                    <a:pt x="5153183" y="2400"/>
                  </a:lnTo>
                  <a:lnTo>
                    <a:pt x="5162550" y="18926"/>
                  </a:lnTo>
                  <a:lnTo>
                    <a:pt x="5162550" y="2676648"/>
                  </a:lnTo>
                  <a:lnTo>
                    <a:pt x="5162549" y="2679158"/>
                  </a:lnTo>
                  <a:lnTo>
                    <a:pt x="5162068" y="2681572"/>
                  </a:lnTo>
                  <a:lnTo>
                    <a:pt x="5161108" y="2683890"/>
                  </a:lnTo>
                  <a:lnTo>
                    <a:pt x="5160147" y="2686209"/>
                  </a:lnTo>
                  <a:lnTo>
                    <a:pt x="5150864" y="2694133"/>
                  </a:lnTo>
                  <a:lnTo>
                    <a:pt x="5148546" y="2695094"/>
                  </a:lnTo>
                  <a:lnTo>
                    <a:pt x="5146132" y="2695574"/>
                  </a:lnTo>
                  <a:lnTo>
                    <a:pt x="5143623" y="2695574"/>
                  </a:lnTo>
                  <a:lnTo>
                    <a:pt x="18926" y="2695574"/>
                  </a:lnTo>
                  <a:lnTo>
                    <a:pt x="16415" y="2695574"/>
                  </a:lnTo>
                  <a:lnTo>
                    <a:pt x="14001" y="2695094"/>
                  </a:lnTo>
                  <a:lnTo>
                    <a:pt x="11683" y="2694133"/>
                  </a:lnTo>
                  <a:lnTo>
                    <a:pt x="9364" y="2693173"/>
                  </a:lnTo>
                  <a:lnTo>
                    <a:pt x="7317" y="2691805"/>
                  </a:lnTo>
                  <a:lnTo>
                    <a:pt x="5543" y="2690031"/>
                  </a:lnTo>
                  <a:lnTo>
                    <a:pt x="3768" y="2688256"/>
                  </a:lnTo>
                  <a:lnTo>
                    <a:pt x="2400" y="2686209"/>
                  </a:lnTo>
                  <a:lnTo>
                    <a:pt x="1440" y="2683890"/>
                  </a:lnTo>
                  <a:lnTo>
                    <a:pt x="480" y="2681572"/>
                  </a:lnTo>
                  <a:lnTo>
                    <a:pt x="0" y="2679158"/>
                  </a:lnTo>
                  <a:lnTo>
                    <a:pt x="0" y="2676648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43637" y="2124074"/>
              <a:ext cx="5153025" cy="523875"/>
            </a:xfrm>
            <a:custGeom>
              <a:avLst/>
              <a:gdLst/>
              <a:ahLst/>
              <a:cxnLst/>
              <a:rect l="l" t="t" r="r" b="b"/>
              <a:pathLst>
                <a:path w="5153025" h="523875">
                  <a:moveTo>
                    <a:pt x="1695450" y="0"/>
                  </a:moveTo>
                  <a:lnTo>
                    <a:pt x="20548" y="0"/>
                  </a:lnTo>
                  <a:lnTo>
                    <a:pt x="17526" y="609"/>
                  </a:lnTo>
                  <a:lnTo>
                    <a:pt x="0" y="20548"/>
                  </a:lnTo>
                  <a:lnTo>
                    <a:pt x="0" y="523875"/>
                  </a:lnTo>
                  <a:lnTo>
                    <a:pt x="1695450" y="523875"/>
                  </a:lnTo>
                  <a:lnTo>
                    <a:pt x="1695450" y="0"/>
                  </a:lnTo>
                  <a:close/>
                </a:path>
                <a:path w="5153025" h="523875">
                  <a:moveTo>
                    <a:pt x="5153025" y="20548"/>
                  </a:moveTo>
                  <a:lnTo>
                    <a:pt x="5132476" y="0"/>
                  </a:lnTo>
                  <a:lnTo>
                    <a:pt x="3457575" y="0"/>
                  </a:lnTo>
                  <a:lnTo>
                    <a:pt x="3457575" y="523875"/>
                  </a:lnTo>
                  <a:lnTo>
                    <a:pt x="5153025" y="523875"/>
                  </a:lnTo>
                  <a:lnTo>
                    <a:pt x="5153025" y="20548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338887" y="2119312"/>
          <a:ext cx="5162550" cy="2692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765"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b="1" spc="-180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A</a:t>
                      </a:r>
                      <a:r>
                        <a:rPr sz="1500" b="1" spc="-130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(Light)</a:t>
                      </a:r>
                      <a:endParaRPr sz="1500">
                        <a:latin typeface="Yu Gothic"/>
                        <a:cs typeface="Yu Gothic"/>
                      </a:endParaRPr>
                    </a:p>
                  </a:txBody>
                  <a:tcPr marL="0" marR="0" marT="128270" marB="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b="1" spc="-170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B</a:t>
                      </a:r>
                      <a:r>
                        <a:rPr sz="1500" b="1" spc="-135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(Motion)</a:t>
                      </a:r>
                      <a:endParaRPr sz="1500">
                        <a:latin typeface="Yu Gothic"/>
                        <a:cs typeface="Yu Gothic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b="1" spc="-254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Y</a:t>
                      </a:r>
                      <a:r>
                        <a:rPr sz="1500" b="1" spc="-130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262525"/>
                          </a:solidFill>
                          <a:latin typeface="Yu Gothic"/>
                          <a:cs typeface="Yu Gothic"/>
                        </a:rPr>
                        <a:t>(Output)</a:t>
                      </a:r>
                      <a:endParaRPr sz="1500">
                        <a:latin typeface="Yu Gothic"/>
                        <a:cs typeface="Yu Gothic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b="1" spc="-85" dirty="0">
                          <a:solidFill>
                            <a:srgbClr val="00D4FF"/>
                          </a:solidFill>
                          <a:latin typeface="Yu Gothic"/>
                          <a:cs typeface="Yu Gothic"/>
                        </a:rPr>
                        <a:t>1</a:t>
                      </a:r>
                      <a:r>
                        <a:rPr sz="1500" b="1" spc="-130" dirty="0">
                          <a:solidFill>
                            <a:srgbClr val="00D4FF"/>
                          </a:solidFill>
                          <a:latin typeface="Yu Gothic"/>
                          <a:cs typeface="Yu Gothic"/>
                        </a:rPr>
                        <a:t> </a:t>
                      </a:r>
                      <a:r>
                        <a:rPr sz="1500" b="1" spc="-590" dirty="0">
                          <a:solidFill>
                            <a:srgbClr val="00D4FF"/>
                          </a:solidFill>
                          <a:latin typeface="Yu Gothic"/>
                          <a:cs typeface="Yu Gothic"/>
                        </a:rPr>
                        <a:t>✓</a:t>
                      </a:r>
                      <a:endParaRPr sz="1500">
                        <a:latin typeface="Yu Gothic"/>
                        <a:cs typeface="Yu Gothic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28270" marB="0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1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500" spc="-50" dirty="0">
                          <a:solidFill>
                            <a:srgbClr val="D5E4EF"/>
                          </a:solidFill>
                          <a:latin typeface="Trebuchet MS"/>
                          <a:cs typeface="Trebuchet MS"/>
                        </a:rPr>
                        <a:t>0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37795" marB="0">
                    <a:lnL w="9525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6334123" y="5019674"/>
            <a:ext cx="5172075" cy="1009650"/>
            <a:chOff x="6334123" y="5019674"/>
            <a:chExt cx="5172075" cy="1009650"/>
          </a:xfrm>
        </p:grpSpPr>
        <p:sp>
          <p:nvSpPr>
            <p:cNvPr id="13" name="object 13"/>
            <p:cNvSpPr/>
            <p:nvPr/>
          </p:nvSpPr>
          <p:spPr>
            <a:xfrm>
              <a:off x="6334123" y="5019674"/>
              <a:ext cx="5172075" cy="1009650"/>
            </a:xfrm>
            <a:custGeom>
              <a:avLst/>
              <a:gdLst/>
              <a:ahLst/>
              <a:cxnLst/>
              <a:rect l="l" t="t" r="r" b="b"/>
              <a:pathLst>
                <a:path w="5172075" h="1009650">
                  <a:moveTo>
                    <a:pt x="5151526" y="1009649"/>
                  </a:moveTo>
                  <a:lnTo>
                    <a:pt x="20547" y="1009649"/>
                  </a:lnTo>
                  <a:lnTo>
                    <a:pt x="17525" y="1009048"/>
                  </a:lnTo>
                  <a:lnTo>
                    <a:pt x="0" y="989101"/>
                  </a:lnTo>
                  <a:lnTo>
                    <a:pt x="0" y="985961"/>
                  </a:lnTo>
                  <a:lnTo>
                    <a:pt x="0" y="20547"/>
                  </a:lnTo>
                  <a:lnTo>
                    <a:pt x="20547" y="0"/>
                  </a:lnTo>
                  <a:lnTo>
                    <a:pt x="5151526" y="0"/>
                  </a:lnTo>
                  <a:lnTo>
                    <a:pt x="5172074" y="20547"/>
                  </a:lnTo>
                  <a:lnTo>
                    <a:pt x="5172074" y="989101"/>
                  </a:lnTo>
                  <a:lnTo>
                    <a:pt x="5154548" y="1009048"/>
                  </a:lnTo>
                  <a:lnTo>
                    <a:pt x="5151526" y="1009649"/>
                  </a:lnTo>
                  <a:close/>
                </a:path>
              </a:pathLst>
            </a:custGeom>
            <a:solidFill>
              <a:srgbClr val="780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60128" y="5298215"/>
              <a:ext cx="165775" cy="1657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939657" y="5159165"/>
            <a:ext cx="4295775" cy="61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100"/>
              </a:spcBef>
            </a:pP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Only</a:t>
            </a:r>
            <a:r>
              <a:rPr sz="15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when</a:t>
            </a:r>
            <a:r>
              <a:rPr sz="15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Trebuchet MS"/>
                <a:cs typeface="Trebuchet MS"/>
              </a:rPr>
              <a:t>dark</a:t>
            </a:r>
            <a:r>
              <a:rPr sz="15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5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FFFFFF"/>
                </a:solidFill>
                <a:latin typeface="Trebuchet MS"/>
                <a:cs typeface="Trebuchet MS"/>
              </a:rPr>
              <a:t>motion</a:t>
            </a:r>
            <a:r>
              <a:rPr sz="15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85" dirty="0">
                <a:solidFill>
                  <a:srgbClr val="FFFFFF"/>
                </a:solidFill>
                <a:latin typeface="Trebuchet MS"/>
                <a:cs typeface="Trebuchet MS"/>
              </a:rPr>
              <a:t>detected</a:t>
            </a:r>
            <a:r>
              <a:rPr sz="15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FFFFFF"/>
                </a:solidFill>
                <a:latin typeface="Trebuchet MS"/>
                <a:cs typeface="Trebuchet MS"/>
              </a:rPr>
              <a:t>does</a:t>
            </a:r>
            <a:r>
              <a:rPr sz="15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15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5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1500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15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(Light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ON)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2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140" dirty="0"/>
              <a:t>Circuit</a:t>
            </a:r>
            <a:r>
              <a:rPr sz="2750" spc="125" dirty="0"/>
              <a:t> </a:t>
            </a:r>
            <a:r>
              <a:rPr sz="2750" spc="120" dirty="0"/>
              <a:t>Design</a:t>
            </a:r>
            <a:endParaRPr sz="2750"/>
          </a:p>
        </p:txBody>
      </p:sp>
      <p:sp>
        <p:nvSpPr>
          <p:cNvPr id="3" name="object 3"/>
          <p:cNvSpPr/>
          <p:nvPr/>
        </p:nvSpPr>
        <p:spPr>
          <a:xfrm>
            <a:off x="3591747" y="2688677"/>
            <a:ext cx="1090295" cy="1090295"/>
          </a:xfrm>
          <a:custGeom>
            <a:avLst/>
            <a:gdLst/>
            <a:ahLst/>
            <a:cxnLst/>
            <a:rect l="l" t="t" r="r" b="b"/>
            <a:pathLst>
              <a:path w="1090295" h="1090295">
                <a:moveTo>
                  <a:pt x="545022" y="1090044"/>
                </a:moveTo>
                <a:lnTo>
                  <a:pt x="504931" y="1088568"/>
                </a:lnTo>
                <a:lnTo>
                  <a:pt x="465050" y="1084145"/>
                </a:lnTo>
                <a:lnTo>
                  <a:pt x="425602" y="1076800"/>
                </a:lnTo>
                <a:lnTo>
                  <a:pt x="386810" y="1066576"/>
                </a:lnTo>
                <a:lnTo>
                  <a:pt x="348874" y="1053525"/>
                </a:lnTo>
                <a:lnTo>
                  <a:pt x="311994" y="1037716"/>
                </a:lnTo>
                <a:lnTo>
                  <a:pt x="276378" y="1019237"/>
                </a:lnTo>
                <a:lnTo>
                  <a:pt x="242223" y="998191"/>
                </a:lnTo>
                <a:lnTo>
                  <a:pt x="209710" y="974691"/>
                </a:lnTo>
                <a:lnTo>
                  <a:pt x="179007" y="948857"/>
                </a:lnTo>
                <a:lnTo>
                  <a:pt x="150288" y="920834"/>
                </a:lnTo>
                <a:lnTo>
                  <a:pt x="123714" y="890780"/>
                </a:lnTo>
                <a:lnTo>
                  <a:pt x="99422" y="858853"/>
                </a:lnTo>
                <a:lnTo>
                  <a:pt x="77540" y="825219"/>
                </a:lnTo>
                <a:lnTo>
                  <a:pt x="58193" y="790066"/>
                </a:lnTo>
                <a:lnTo>
                  <a:pt x="41487" y="753593"/>
                </a:lnTo>
                <a:lnTo>
                  <a:pt x="27509" y="715989"/>
                </a:lnTo>
                <a:lnTo>
                  <a:pt x="16333" y="677452"/>
                </a:lnTo>
                <a:lnTo>
                  <a:pt x="8022" y="638196"/>
                </a:lnTo>
                <a:lnTo>
                  <a:pt x="2624" y="598443"/>
                </a:lnTo>
                <a:lnTo>
                  <a:pt x="164" y="558401"/>
                </a:lnTo>
                <a:lnTo>
                  <a:pt x="0" y="545022"/>
                </a:lnTo>
                <a:lnTo>
                  <a:pt x="164" y="531642"/>
                </a:lnTo>
                <a:lnTo>
                  <a:pt x="2624" y="491600"/>
                </a:lnTo>
                <a:lnTo>
                  <a:pt x="8022" y="451848"/>
                </a:lnTo>
                <a:lnTo>
                  <a:pt x="16333" y="412592"/>
                </a:lnTo>
                <a:lnTo>
                  <a:pt x="27509" y="374054"/>
                </a:lnTo>
                <a:lnTo>
                  <a:pt x="41487" y="336451"/>
                </a:lnTo>
                <a:lnTo>
                  <a:pt x="58193" y="299977"/>
                </a:lnTo>
                <a:lnTo>
                  <a:pt x="77540" y="264824"/>
                </a:lnTo>
                <a:lnTo>
                  <a:pt x="99422" y="231190"/>
                </a:lnTo>
                <a:lnTo>
                  <a:pt x="123714" y="199263"/>
                </a:lnTo>
                <a:lnTo>
                  <a:pt x="150288" y="169209"/>
                </a:lnTo>
                <a:lnTo>
                  <a:pt x="179007" y="141187"/>
                </a:lnTo>
                <a:lnTo>
                  <a:pt x="209710" y="115353"/>
                </a:lnTo>
                <a:lnTo>
                  <a:pt x="242223" y="91852"/>
                </a:lnTo>
                <a:lnTo>
                  <a:pt x="276378" y="70807"/>
                </a:lnTo>
                <a:lnTo>
                  <a:pt x="311994" y="52327"/>
                </a:lnTo>
                <a:lnTo>
                  <a:pt x="348874" y="36518"/>
                </a:lnTo>
                <a:lnTo>
                  <a:pt x="386810" y="23468"/>
                </a:lnTo>
                <a:lnTo>
                  <a:pt x="425603" y="13243"/>
                </a:lnTo>
                <a:lnTo>
                  <a:pt x="465050" y="5898"/>
                </a:lnTo>
                <a:lnTo>
                  <a:pt x="504931" y="1476"/>
                </a:lnTo>
                <a:lnTo>
                  <a:pt x="545022" y="0"/>
                </a:lnTo>
                <a:lnTo>
                  <a:pt x="558401" y="164"/>
                </a:lnTo>
                <a:lnTo>
                  <a:pt x="598444" y="2624"/>
                </a:lnTo>
                <a:lnTo>
                  <a:pt x="638196" y="8023"/>
                </a:lnTo>
                <a:lnTo>
                  <a:pt x="677451" y="16333"/>
                </a:lnTo>
                <a:lnTo>
                  <a:pt x="715989" y="27509"/>
                </a:lnTo>
                <a:lnTo>
                  <a:pt x="753593" y="41487"/>
                </a:lnTo>
                <a:lnTo>
                  <a:pt x="790066" y="58193"/>
                </a:lnTo>
                <a:lnTo>
                  <a:pt x="825220" y="77540"/>
                </a:lnTo>
                <a:lnTo>
                  <a:pt x="858854" y="99422"/>
                </a:lnTo>
                <a:lnTo>
                  <a:pt x="890780" y="123714"/>
                </a:lnTo>
                <a:lnTo>
                  <a:pt x="920834" y="150288"/>
                </a:lnTo>
                <a:lnTo>
                  <a:pt x="948857" y="179007"/>
                </a:lnTo>
                <a:lnTo>
                  <a:pt x="974691" y="209710"/>
                </a:lnTo>
                <a:lnTo>
                  <a:pt x="998191" y="242223"/>
                </a:lnTo>
                <a:lnTo>
                  <a:pt x="1019236" y="276378"/>
                </a:lnTo>
                <a:lnTo>
                  <a:pt x="1037716" y="311994"/>
                </a:lnTo>
                <a:lnTo>
                  <a:pt x="1053525" y="348875"/>
                </a:lnTo>
                <a:lnTo>
                  <a:pt x="1066576" y="386810"/>
                </a:lnTo>
                <a:lnTo>
                  <a:pt x="1076801" y="425603"/>
                </a:lnTo>
                <a:lnTo>
                  <a:pt x="1084146" y="465050"/>
                </a:lnTo>
                <a:lnTo>
                  <a:pt x="1088568" y="504931"/>
                </a:lnTo>
                <a:lnTo>
                  <a:pt x="1090044" y="545022"/>
                </a:lnTo>
                <a:lnTo>
                  <a:pt x="1089880" y="558401"/>
                </a:lnTo>
                <a:lnTo>
                  <a:pt x="1087420" y="598443"/>
                </a:lnTo>
                <a:lnTo>
                  <a:pt x="1082021" y="638196"/>
                </a:lnTo>
                <a:lnTo>
                  <a:pt x="1073711" y="677452"/>
                </a:lnTo>
                <a:lnTo>
                  <a:pt x="1062535" y="715989"/>
                </a:lnTo>
                <a:lnTo>
                  <a:pt x="1048556" y="753593"/>
                </a:lnTo>
                <a:lnTo>
                  <a:pt x="1031851" y="790066"/>
                </a:lnTo>
                <a:lnTo>
                  <a:pt x="1012503" y="825219"/>
                </a:lnTo>
                <a:lnTo>
                  <a:pt x="990621" y="858853"/>
                </a:lnTo>
                <a:lnTo>
                  <a:pt x="966330" y="890780"/>
                </a:lnTo>
                <a:lnTo>
                  <a:pt x="939755" y="920834"/>
                </a:lnTo>
                <a:lnTo>
                  <a:pt x="911036" y="948857"/>
                </a:lnTo>
                <a:lnTo>
                  <a:pt x="880334" y="974691"/>
                </a:lnTo>
                <a:lnTo>
                  <a:pt x="847820" y="998191"/>
                </a:lnTo>
                <a:lnTo>
                  <a:pt x="813666" y="1019237"/>
                </a:lnTo>
                <a:lnTo>
                  <a:pt x="778049" y="1037716"/>
                </a:lnTo>
                <a:lnTo>
                  <a:pt x="741168" y="1053525"/>
                </a:lnTo>
                <a:lnTo>
                  <a:pt x="703233" y="1066575"/>
                </a:lnTo>
                <a:lnTo>
                  <a:pt x="664441" y="1076800"/>
                </a:lnTo>
                <a:lnTo>
                  <a:pt x="624993" y="1084145"/>
                </a:lnTo>
                <a:lnTo>
                  <a:pt x="585112" y="1088568"/>
                </a:lnTo>
                <a:lnTo>
                  <a:pt x="545022" y="1090044"/>
                </a:lnTo>
                <a:close/>
              </a:path>
            </a:pathLst>
          </a:custGeom>
          <a:solidFill>
            <a:srgbClr val="F98A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34376" y="3640825"/>
            <a:ext cx="1533525" cy="1050925"/>
          </a:xfrm>
          <a:custGeom>
            <a:avLst/>
            <a:gdLst/>
            <a:ahLst/>
            <a:cxnLst/>
            <a:rect l="l" t="t" r="r" b="b"/>
            <a:pathLst>
              <a:path w="1533525" h="1050925">
                <a:moveTo>
                  <a:pt x="1428221" y="1050645"/>
                </a:moveTo>
                <a:lnTo>
                  <a:pt x="193712" y="1050645"/>
                </a:lnTo>
                <a:lnTo>
                  <a:pt x="152815" y="1042389"/>
                </a:lnTo>
                <a:lnTo>
                  <a:pt x="119419" y="1019873"/>
                </a:lnTo>
                <a:lnTo>
                  <a:pt x="96904" y="986477"/>
                </a:lnTo>
                <a:lnTo>
                  <a:pt x="88648" y="945580"/>
                </a:lnTo>
                <a:lnTo>
                  <a:pt x="88648" y="111663"/>
                </a:lnTo>
                <a:lnTo>
                  <a:pt x="0" y="0"/>
                </a:lnTo>
                <a:lnTo>
                  <a:pt x="180579" y="0"/>
                </a:lnTo>
                <a:lnTo>
                  <a:pt x="180579" y="814"/>
                </a:lnTo>
                <a:lnTo>
                  <a:pt x="184880" y="275"/>
                </a:lnTo>
                <a:lnTo>
                  <a:pt x="189260" y="0"/>
                </a:lnTo>
                <a:lnTo>
                  <a:pt x="193712" y="0"/>
                </a:lnTo>
                <a:lnTo>
                  <a:pt x="1428221" y="0"/>
                </a:lnTo>
                <a:lnTo>
                  <a:pt x="1469115" y="8256"/>
                </a:lnTo>
                <a:lnTo>
                  <a:pt x="1502511" y="30771"/>
                </a:lnTo>
                <a:lnTo>
                  <a:pt x="1525028" y="64167"/>
                </a:lnTo>
                <a:lnTo>
                  <a:pt x="1533285" y="105064"/>
                </a:lnTo>
                <a:lnTo>
                  <a:pt x="1533285" y="945580"/>
                </a:lnTo>
                <a:lnTo>
                  <a:pt x="1525028" y="986477"/>
                </a:lnTo>
                <a:lnTo>
                  <a:pt x="1502511" y="1019873"/>
                </a:lnTo>
                <a:lnTo>
                  <a:pt x="1469115" y="1042389"/>
                </a:lnTo>
                <a:lnTo>
                  <a:pt x="1428221" y="1050645"/>
                </a:lnTo>
                <a:close/>
              </a:path>
            </a:pathLst>
          </a:custGeom>
          <a:solidFill>
            <a:srgbClr val="F42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009265" y="3640825"/>
            <a:ext cx="1533525" cy="1050925"/>
          </a:xfrm>
          <a:custGeom>
            <a:avLst/>
            <a:gdLst/>
            <a:ahLst/>
            <a:cxnLst/>
            <a:rect l="l" t="t" r="r" b="b"/>
            <a:pathLst>
              <a:path w="1533525" h="1050925">
                <a:moveTo>
                  <a:pt x="1339572" y="1050645"/>
                </a:moveTo>
                <a:lnTo>
                  <a:pt x="105064" y="1050645"/>
                </a:lnTo>
                <a:lnTo>
                  <a:pt x="64167" y="1042389"/>
                </a:lnTo>
                <a:lnTo>
                  <a:pt x="30771" y="1019873"/>
                </a:lnTo>
                <a:lnTo>
                  <a:pt x="8256" y="986477"/>
                </a:lnTo>
                <a:lnTo>
                  <a:pt x="0" y="945580"/>
                </a:lnTo>
                <a:lnTo>
                  <a:pt x="0" y="105064"/>
                </a:lnTo>
                <a:lnTo>
                  <a:pt x="8256" y="64167"/>
                </a:lnTo>
                <a:lnTo>
                  <a:pt x="30771" y="30771"/>
                </a:lnTo>
                <a:lnTo>
                  <a:pt x="64167" y="8256"/>
                </a:lnTo>
                <a:lnTo>
                  <a:pt x="105064" y="0"/>
                </a:lnTo>
                <a:lnTo>
                  <a:pt x="1339572" y="0"/>
                </a:lnTo>
                <a:lnTo>
                  <a:pt x="1344018" y="0"/>
                </a:lnTo>
                <a:lnTo>
                  <a:pt x="1348404" y="275"/>
                </a:lnTo>
                <a:lnTo>
                  <a:pt x="1352705" y="814"/>
                </a:lnTo>
                <a:lnTo>
                  <a:pt x="1352705" y="0"/>
                </a:lnTo>
                <a:lnTo>
                  <a:pt x="1533285" y="0"/>
                </a:lnTo>
                <a:lnTo>
                  <a:pt x="1444637" y="111663"/>
                </a:lnTo>
                <a:lnTo>
                  <a:pt x="1444637" y="945580"/>
                </a:lnTo>
                <a:lnTo>
                  <a:pt x="1436380" y="986477"/>
                </a:lnTo>
                <a:lnTo>
                  <a:pt x="1413863" y="1019873"/>
                </a:lnTo>
                <a:lnTo>
                  <a:pt x="1380467" y="1042389"/>
                </a:lnTo>
                <a:lnTo>
                  <a:pt x="1339572" y="1050645"/>
                </a:lnTo>
                <a:close/>
              </a:path>
            </a:pathLst>
          </a:custGeom>
          <a:solidFill>
            <a:srgbClr val="F42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14450" y="1532967"/>
            <a:ext cx="1445260" cy="1070610"/>
          </a:xfrm>
          <a:custGeom>
            <a:avLst/>
            <a:gdLst/>
            <a:ahLst/>
            <a:cxnLst/>
            <a:rect l="l" t="t" r="r" b="b"/>
            <a:pathLst>
              <a:path w="1445260" h="1070610">
                <a:moveTo>
                  <a:pt x="722318" y="1070345"/>
                </a:moveTo>
                <a:lnTo>
                  <a:pt x="613320" y="919314"/>
                </a:lnTo>
                <a:lnTo>
                  <a:pt x="105064" y="919314"/>
                </a:lnTo>
                <a:lnTo>
                  <a:pt x="64167" y="911058"/>
                </a:lnTo>
                <a:lnTo>
                  <a:pt x="30771" y="888543"/>
                </a:lnTo>
                <a:lnTo>
                  <a:pt x="8256" y="855147"/>
                </a:lnTo>
                <a:lnTo>
                  <a:pt x="0" y="814250"/>
                </a:lnTo>
                <a:lnTo>
                  <a:pt x="0" y="105064"/>
                </a:lnTo>
                <a:lnTo>
                  <a:pt x="8256" y="64168"/>
                </a:lnTo>
                <a:lnTo>
                  <a:pt x="30771" y="30772"/>
                </a:lnTo>
                <a:lnTo>
                  <a:pt x="64167" y="8256"/>
                </a:lnTo>
                <a:lnTo>
                  <a:pt x="105064" y="0"/>
                </a:lnTo>
                <a:lnTo>
                  <a:pt x="1339572" y="0"/>
                </a:lnTo>
                <a:lnTo>
                  <a:pt x="1380469" y="8256"/>
                </a:lnTo>
                <a:lnTo>
                  <a:pt x="1413865" y="30772"/>
                </a:lnTo>
                <a:lnTo>
                  <a:pt x="1436381" y="64168"/>
                </a:lnTo>
                <a:lnTo>
                  <a:pt x="1444637" y="105064"/>
                </a:lnTo>
                <a:lnTo>
                  <a:pt x="1444637" y="814250"/>
                </a:lnTo>
                <a:lnTo>
                  <a:pt x="1436381" y="855147"/>
                </a:lnTo>
                <a:lnTo>
                  <a:pt x="1413865" y="888543"/>
                </a:lnTo>
                <a:lnTo>
                  <a:pt x="1380469" y="911058"/>
                </a:lnTo>
                <a:lnTo>
                  <a:pt x="1339572" y="919314"/>
                </a:lnTo>
                <a:lnTo>
                  <a:pt x="831316" y="919314"/>
                </a:lnTo>
                <a:lnTo>
                  <a:pt x="722318" y="1070345"/>
                </a:lnTo>
                <a:close/>
              </a:path>
            </a:pathLst>
          </a:custGeom>
          <a:solidFill>
            <a:srgbClr val="F42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59318" y="3036020"/>
            <a:ext cx="755015" cy="3632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140970">
              <a:lnSpc>
                <a:spcPct val="101800"/>
              </a:lnSpc>
              <a:spcBef>
                <a:spcPts val="70"/>
              </a:spcBef>
            </a:pPr>
            <a:r>
              <a:rPr sz="1100" spc="35" dirty="0">
                <a:latin typeface="Cambria"/>
                <a:cs typeface="Cambria"/>
              </a:rPr>
              <a:t>Circuit </a:t>
            </a:r>
            <a:r>
              <a:rPr sz="1100" dirty="0">
                <a:latin typeface="Cambria"/>
                <a:cs typeface="Cambria"/>
              </a:rPr>
              <a:t>Signal</a:t>
            </a:r>
            <a:r>
              <a:rPr sz="1100" spc="22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Flow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82540" y="3850549"/>
            <a:ext cx="1118870" cy="5626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1100" spc="50" dirty="0">
                <a:solidFill>
                  <a:srgbClr val="D5E4EF"/>
                </a:solidFill>
                <a:latin typeface="Cambria"/>
                <a:cs typeface="Cambria"/>
              </a:rPr>
              <a:t>Logic</a:t>
            </a:r>
            <a:r>
              <a:rPr sz="1100" spc="5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D5E4EF"/>
                </a:solidFill>
                <a:latin typeface="Cambria"/>
                <a:cs typeface="Cambria"/>
              </a:rPr>
              <a:t>Processing</a:t>
            </a:r>
            <a:endParaRPr sz="1100">
              <a:latin typeface="Cambria"/>
              <a:cs typeface="Cambria"/>
            </a:endParaRPr>
          </a:p>
          <a:p>
            <a:pPr marL="73660" marR="66040" algn="ctr">
              <a:lnSpc>
                <a:spcPts val="1030"/>
              </a:lnSpc>
              <a:spcBef>
                <a:spcPts val="455"/>
              </a:spcBef>
            </a:pPr>
            <a:r>
              <a:rPr sz="900" spc="-20" dirty="0">
                <a:solidFill>
                  <a:srgbClr val="D5E4EF"/>
                </a:solidFill>
                <a:latin typeface="Trebuchet MS"/>
                <a:cs typeface="Trebuchet MS"/>
              </a:rPr>
              <a:t>7404</a:t>
            </a:r>
            <a:r>
              <a:rPr sz="900" spc="-5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5E4EF"/>
                </a:solidFill>
                <a:latin typeface="Trebuchet MS"/>
                <a:cs typeface="Trebuchet MS"/>
              </a:rPr>
              <a:t>inverts</a:t>
            </a:r>
            <a:r>
              <a:rPr sz="900" spc="-5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65" dirty="0">
                <a:solidFill>
                  <a:srgbClr val="D5E4EF"/>
                </a:solidFill>
                <a:latin typeface="Trebuchet MS"/>
                <a:cs typeface="Trebuchet MS"/>
              </a:rPr>
              <a:t>A;</a:t>
            </a:r>
            <a:r>
              <a:rPr sz="900" spc="-5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5E4EF"/>
                </a:solidFill>
                <a:latin typeface="Trebuchet MS"/>
                <a:cs typeface="Trebuchet MS"/>
              </a:rPr>
              <a:t>7408 </a:t>
            </a:r>
            <a:r>
              <a:rPr sz="900" dirty="0">
                <a:solidFill>
                  <a:srgbClr val="D5E4EF"/>
                </a:solidFill>
                <a:latin typeface="Trebuchet MS"/>
                <a:cs typeface="Trebuchet MS"/>
              </a:rPr>
              <a:t>ANDs</a:t>
            </a:r>
            <a:r>
              <a:rPr sz="90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30" dirty="0">
                <a:solidFill>
                  <a:srgbClr val="D5E4EF"/>
                </a:solidFill>
                <a:latin typeface="Trebuchet MS"/>
                <a:cs typeface="Trebuchet MS"/>
              </a:rPr>
              <a:t>Ā</a:t>
            </a:r>
            <a:r>
              <a:rPr sz="900" spc="-5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90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50" dirty="0">
                <a:solidFill>
                  <a:srgbClr val="D5E4EF"/>
                </a:solidFill>
                <a:latin typeface="Trebuchet MS"/>
                <a:cs typeface="Trebuchet MS"/>
              </a:rPr>
              <a:t>B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43270" y="3850549"/>
            <a:ext cx="963294" cy="5626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1100" spc="50" dirty="0">
                <a:solidFill>
                  <a:srgbClr val="D5E4EF"/>
                </a:solidFill>
                <a:latin typeface="Cambria"/>
                <a:cs typeface="Cambria"/>
              </a:rPr>
              <a:t>Output</a:t>
            </a:r>
            <a:r>
              <a:rPr sz="110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D5E4EF"/>
                </a:solidFill>
                <a:latin typeface="Cambria"/>
                <a:cs typeface="Cambria"/>
              </a:rPr>
              <a:t>Stage</a:t>
            </a:r>
            <a:endParaRPr sz="1100">
              <a:latin typeface="Cambria"/>
              <a:cs typeface="Cambria"/>
            </a:endParaRPr>
          </a:p>
          <a:p>
            <a:pPr marL="12700" marR="5080" algn="ctr">
              <a:lnSpc>
                <a:spcPts val="1030"/>
              </a:lnSpc>
              <a:spcBef>
                <a:spcPts val="455"/>
              </a:spcBef>
            </a:pPr>
            <a:r>
              <a:rPr sz="900" spc="-25" dirty="0">
                <a:solidFill>
                  <a:srgbClr val="D5E4EF"/>
                </a:solidFill>
                <a:latin typeface="Trebuchet MS"/>
                <a:cs typeface="Trebuchet MS"/>
              </a:rPr>
              <a:t>Relay</a:t>
            </a:r>
            <a:r>
              <a:rPr sz="900" spc="-4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D5E4EF"/>
                </a:solidFill>
                <a:latin typeface="Trebuchet MS"/>
                <a:cs typeface="Trebuchet MS"/>
              </a:rPr>
              <a:t>switches</a:t>
            </a:r>
            <a:r>
              <a:rPr sz="900" spc="-4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5E4EF"/>
                </a:solidFill>
                <a:latin typeface="Trebuchet MS"/>
                <a:cs typeface="Trebuchet MS"/>
              </a:rPr>
              <a:t>LED </a:t>
            </a:r>
            <a:r>
              <a:rPr sz="900" spc="-10" dirty="0">
                <a:solidFill>
                  <a:srgbClr val="D5E4EF"/>
                </a:solidFill>
                <a:latin typeface="Trebuchet MS"/>
                <a:cs typeface="Trebuchet MS"/>
              </a:rPr>
              <a:t>array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48882" y="1656171"/>
            <a:ext cx="1169035" cy="57023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565"/>
              </a:spcBef>
            </a:pPr>
            <a:r>
              <a:rPr sz="1100" dirty="0">
                <a:solidFill>
                  <a:srgbClr val="D5E4EF"/>
                </a:solidFill>
                <a:latin typeface="Cambria"/>
                <a:cs typeface="Cambria"/>
              </a:rPr>
              <a:t>Input</a:t>
            </a:r>
            <a:r>
              <a:rPr sz="1100" spc="19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D5E4EF"/>
                </a:solidFill>
                <a:latin typeface="Cambria"/>
                <a:cs typeface="Cambria"/>
              </a:rPr>
              <a:t>Stage</a:t>
            </a:r>
            <a:endParaRPr sz="1100">
              <a:latin typeface="Cambria"/>
              <a:cs typeface="Cambria"/>
            </a:endParaRPr>
          </a:p>
          <a:p>
            <a:pPr marL="45720" marR="5080" indent="-33655">
              <a:lnSpc>
                <a:spcPts val="980"/>
              </a:lnSpc>
              <a:spcBef>
                <a:spcPts val="550"/>
              </a:spcBef>
            </a:pPr>
            <a:r>
              <a:rPr sz="900" dirty="0">
                <a:solidFill>
                  <a:srgbClr val="D5E4EF"/>
                </a:solidFill>
                <a:latin typeface="Trebuchet MS"/>
                <a:cs typeface="Trebuchet MS"/>
              </a:rPr>
              <a:t>LDR</a:t>
            </a:r>
            <a:r>
              <a:rPr sz="90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90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D5E4EF"/>
                </a:solidFill>
                <a:latin typeface="Trebuchet MS"/>
                <a:cs typeface="Trebuchet MS"/>
              </a:rPr>
              <a:t>motion</a:t>
            </a:r>
            <a:r>
              <a:rPr sz="90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D5E4EF"/>
                </a:solidFill>
                <a:latin typeface="Trebuchet MS"/>
                <a:cs typeface="Trebuchet MS"/>
              </a:rPr>
              <a:t>sensor </a:t>
            </a:r>
            <a:r>
              <a:rPr sz="900" spc="-25" dirty="0">
                <a:solidFill>
                  <a:srgbClr val="D5E4EF"/>
                </a:solidFill>
                <a:latin typeface="Trebuchet MS"/>
                <a:cs typeface="Trebuchet MS"/>
              </a:rPr>
              <a:t>with</a:t>
            </a:r>
            <a:r>
              <a:rPr sz="900" spc="-4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25" dirty="0">
                <a:solidFill>
                  <a:srgbClr val="D5E4EF"/>
                </a:solidFill>
                <a:latin typeface="Trebuchet MS"/>
                <a:cs typeface="Trebuchet MS"/>
              </a:rPr>
              <a:t>transistor</a:t>
            </a:r>
            <a:r>
              <a:rPr sz="900" spc="-3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D5E4EF"/>
                </a:solidFill>
                <a:latin typeface="Trebuchet MS"/>
                <a:cs typeface="Trebuchet MS"/>
              </a:rPr>
              <a:t>drivers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85452" y="4895532"/>
            <a:ext cx="498919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Signal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flows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from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sensors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through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logic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ICs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to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the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5E4EF"/>
                </a:solidFill>
                <a:latin typeface="Trebuchet MS"/>
                <a:cs typeface="Trebuchet MS"/>
              </a:rPr>
              <a:t>relay-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driven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LED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output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stage.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81948" y="28003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981948" y="32575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981948" y="37147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69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4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981948" y="41719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6" y="47020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D5E4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949307" y="2041785"/>
            <a:ext cx="3559810" cy="2449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693545">
              <a:lnSpc>
                <a:spcPct val="129600"/>
              </a:lnSpc>
              <a:spcBef>
                <a:spcPts val="90"/>
              </a:spcBef>
            </a:pPr>
            <a:r>
              <a:rPr sz="1350" spc="100" dirty="0">
                <a:solidFill>
                  <a:srgbClr val="F98AC7"/>
                </a:solidFill>
                <a:latin typeface="Cambria"/>
                <a:cs typeface="Cambria"/>
              </a:rPr>
              <a:t>IC</a:t>
            </a:r>
            <a:r>
              <a:rPr sz="1350" spc="8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350" spc="90" dirty="0">
                <a:solidFill>
                  <a:srgbClr val="F98AC7"/>
                </a:solidFill>
                <a:latin typeface="Cambria"/>
                <a:cs typeface="Cambria"/>
              </a:rPr>
              <a:t>Components</a:t>
            </a:r>
            <a:r>
              <a:rPr sz="1350" spc="8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F98AC7"/>
                </a:solidFill>
                <a:latin typeface="Cambria"/>
                <a:cs typeface="Cambria"/>
              </a:rPr>
              <a:t>Used </a:t>
            </a:r>
            <a:r>
              <a:rPr sz="1350" spc="80" dirty="0">
                <a:solidFill>
                  <a:srgbClr val="F98AC7"/>
                </a:solidFill>
                <a:latin typeface="Cambria"/>
                <a:cs typeface="Cambria"/>
              </a:rPr>
              <a:t>Design</a:t>
            </a:r>
            <a:r>
              <a:rPr sz="1350" spc="70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F98AC7"/>
                </a:solidFill>
                <a:latin typeface="Cambria"/>
                <a:cs typeface="Cambria"/>
              </a:rPr>
              <a:t>Considerations</a:t>
            </a:r>
            <a:endParaRPr sz="1350">
              <a:latin typeface="Cambria"/>
              <a:cs typeface="Cambria"/>
            </a:endParaRPr>
          </a:p>
          <a:p>
            <a:pPr marL="251460" marR="203835">
              <a:lnSpc>
                <a:spcPct val="119600"/>
              </a:lnSpc>
              <a:spcBef>
                <a:spcPts val="785"/>
              </a:spcBef>
            </a:pPr>
            <a:r>
              <a:rPr sz="1150" b="1" spc="-65" dirty="0">
                <a:solidFill>
                  <a:srgbClr val="D5E4EF"/>
                </a:solidFill>
                <a:latin typeface="Yu Gothic"/>
                <a:cs typeface="Yu Gothic"/>
              </a:rPr>
              <a:t>Sensor</a:t>
            </a:r>
            <a:r>
              <a:rPr sz="1150" b="1" spc="-7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150" b="1" spc="-40" dirty="0">
                <a:solidFill>
                  <a:srgbClr val="D5E4EF"/>
                </a:solidFill>
                <a:latin typeface="Yu Gothic"/>
                <a:cs typeface="Yu Gothic"/>
              </a:rPr>
              <a:t>Integration:</a:t>
            </a:r>
            <a:r>
              <a:rPr sz="1150" b="1" spc="-6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LDR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motion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sensor </a:t>
            </a:r>
            <a:r>
              <a:rPr sz="1150" spc="-50" dirty="0">
                <a:solidFill>
                  <a:srgbClr val="D5E4EF"/>
                </a:solidFill>
                <a:latin typeface="Trebuchet MS"/>
                <a:cs typeface="Trebuchet MS"/>
              </a:rPr>
              <a:t>interfaced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with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transistor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drivers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or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45" dirty="0">
                <a:solidFill>
                  <a:srgbClr val="D5E4EF"/>
                </a:solidFill>
                <a:latin typeface="Trebuchet MS"/>
                <a:cs typeface="Trebuchet MS"/>
              </a:rPr>
              <a:t>relay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modules</a:t>
            </a:r>
            <a:endParaRPr sz="1150">
              <a:latin typeface="Trebuchet MS"/>
              <a:cs typeface="Trebuchet MS"/>
            </a:endParaRPr>
          </a:p>
          <a:p>
            <a:pPr marL="251460" marR="317500">
              <a:lnSpc>
                <a:spcPct val="119600"/>
              </a:lnSpc>
              <a:spcBef>
                <a:spcPts val="300"/>
              </a:spcBef>
            </a:pPr>
            <a:r>
              <a:rPr sz="1150" b="1" spc="-60" dirty="0">
                <a:solidFill>
                  <a:srgbClr val="D5E4EF"/>
                </a:solidFill>
                <a:latin typeface="Yu Gothic"/>
                <a:cs typeface="Yu Gothic"/>
              </a:rPr>
              <a:t>Safety</a:t>
            </a:r>
            <a:r>
              <a:rPr sz="1150" b="1" spc="-55" dirty="0">
                <a:solidFill>
                  <a:srgbClr val="D5E4EF"/>
                </a:solidFill>
                <a:latin typeface="Yu Gothic"/>
                <a:cs typeface="Yu Gothic"/>
              </a:rPr>
              <a:t> Protocols:</a:t>
            </a:r>
            <a:r>
              <a:rPr sz="1150" b="1" spc="-5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150" spc="-45" dirty="0">
                <a:solidFill>
                  <a:srgbClr val="D5E4EF"/>
                </a:solidFill>
                <a:latin typeface="Trebuchet MS"/>
                <a:cs typeface="Trebuchet MS"/>
              </a:rPr>
              <a:t>Voltage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clamping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current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limiting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resistors</a:t>
            </a:r>
            <a:endParaRPr sz="1150">
              <a:latin typeface="Trebuchet MS"/>
              <a:cs typeface="Trebuchet MS"/>
            </a:endParaRPr>
          </a:p>
          <a:p>
            <a:pPr marL="251460" marR="5080">
              <a:lnSpc>
                <a:spcPct val="119600"/>
              </a:lnSpc>
              <a:spcBef>
                <a:spcPts val="300"/>
              </a:spcBef>
            </a:pPr>
            <a:r>
              <a:rPr sz="1150" b="1" spc="-70" dirty="0">
                <a:solidFill>
                  <a:srgbClr val="D5E4EF"/>
                </a:solidFill>
                <a:latin typeface="Yu Gothic"/>
                <a:cs typeface="Yu Gothic"/>
              </a:rPr>
              <a:t>Power </a:t>
            </a:r>
            <a:r>
              <a:rPr sz="1150" b="1" spc="-55" dirty="0">
                <a:solidFill>
                  <a:srgbClr val="D5E4EF"/>
                </a:solidFill>
                <a:latin typeface="Yu Gothic"/>
                <a:cs typeface="Yu Gothic"/>
              </a:rPr>
              <a:t>Efficiency:</a:t>
            </a:r>
            <a:r>
              <a:rPr sz="1150" b="1" spc="-6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Low-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power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TTL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logic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family,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relay-based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high-power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switching</a:t>
            </a:r>
            <a:endParaRPr sz="1150">
              <a:latin typeface="Trebuchet MS"/>
              <a:cs typeface="Trebuchet MS"/>
            </a:endParaRPr>
          </a:p>
          <a:p>
            <a:pPr marL="251460" marR="168275">
              <a:lnSpc>
                <a:spcPct val="119600"/>
              </a:lnSpc>
              <a:spcBef>
                <a:spcPts val="300"/>
              </a:spcBef>
            </a:pPr>
            <a:r>
              <a:rPr sz="1150" b="1" spc="-35" dirty="0">
                <a:solidFill>
                  <a:srgbClr val="D5E4EF"/>
                </a:solidFill>
                <a:latin typeface="Yu Gothic"/>
                <a:cs typeface="Yu Gothic"/>
              </a:rPr>
              <a:t>Reliability:</a:t>
            </a:r>
            <a:r>
              <a:rPr sz="1150" b="1" spc="-4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Debounce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circuits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on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sensor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inputs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for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stable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logic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levels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5324" y="5343524"/>
            <a:ext cx="3524250" cy="800100"/>
          </a:xfrm>
          <a:custGeom>
            <a:avLst/>
            <a:gdLst/>
            <a:ahLst/>
            <a:cxnLst/>
            <a:rect l="l" t="t" r="r" b="b"/>
            <a:pathLst>
              <a:path w="3524250" h="800100">
                <a:moveTo>
                  <a:pt x="3508027" y="800099"/>
                </a:moveTo>
                <a:lnTo>
                  <a:pt x="16221" y="800099"/>
                </a:lnTo>
                <a:lnTo>
                  <a:pt x="13836" y="799624"/>
                </a:lnTo>
                <a:lnTo>
                  <a:pt x="0" y="783877"/>
                </a:lnTo>
                <a:lnTo>
                  <a:pt x="0" y="781398"/>
                </a:lnTo>
                <a:lnTo>
                  <a:pt x="0" y="16221"/>
                </a:lnTo>
                <a:lnTo>
                  <a:pt x="16221" y="0"/>
                </a:lnTo>
                <a:lnTo>
                  <a:pt x="3508027" y="0"/>
                </a:lnTo>
                <a:lnTo>
                  <a:pt x="3524249" y="16221"/>
                </a:lnTo>
                <a:lnTo>
                  <a:pt x="3524249" y="783877"/>
                </a:lnTo>
                <a:lnTo>
                  <a:pt x="3510413" y="799624"/>
                </a:lnTo>
                <a:lnTo>
                  <a:pt x="3508027" y="800099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5025" y="5382313"/>
            <a:ext cx="981710" cy="59499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1350" spc="-20" dirty="0">
                <a:solidFill>
                  <a:srgbClr val="D5E4EF"/>
                </a:solidFill>
                <a:latin typeface="Cambria"/>
                <a:cs typeface="Cambria"/>
              </a:rPr>
              <a:t>7408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Quad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Gate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33874" y="5343524"/>
            <a:ext cx="3524250" cy="800100"/>
          </a:xfrm>
          <a:custGeom>
            <a:avLst/>
            <a:gdLst/>
            <a:ahLst/>
            <a:cxnLst/>
            <a:rect l="l" t="t" r="r" b="b"/>
            <a:pathLst>
              <a:path w="3524250" h="800100">
                <a:moveTo>
                  <a:pt x="3508027" y="800099"/>
                </a:moveTo>
                <a:lnTo>
                  <a:pt x="16221" y="800099"/>
                </a:lnTo>
                <a:lnTo>
                  <a:pt x="13836" y="799624"/>
                </a:lnTo>
                <a:lnTo>
                  <a:pt x="0" y="783877"/>
                </a:lnTo>
                <a:lnTo>
                  <a:pt x="0" y="781398"/>
                </a:lnTo>
                <a:lnTo>
                  <a:pt x="0" y="16221"/>
                </a:lnTo>
                <a:lnTo>
                  <a:pt x="16221" y="0"/>
                </a:lnTo>
                <a:lnTo>
                  <a:pt x="3508027" y="0"/>
                </a:lnTo>
                <a:lnTo>
                  <a:pt x="3524249" y="16221"/>
                </a:lnTo>
                <a:lnTo>
                  <a:pt x="3524249" y="783877"/>
                </a:lnTo>
                <a:lnTo>
                  <a:pt x="3510413" y="799624"/>
                </a:lnTo>
                <a:lnTo>
                  <a:pt x="3508027" y="800099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470896" y="5382313"/>
            <a:ext cx="896619" cy="59499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1350" spc="-20" dirty="0">
                <a:solidFill>
                  <a:srgbClr val="D5E4EF"/>
                </a:solidFill>
                <a:latin typeface="Cambria"/>
                <a:cs typeface="Cambria"/>
              </a:rPr>
              <a:t>7432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Quad</a:t>
            </a:r>
            <a:r>
              <a:rPr sz="115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OR</a:t>
            </a:r>
            <a:r>
              <a:rPr sz="115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Gate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972423" y="5343524"/>
            <a:ext cx="3524250" cy="800100"/>
          </a:xfrm>
          <a:custGeom>
            <a:avLst/>
            <a:gdLst/>
            <a:ahLst/>
            <a:cxnLst/>
            <a:rect l="l" t="t" r="r" b="b"/>
            <a:pathLst>
              <a:path w="3524250" h="800100">
                <a:moveTo>
                  <a:pt x="3508029" y="800099"/>
                </a:moveTo>
                <a:lnTo>
                  <a:pt x="16221" y="800099"/>
                </a:lnTo>
                <a:lnTo>
                  <a:pt x="13835" y="799624"/>
                </a:lnTo>
                <a:lnTo>
                  <a:pt x="0" y="783877"/>
                </a:lnTo>
                <a:lnTo>
                  <a:pt x="0" y="781398"/>
                </a:lnTo>
                <a:lnTo>
                  <a:pt x="0" y="16221"/>
                </a:lnTo>
                <a:lnTo>
                  <a:pt x="16221" y="0"/>
                </a:lnTo>
                <a:lnTo>
                  <a:pt x="3508029" y="0"/>
                </a:lnTo>
                <a:lnTo>
                  <a:pt x="3524249" y="16221"/>
                </a:lnTo>
                <a:lnTo>
                  <a:pt x="3524249" y="783877"/>
                </a:lnTo>
                <a:lnTo>
                  <a:pt x="3510413" y="799624"/>
                </a:lnTo>
                <a:lnTo>
                  <a:pt x="3508029" y="800099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106767" y="5382313"/>
            <a:ext cx="1494155" cy="594995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sz="1350" spc="-20" dirty="0">
                <a:solidFill>
                  <a:srgbClr val="D5E4EF"/>
                </a:solidFill>
                <a:latin typeface="Cambria"/>
                <a:cs typeface="Cambria"/>
              </a:rPr>
              <a:t>7404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Hex</a:t>
            </a:r>
            <a:r>
              <a:rPr sz="115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NOT</a:t>
            </a:r>
            <a:r>
              <a:rPr sz="115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Gate</a:t>
            </a:r>
            <a:r>
              <a:rPr sz="115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(Inverter)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19999" y="0"/>
            <a:ext cx="4572000" cy="6858000"/>
            <a:chOff x="7619999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7619999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6857999"/>
                  </a:lnTo>
                  <a:close/>
                </a:path>
              </a:pathLst>
            </a:custGeom>
            <a:solidFill>
              <a:srgbClr val="44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5724" y="123825"/>
              <a:ext cx="4400549" cy="661034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5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50" spc="90" dirty="0"/>
              <a:t>Simulation</a:t>
            </a:r>
            <a:r>
              <a:rPr sz="3150" spc="140" dirty="0"/>
              <a:t> </a:t>
            </a:r>
            <a:r>
              <a:rPr sz="3150" spc="95" dirty="0"/>
              <a:t>Phase</a:t>
            </a:r>
            <a:endParaRPr sz="3150"/>
          </a:p>
        </p:txBody>
      </p:sp>
      <p:sp>
        <p:nvSpPr>
          <p:cNvPr id="7" name="object 7"/>
          <p:cNvSpPr/>
          <p:nvPr/>
        </p:nvSpPr>
        <p:spPr>
          <a:xfrm>
            <a:off x="695324" y="1438274"/>
            <a:ext cx="848360" cy="1513840"/>
          </a:xfrm>
          <a:custGeom>
            <a:avLst/>
            <a:gdLst/>
            <a:ahLst/>
            <a:cxnLst/>
            <a:rect l="l" t="t" r="r" b="b"/>
            <a:pathLst>
              <a:path w="848360" h="1513839">
                <a:moveTo>
                  <a:pt x="423902" y="1513581"/>
                </a:moveTo>
                <a:lnTo>
                  <a:pt x="0" y="1344020"/>
                </a:lnTo>
                <a:lnTo>
                  <a:pt x="0" y="0"/>
                </a:lnTo>
                <a:lnTo>
                  <a:pt x="423902" y="169561"/>
                </a:lnTo>
                <a:lnTo>
                  <a:pt x="847805" y="0"/>
                </a:lnTo>
                <a:lnTo>
                  <a:pt x="847805" y="1344020"/>
                </a:lnTo>
                <a:lnTo>
                  <a:pt x="423902" y="1513581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3029" y="2018982"/>
            <a:ext cx="1181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40" dirty="0">
                <a:solidFill>
                  <a:srgbClr val="D5E4EF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7243" y="1443948"/>
            <a:ext cx="957580" cy="7175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550" spc="65" dirty="0">
                <a:solidFill>
                  <a:srgbClr val="D5E4EF"/>
                </a:solidFill>
                <a:latin typeface="Cambria"/>
                <a:cs typeface="Cambria"/>
              </a:rPr>
              <a:t>Day</a:t>
            </a:r>
            <a:r>
              <a:rPr sz="1550" spc="80" dirty="0">
                <a:solidFill>
                  <a:srgbClr val="D5E4EF"/>
                </a:solidFill>
                <a:latin typeface="Cambria"/>
                <a:cs typeface="Cambria"/>
              </a:rPr>
              <a:t> Mode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300" b="1" spc="-110" dirty="0">
                <a:solidFill>
                  <a:srgbClr val="D5E4EF"/>
                </a:solidFill>
                <a:latin typeface="Yu Gothic"/>
                <a:cs typeface="Yu Gothic"/>
              </a:rPr>
              <a:t>A=1,</a:t>
            </a:r>
            <a:r>
              <a:rPr sz="1300" b="1" spc="-8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300" b="1" spc="-10" dirty="0">
                <a:solidFill>
                  <a:srgbClr val="D5E4EF"/>
                </a:solidFill>
                <a:latin typeface="Yu Gothic"/>
                <a:cs typeface="Yu Gothic"/>
              </a:rPr>
              <a:t>B=0/1</a:t>
            </a:r>
            <a:endParaRPr sz="1300">
              <a:latin typeface="Yu Gothic"/>
              <a:cs typeface="Yu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7243" y="2221483"/>
            <a:ext cx="4645025" cy="520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Lights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35" dirty="0">
                <a:solidFill>
                  <a:srgbClr val="D5E4EF"/>
                </a:solidFill>
                <a:latin typeface="Trebuchet MS"/>
                <a:cs typeface="Trebuchet MS"/>
              </a:rPr>
              <a:t>remain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b="1" spc="-130" dirty="0">
                <a:solidFill>
                  <a:srgbClr val="00D4FF"/>
                </a:solidFill>
                <a:latin typeface="Yu Gothic"/>
                <a:cs typeface="Yu Gothic"/>
              </a:rPr>
              <a:t>OFF</a:t>
            </a:r>
            <a:r>
              <a:rPr sz="1300" b="1" spc="-65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300" spc="-35" dirty="0">
                <a:solidFill>
                  <a:srgbClr val="D5E4EF"/>
                </a:solidFill>
                <a:latin typeface="Trebuchet MS"/>
                <a:cs typeface="Trebuchet MS"/>
              </a:rPr>
              <a:t>regardless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D5E4EF"/>
                </a:solidFill>
                <a:latin typeface="Trebuchet MS"/>
                <a:cs typeface="Trebuchet MS"/>
              </a:rPr>
              <a:t>of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D5E4EF"/>
                </a:solidFill>
                <a:latin typeface="Trebuchet MS"/>
                <a:cs typeface="Trebuchet MS"/>
              </a:rPr>
              <a:t>motion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110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50" dirty="0">
                <a:solidFill>
                  <a:srgbClr val="D5E4EF"/>
                </a:solidFill>
                <a:latin typeface="Trebuchet MS"/>
                <a:cs typeface="Trebuchet MS"/>
              </a:rPr>
              <a:t>sufficient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ambient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D5E4EF"/>
                </a:solidFill>
                <a:latin typeface="Trebuchet MS"/>
                <a:cs typeface="Trebuchet MS"/>
              </a:rPr>
              <a:t>light detected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5324" y="2952749"/>
            <a:ext cx="848360" cy="1263015"/>
          </a:xfrm>
          <a:custGeom>
            <a:avLst/>
            <a:gdLst/>
            <a:ahLst/>
            <a:cxnLst/>
            <a:rect l="l" t="t" r="r" b="b"/>
            <a:pathLst>
              <a:path w="848360" h="1263014">
                <a:moveTo>
                  <a:pt x="423902" y="1262806"/>
                </a:moveTo>
                <a:lnTo>
                  <a:pt x="0" y="1093245"/>
                </a:lnTo>
                <a:lnTo>
                  <a:pt x="0" y="0"/>
                </a:lnTo>
                <a:lnTo>
                  <a:pt x="423902" y="169561"/>
                </a:lnTo>
                <a:lnTo>
                  <a:pt x="847805" y="0"/>
                </a:lnTo>
                <a:lnTo>
                  <a:pt x="847805" y="1093245"/>
                </a:lnTo>
                <a:lnTo>
                  <a:pt x="423902" y="1262806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41003" y="3400107"/>
            <a:ext cx="1625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D5E4EF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7243" y="2958424"/>
            <a:ext cx="4563745" cy="105092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550" spc="80" dirty="0">
                <a:solidFill>
                  <a:srgbClr val="D5E4EF"/>
                </a:solidFill>
                <a:latin typeface="Cambria"/>
                <a:cs typeface="Cambria"/>
              </a:rPr>
              <a:t>Night, </a:t>
            </a:r>
            <a:r>
              <a:rPr sz="1550" spc="100" dirty="0">
                <a:solidFill>
                  <a:srgbClr val="D5E4EF"/>
                </a:solidFill>
                <a:latin typeface="Cambria"/>
                <a:cs typeface="Cambria"/>
              </a:rPr>
              <a:t>No</a:t>
            </a:r>
            <a:r>
              <a:rPr sz="1550" spc="8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D5E4EF"/>
                </a:solidFill>
                <a:latin typeface="Cambria"/>
                <a:cs typeface="Cambria"/>
              </a:rPr>
              <a:t>Traffic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300" b="1" spc="-110" dirty="0">
                <a:solidFill>
                  <a:srgbClr val="D5E4EF"/>
                </a:solidFill>
                <a:latin typeface="Yu Gothic"/>
                <a:cs typeface="Yu Gothic"/>
              </a:rPr>
              <a:t>A=0,</a:t>
            </a:r>
            <a:r>
              <a:rPr sz="1300" b="1" spc="-8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300" b="1" spc="-25" dirty="0">
                <a:solidFill>
                  <a:srgbClr val="D5E4EF"/>
                </a:solidFill>
                <a:latin typeface="Yu Gothic"/>
                <a:cs typeface="Yu Gothic"/>
              </a:rPr>
              <a:t>B=0</a:t>
            </a:r>
            <a:endParaRPr sz="13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Lights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b="1" spc="-145" dirty="0">
                <a:solidFill>
                  <a:srgbClr val="00D4FF"/>
                </a:solidFill>
                <a:latin typeface="Yu Gothic"/>
                <a:cs typeface="Yu Gothic"/>
              </a:rPr>
              <a:t>DIM</a:t>
            </a:r>
            <a:r>
              <a:rPr sz="1300" b="1" spc="-75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300" b="1" spc="-20" dirty="0">
                <a:solidFill>
                  <a:srgbClr val="00D4FF"/>
                </a:solidFill>
                <a:latin typeface="Yu Gothic"/>
                <a:cs typeface="Yu Gothic"/>
              </a:rPr>
              <a:t>or</a:t>
            </a:r>
            <a:r>
              <a:rPr sz="1300" b="1" spc="-70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300" b="1" spc="-130" dirty="0">
                <a:solidFill>
                  <a:srgbClr val="00D4FF"/>
                </a:solidFill>
                <a:latin typeface="Yu Gothic"/>
                <a:cs typeface="Yu Gothic"/>
              </a:rPr>
              <a:t>OFF</a:t>
            </a:r>
            <a:r>
              <a:rPr sz="1300" b="1" spc="-70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300" spc="110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D5E4EF"/>
                </a:solidFill>
                <a:latin typeface="Trebuchet MS"/>
                <a:cs typeface="Trebuchet MS"/>
              </a:rPr>
              <a:t>dark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D5E4EF"/>
                </a:solidFill>
                <a:latin typeface="Trebuchet MS"/>
                <a:cs typeface="Trebuchet MS"/>
              </a:rPr>
              <a:t>conditions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but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D5E4EF"/>
                </a:solidFill>
                <a:latin typeface="Trebuchet MS"/>
                <a:cs typeface="Trebuchet MS"/>
              </a:rPr>
              <a:t>no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D5E4EF"/>
                </a:solidFill>
                <a:latin typeface="Trebuchet MS"/>
                <a:cs typeface="Trebuchet MS"/>
              </a:rPr>
              <a:t>movement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D5E4EF"/>
                </a:solidFill>
                <a:latin typeface="Trebuchet MS"/>
                <a:cs typeface="Trebuchet MS"/>
              </a:rPr>
              <a:t>detected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5324" y="4210050"/>
            <a:ext cx="848360" cy="1263015"/>
          </a:xfrm>
          <a:custGeom>
            <a:avLst/>
            <a:gdLst/>
            <a:ahLst/>
            <a:cxnLst/>
            <a:rect l="l" t="t" r="r" b="b"/>
            <a:pathLst>
              <a:path w="848360" h="1263014">
                <a:moveTo>
                  <a:pt x="423902" y="1262806"/>
                </a:moveTo>
                <a:lnTo>
                  <a:pt x="0" y="1093245"/>
                </a:lnTo>
                <a:lnTo>
                  <a:pt x="0" y="0"/>
                </a:lnTo>
                <a:lnTo>
                  <a:pt x="423902" y="169561"/>
                </a:lnTo>
                <a:lnTo>
                  <a:pt x="847805" y="0"/>
                </a:lnTo>
                <a:lnTo>
                  <a:pt x="847805" y="1093245"/>
                </a:lnTo>
                <a:lnTo>
                  <a:pt x="423902" y="1262806"/>
                </a:lnTo>
                <a:close/>
              </a:path>
            </a:pathLst>
          </a:custGeom>
          <a:solidFill>
            <a:srgbClr val="4446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38473" y="4666932"/>
            <a:ext cx="1676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D5E4EF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7243" y="4236454"/>
            <a:ext cx="4288155" cy="1039494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1550" spc="80" dirty="0">
                <a:solidFill>
                  <a:srgbClr val="D5E4EF"/>
                </a:solidFill>
                <a:latin typeface="Cambria"/>
                <a:cs typeface="Cambria"/>
              </a:rPr>
              <a:t>Night</a:t>
            </a:r>
            <a:r>
              <a:rPr sz="1550" spc="9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550" spc="55" dirty="0">
                <a:solidFill>
                  <a:srgbClr val="D5E4EF"/>
                </a:solidFill>
                <a:latin typeface="Cambria"/>
                <a:cs typeface="Cambria"/>
              </a:rPr>
              <a:t>with</a:t>
            </a:r>
            <a:r>
              <a:rPr sz="1550" spc="9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550" spc="50" dirty="0">
                <a:solidFill>
                  <a:srgbClr val="D5E4EF"/>
                </a:solidFill>
                <a:latin typeface="Cambria"/>
                <a:cs typeface="Cambria"/>
              </a:rPr>
              <a:t>Traffic</a:t>
            </a:r>
            <a:endParaRPr sz="15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300" b="1" spc="-110" dirty="0">
                <a:solidFill>
                  <a:srgbClr val="D5E4EF"/>
                </a:solidFill>
                <a:latin typeface="Yu Gothic"/>
                <a:cs typeface="Yu Gothic"/>
              </a:rPr>
              <a:t>A=0,</a:t>
            </a:r>
            <a:r>
              <a:rPr sz="1300" b="1" spc="-8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300" b="1" spc="-25" dirty="0">
                <a:solidFill>
                  <a:srgbClr val="D5E4EF"/>
                </a:solidFill>
                <a:latin typeface="Yu Gothic"/>
                <a:cs typeface="Yu Gothic"/>
              </a:rPr>
              <a:t>B=1</a:t>
            </a:r>
            <a:endParaRPr sz="1300">
              <a:latin typeface="Yu Gothic"/>
              <a:cs typeface="Yu Gothic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Lights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b="1" spc="-110" dirty="0">
                <a:solidFill>
                  <a:srgbClr val="00D4FF"/>
                </a:solidFill>
                <a:latin typeface="Yu Gothic"/>
                <a:cs typeface="Yu Gothic"/>
              </a:rPr>
              <a:t>BRIGHT</a:t>
            </a:r>
            <a:r>
              <a:rPr sz="1300" b="1" spc="-75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300" b="1" spc="-120" dirty="0">
                <a:solidFill>
                  <a:srgbClr val="00D4FF"/>
                </a:solidFill>
                <a:latin typeface="Yu Gothic"/>
                <a:cs typeface="Yu Gothic"/>
              </a:rPr>
              <a:t>ON</a:t>
            </a:r>
            <a:r>
              <a:rPr sz="1300" b="1" spc="-75" dirty="0">
                <a:solidFill>
                  <a:srgbClr val="00D4FF"/>
                </a:solidFill>
                <a:latin typeface="Yu Gothic"/>
                <a:cs typeface="Yu Gothic"/>
              </a:rPr>
              <a:t> </a:t>
            </a:r>
            <a:r>
              <a:rPr sz="1300" spc="110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D5E4EF"/>
                </a:solidFill>
                <a:latin typeface="Trebuchet MS"/>
                <a:cs typeface="Trebuchet MS"/>
              </a:rPr>
              <a:t>dark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D5E4EF"/>
                </a:solidFill>
                <a:latin typeface="Trebuchet MS"/>
                <a:cs typeface="Trebuchet MS"/>
              </a:rPr>
              <a:t>conditions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D5E4EF"/>
                </a:solidFill>
                <a:latin typeface="Trebuchet MS"/>
                <a:cs typeface="Trebuchet MS"/>
              </a:rPr>
              <a:t>with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0" dirty="0">
                <a:solidFill>
                  <a:srgbClr val="D5E4EF"/>
                </a:solidFill>
                <a:latin typeface="Trebuchet MS"/>
                <a:cs typeface="Trebuchet MS"/>
              </a:rPr>
              <a:t>motion</a:t>
            </a:r>
            <a:r>
              <a:rPr sz="13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D5E4EF"/>
                </a:solidFill>
                <a:latin typeface="Trebuchet MS"/>
                <a:cs typeface="Trebuchet MS"/>
              </a:rPr>
              <a:t>confirmed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5452" y="5583808"/>
            <a:ext cx="5787390" cy="520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Simulated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dirty="0">
                <a:solidFill>
                  <a:srgbClr val="D5E4EF"/>
                </a:solidFill>
                <a:latin typeface="Trebuchet MS"/>
                <a:cs typeface="Trebuchet MS"/>
              </a:rPr>
              <a:t>using</a:t>
            </a:r>
            <a:r>
              <a:rPr sz="130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b="1" spc="-60" dirty="0">
                <a:solidFill>
                  <a:srgbClr val="D5E4EF"/>
                </a:solidFill>
                <a:latin typeface="Yu Gothic"/>
                <a:cs typeface="Yu Gothic"/>
              </a:rPr>
              <a:t>Proteus, </a:t>
            </a:r>
            <a:r>
              <a:rPr sz="1300" b="1" spc="-55" dirty="0">
                <a:solidFill>
                  <a:srgbClr val="D5E4EF"/>
                </a:solidFill>
                <a:latin typeface="Yu Gothic"/>
                <a:cs typeface="Yu Gothic"/>
              </a:rPr>
              <a:t>Multisim, </a:t>
            </a:r>
            <a:r>
              <a:rPr sz="1300" b="1" spc="-20" dirty="0">
                <a:solidFill>
                  <a:srgbClr val="D5E4EF"/>
                </a:solidFill>
                <a:latin typeface="Yu Gothic"/>
                <a:cs typeface="Yu Gothic"/>
              </a:rPr>
              <a:t>or</a:t>
            </a:r>
            <a:r>
              <a:rPr sz="1300" b="1" spc="-6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300" b="1" spc="-65" dirty="0">
                <a:solidFill>
                  <a:srgbClr val="D5E4EF"/>
                </a:solidFill>
                <a:latin typeface="Yu Gothic"/>
                <a:cs typeface="Yu Gothic"/>
              </a:rPr>
              <a:t>Tinkercad</a:t>
            </a:r>
            <a:r>
              <a:rPr sz="1300" b="1" spc="-60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300" spc="110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30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output</a:t>
            </a:r>
            <a:r>
              <a:rPr sz="130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D5E4EF"/>
                </a:solidFill>
                <a:latin typeface="Trebuchet MS"/>
                <a:cs typeface="Trebuchet MS"/>
              </a:rPr>
              <a:t>waveforms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55" dirty="0">
                <a:solidFill>
                  <a:srgbClr val="D5E4EF"/>
                </a:solidFill>
                <a:latin typeface="Trebuchet MS"/>
                <a:cs typeface="Trebuchet MS"/>
              </a:rPr>
              <a:t>verified</a:t>
            </a:r>
            <a:r>
              <a:rPr sz="130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25" dirty="0">
                <a:solidFill>
                  <a:srgbClr val="D5E4EF"/>
                </a:solidFill>
                <a:latin typeface="Trebuchet MS"/>
                <a:cs typeface="Trebuchet MS"/>
              </a:rPr>
              <a:t>to </a:t>
            </a:r>
            <a:r>
              <a:rPr sz="1300" spc="-35" dirty="0">
                <a:solidFill>
                  <a:srgbClr val="D5E4EF"/>
                </a:solidFill>
                <a:latin typeface="Trebuchet MS"/>
                <a:cs typeface="Trebuchet MS"/>
              </a:rPr>
              <a:t>match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40" dirty="0">
                <a:solidFill>
                  <a:srgbClr val="D5E4EF"/>
                </a:solidFill>
                <a:latin typeface="Trebuchet MS"/>
                <a:cs typeface="Trebuchet MS"/>
              </a:rPr>
              <a:t>truth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55" dirty="0">
                <a:solidFill>
                  <a:srgbClr val="D5E4EF"/>
                </a:solidFill>
                <a:latin typeface="Trebuchet MS"/>
                <a:cs typeface="Trebuchet MS"/>
              </a:rPr>
              <a:t>table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35" dirty="0">
                <a:solidFill>
                  <a:srgbClr val="D5E4EF"/>
                </a:solidFill>
                <a:latin typeface="Trebuchet MS"/>
                <a:cs typeface="Trebuchet MS"/>
              </a:rPr>
              <a:t>specifications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D5E4EF"/>
                </a:solidFill>
                <a:latin typeface="Trebuchet MS"/>
                <a:cs typeface="Trebuchet MS"/>
              </a:rPr>
              <a:t>across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50" dirty="0">
                <a:solidFill>
                  <a:srgbClr val="D5E4EF"/>
                </a:solidFill>
                <a:latin typeface="Trebuchet MS"/>
                <a:cs typeface="Trebuchet MS"/>
              </a:rPr>
              <a:t>all</a:t>
            </a:r>
            <a:r>
              <a:rPr sz="13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60" dirty="0">
                <a:solidFill>
                  <a:srgbClr val="D5E4EF"/>
                </a:solidFill>
                <a:latin typeface="Trebuchet MS"/>
                <a:cs typeface="Trebuchet MS"/>
              </a:rPr>
              <a:t>test</a:t>
            </a:r>
            <a:r>
              <a:rPr sz="13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300" spc="-10" dirty="0">
                <a:solidFill>
                  <a:srgbClr val="D5E4EF"/>
                </a:solidFill>
                <a:latin typeface="Trebuchet MS"/>
                <a:cs typeface="Trebuchet MS"/>
              </a:rPr>
              <a:t>scenarios.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10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spc="114" dirty="0"/>
              <a:t>Benefits</a:t>
            </a:r>
            <a:r>
              <a:rPr sz="2750" spc="125" dirty="0"/>
              <a:t> </a:t>
            </a:r>
            <a:r>
              <a:rPr sz="2750" spc="110" dirty="0"/>
              <a:t>and</a:t>
            </a:r>
            <a:r>
              <a:rPr sz="2750" spc="130" dirty="0"/>
              <a:t> </a:t>
            </a:r>
            <a:r>
              <a:rPr sz="2750" spc="95" dirty="0"/>
              <a:t>Future</a:t>
            </a:r>
            <a:r>
              <a:rPr sz="2750" spc="135" dirty="0"/>
              <a:t> </a:t>
            </a:r>
            <a:r>
              <a:rPr sz="2750" spc="125" dirty="0"/>
              <a:t>Enhancements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390" y="1717400"/>
            <a:ext cx="183012" cy="3123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0526" y="2536548"/>
            <a:ext cx="268796" cy="31239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49656" y="3362325"/>
            <a:ext cx="190500" cy="299720"/>
          </a:xfrm>
          <a:custGeom>
            <a:avLst/>
            <a:gdLst/>
            <a:ahLst/>
            <a:cxnLst/>
            <a:rect l="l" t="t" r="r" b="b"/>
            <a:pathLst>
              <a:path w="190500" h="299720">
                <a:moveTo>
                  <a:pt x="31941" y="174478"/>
                </a:moveTo>
                <a:lnTo>
                  <a:pt x="22733" y="139207"/>
                </a:lnTo>
                <a:lnTo>
                  <a:pt x="23002" y="133076"/>
                </a:lnTo>
                <a:lnTo>
                  <a:pt x="38957" y="93916"/>
                </a:lnTo>
                <a:lnTo>
                  <a:pt x="74599" y="70118"/>
                </a:lnTo>
                <a:lnTo>
                  <a:pt x="93171" y="66956"/>
                </a:lnTo>
                <a:lnTo>
                  <a:pt x="99722" y="66973"/>
                </a:lnTo>
                <a:lnTo>
                  <a:pt x="138651" y="80650"/>
                </a:lnTo>
                <a:lnTo>
                  <a:pt x="165268" y="116630"/>
                </a:lnTo>
                <a:lnTo>
                  <a:pt x="168985" y="143052"/>
                </a:lnTo>
                <a:lnTo>
                  <a:pt x="168362" y="150016"/>
                </a:lnTo>
                <a:lnTo>
                  <a:pt x="152933" y="184445"/>
                </a:lnTo>
                <a:lnTo>
                  <a:pt x="147879" y="192319"/>
                </a:lnTo>
                <a:lnTo>
                  <a:pt x="132845" y="231830"/>
                </a:lnTo>
                <a:lnTo>
                  <a:pt x="132333" y="241229"/>
                </a:lnTo>
                <a:lnTo>
                  <a:pt x="131407" y="245663"/>
                </a:lnTo>
              </a:path>
              <a:path w="190500" h="299720">
                <a:moveTo>
                  <a:pt x="95886" y="0"/>
                </a:moveTo>
                <a:lnTo>
                  <a:pt x="95961" y="40617"/>
                </a:lnTo>
              </a:path>
              <a:path w="190500" h="299720">
                <a:moveTo>
                  <a:pt x="0" y="37514"/>
                </a:moveTo>
                <a:lnTo>
                  <a:pt x="29755" y="67234"/>
                </a:lnTo>
              </a:path>
              <a:path w="190500" h="299720">
                <a:moveTo>
                  <a:pt x="161793" y="67505"/>
                </a:moveTo>
                <a:lnTo>
                  <a:pt x="190480" y="38964"/>
                </a:lnTo>
              </a:path>
              <a:path w="190500" h="299720">
                <a:moveTo>
                  <a:pt x="63764" y="245693"/>
                </a:moveTo>
                <a:lnTo>
                  <a:pt x="131407" y="245663"/>
                </a:lnTo>
              </a:path>
              <a:path w="190500" h="299720">
                <a:moveTo>
                  <a:pt x="63764" y="245693"/>
                </a:moveTo>
                <a:lnTo>
                  <a:pt x="62452" y="245314"/>
                </a:lnTo>
              </a:path>
              <a:path w="190500" h="299720">
                <a:moveTo>
                  <a:pt x="62452" y="245314"/>
                </a:moveTo>
                <a:lnTo>
                  <a:pt x="61147" y="244633"/>
                </a:lnTo>
              </a:path>
              <a:path w="190500" h="299720">
                <a:moveTo>
                  <a:pt x="61147" y="244633"/>
                </a:moveTo>
                <a:lnTo>
                  <a:pt x="60119" y="243614"/>
                </a:lnTo>
              </a:path>
              <a:path w="190500" h="299720">
                <a:moveTo>
                  <a:pt x="60119" y="243614"/>
                </a:moveTo>
                <a:lnTo>
                  <a:pt x="59542" y="242507"/>
                </a:lnTo>
              </a:path>
              <a:path w="190500" h="299720">
                <a:moveTo>
                  <a:pt x="59542" y="242507"/>
                </a:moveTo>
                <a:lnTo>
                  <a:pt x="59277" y="241370"/>
                </a:lnTo>
              </a:path>
              <a:path w="190500" h="299720">
                <a:moveTo>
                  <a:pt x="59015" y="241362"/>
                </a:moveTo>
                <a:lnTo>
                  <a:pt x="58766" y="232116"/>
                </a:lnTo>
                <a:lnTo>
                  <a:pt x="57460" y="223087"/>
                </a:lnTo>
                <a:lnTo>
                  <a:pt x="55097" y="214276"/>
                </a:lnTo>
                <a:lnTo>
                  <a:pt x="51677" y="205682"/>
                </a:lnTo>
              </a:path>
              <a:path w="190500" h="299720">
                <a:moveTo>
                  <a:pt x="65395" y="263303"/>
                </a:moveTo>
                <a:lnTo>
                  <a:pt x="66487" y="285349"/>
                </a:lnTo>
              </a:path>
              <a:path w="190500" h="299720">
                <a:moveTo>
                  <a:pt x="66487" y="285349"/>
                </a:moveTo>
                <a:lnTo>
                  <a:pt x="67090" y="286918"/>
                </a:lnTo>
              </a:path>
              <a:path w="190500" h="299720">
                <a:moveTo>
                  <a:pt x="67090" y="286918"/>
                </a:moveTo>
                <a:lnTo>
                  <a:pt x="67878" y="288490"/>
                </a:lnTo>
              </a:path>
              <a:path w="190500" h="299720">
                <a:moveTo>
                  <a:pt x="67878" y="288490"/>
                </a:moveTo>
                <a:lnTo>
                  <a:pt x="68897" y="290092"/>
                </a:lnTo>
              </a:path>
              <a:path w="190500" h="299720">
                <a:moveTo>
                  <a:pt x="68897" y="290092"/>
                </a:moveTo>
                <a:lnTo>
                  <a:pt x="70135" y="291654"/>
                </a:lnTo>
              </a:path>
              <a:path w="190500" h="299720">
                <a:moveTo>
                  <a:pt x="70135" y="291654"/>
                </a:moveTo>
                <a:lnTo>
                  <a:pt x="71583" y="293124"/>
                </a:lnTo>
              </a:path>
              <a:path w="190500" h="299720">
                <a:moveTo>
                  <a:pt x="71583" y="293124"/>
                </a:moveTo>
                <a:lnTo>
                  <a:pt x="73121" y="294387"/>
                </a:lnTo>
              </a:path>
              <a:path w="190500" h="299720">
                <a:moveTo>
                  <a:pt x="73121" y="294387"/>
                </a:moveTo>
                <a:lnTo>
                  <a:pt x="74717" y="295448"/>
                </a:lnTo>
              </a:path>
              <a:path w="190500" h="299720">
                <a:moveTo>
                  <a:pt x="74717" y="295448"/>
                </a:moveTo>
                <a:lnTo>
                  <a:pt x="84849" y="298215"/>
                </a:lnTo>
                <a:lnTo>
                  <a:pt x="94874" y="299144"/>
                </a:lnTo>
                <a:lnTo>
                  <a:pt x="104947" y="298326"/>
                </a:lnTo>
                <a:lnTo>
                  <a:pt x="115223" y="295855"/>
                </a:lnTo>
              </a:path>
              <a:path w="190500" h="299720">
                <a:moveTo>
                  <a:pt x="115223" y="295855"/>
                </a:moveTo>
                <a:lnTo>
                  <a:pt x="116384" y="295183"/>
                </a:lnTo>
                <a:lnTo>
                  <a:pt x="117481" y="294419"/>
                </a:lnTo>
                <a:lnTo>
                  <a:pt x="118513" y="293562"/>
                </a:lnTo>
              </a:path>
              <a:path w="190500" h="299720">
                <a:moveTo>
                  <a:pt x="118513" y="293562"/>
                </a:moveTo>
                <a:lnTo>
                  <a:pt x="120096" y="292123"/>
                </a:lnTo>
              </a:path>
              <a:path w="190500" h="299720">
                <a:moveTo>
                  <a:pt x="120096" y="292123"/>
                </a:moveTo>
                <a:lnTo>
                  <a:pt x="121527" y="290560"/>
                </a:lnTo>
              </a:path>
              <a:path w="190500" h="299720">
                <a:moveTo>
                  <a:pt x="121527" y="290560"/>
                </a:moveTo>
                <a:lnTo>
                  <a:pt x="122725" y="288954"/>
                </a:lnTo>
              </a:path>
              <a:path w="190500" h="299720">
                <a:moveTo>
                  <a:pt x="122725" y="288954"/>
                </a:moveTo>
                <a:lnTo>
                  <a:pt x="123709" y="287320"/>
                </a:lnTo>
              </a:path>
              <a:path w="190500" h="299720">
                <a:moveTo>
                  <a:pt x="123709" y="287320"/>
                </a:moveTo>
                <a:lnTo>
                  <a:pt x="124484" y="285666"/>
                </a:lnTo>
              </a:path>
              <a:path w="190500" h="299720">
                <a:moveTo>
                  <a:pt x="124484" y="285666"/>
                </a:moveTo>
                <a:lnTo>
                  <a:pt x="125068" y="284024"/>
                </a:lnTo>
              </a:path>
              <a:path w="190500" h="299720">
                <a:moveTo>
                  <a:pt x="125068" y="284024"/>
                </a:moveTo>
                <a:lnTo>
                  <a:pt x="125927" y="263303"/>
                </a:lnTo>
              </a:path>
              <a:path w="190500" h="299720">
                <a:moveTo>
                  <a:pt x="51584" y="205725"/>
                </a:moveTo>
                <a:lnTo>
                  <a:pt x="31941" y="174478"/>
                </a:lnTo>
              </a:path>
            </a:pathLst>
          </a:custGeom>
          <a:ln w="13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5452" y="1363948"/>
            <a:ext cx="4439285" cy="25749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65" dirty="0">
                <a:solidFill>
                  <a:srgbClr val="F98AC7"/>
                </a:solidFill>
                <a:latin typeface="Cambria"/>
                <a:cs typeface="Cambria"/>
              </a:rPr>
              <a:t>Key </a:t>
            </a:r>
            <a:r>
              <a:rPr sz="1350" spc="45" dirty="0">
                <a:solidFill>
                  <a:srgbClr val="F98AC7"/>
                </a:solidFill>
                <a:latin typeface="Cambria"/>
                <a:cs typeface="Cambria"/>
              </a:rPr>
              <a:t>Advantages</a:t>
            </a:r>
            <a:endParaRPr sz="1350">
              <a:latin typeface="Cambria"/>
              <a:cs typeface="Cambria"/>
            </a:endParaRPr>
          </a:p>
          <a:p>
            <a:pPr marL="451484">
              <a:lnSpc>
                <a:spcPct val="100000"/>
              </a:lnSpc>
              <a:spcBef>
                <a:spcPts val="1530"/>
              </a:spcBef>
            </a:pPr>
            <a:r>
              <a:rPr sz="1350" spc="55" dirty="0">
                <a:solidFill>
                  <a:srgbClr val="D5E4EF"/>
                </a:solidFill>
                <a:latin typeface="Cambria"/>
                <a:cs typeface="Cambria"/>
              </a:rPr>
              <a:t>Power</a:t>
            </a:r>
            <a:r>
              <a:rPr sz="1350" spc="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D5E4EF"/>
                </a:solidFill>
                <a:latin typeface="Cambria"/>
                <a:cs typeface="Cambria"/>
              </a:rPr>
              <a:t>Reduction</a:t>
            </a:r>
            <a:endParaRPr sz="1350">
              <a:latin typeface="Cambria"/>
              <a:cs typeface="Cambria"/>
            </a:endParaRPr>
          </a:p>
          <a:p>
            <a:pPr marL="451484">
              <a:lnSpc>
                <a:spcPct val="100000"/>
              </a:lnSpc>
              <a:spcBef>
                <a:spcPts val="1055"/>
              </a:spcBef>
            </a:pP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Significant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energy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savings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by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switching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lights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only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when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needed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50">
              <a:latin typeface="Trebuchet MS"/>
              <a:cs typeface="Trebuchet MS"/>
            </a:endParaRPr>
          </a:p>
          <a:p>
            <a:pPr marL="451484">
              <a:lnSpc>
                <a:spcPct val="100000"/>
              </a:lnSpc>
              <a:spcBef>
                <a:spcPts val="5"/>
              </a:spcBef>
            </a:pPr>
            <a:r>
              <a:rPr sz="1350" dirty="0">
                <a:solidFill>
                  <a:srgbClr val="D5E4EF"/>
                </a:solidFill>
                <a:latin typeface="Cambria"/>
                <a:cs typeface="Cambria"/>
              </a:rPr>
              <a:t>Fully</a:t>
            </a:r>
            <a:r>
              <a:rPr sz="1350" spc="21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D5E4EF"/>
                </a:solidFill>
                <a:latin typeface="Cambria"/>
                <a:cs typeface="Cambria"/>
              </a:rPr>
              <a:t>Automated</a:t>
            </a:r>
            <a:endParaRPr sz="1350">
              <a:latin typeface="Cambria"/>
              <a:cs typeface="Cambria"/>
            </a:endParaRPr>
          </a:p>
          <a:p>
            <a:pPr marL="451484">
              <a:lnSpc>
                <a:spcPct val="100000"/>
              </a:lnSpc>
              <a:spcBef>
                <a:spcPts val="980"/>
              </a:spcBef>
            </a:pP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Zero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manual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intervention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system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55" dirty="0">
                <a:solidFill>
                  <a:srgbClr val="D5E4EF"/>
                </a:solidFill>
                <a:latin typeface="Trebuchet MS"/>
                <a:cs typeface="Trebuchet MS"/>
              </a:rPr>
              <a:t>self-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manages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in</a:t>
            </a:r>
            <a:r>
              <a:rPr sz="1150" spc="-8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55" dirty="0">
                <a:solidFill>
                  <a:srgbClr val="D5E4EF"/>
                </a:solidFill>
                <a:latin typeface="Trebuchet MS"/>
                <a:cs typeface="Trebuchet MS"/>
              </a:rPr>
              <a:t>real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time</a:t>
            </a:r>
            <a:endParaRPr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1150">
              <a:latin typeface="Trebuchet MS"/>
              <a:cs typeface="Trebuchet MS"/>
            </a:endParaRPr>
          </a:p>
          <a:p>
            <a:pPr marL="451484">
              <a:lnSpc>
                <a:spcPct val="100000"/>
              </a:lnSpc>
              <a:spcBef>
                <a:spcPts val="5"/>
              </a:spcBef>
            </a:pPr>
            <a:r>
              <a:rPr sz="1350" spc="75" dirty="0">
                <a:solidFill>
                  <a:srgbClr val="D5E4EF"/>
                </a:solidFill>
                <a:latin typeface="Cambria"/>
                <a:cs typeface="Cambria"/>
              </a:rPr>
              <a:t>Extended</a:t>
            </a:r>
            <a:r>
              <a:rPr sz="1350" spc="16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dirty="0">
                <a:solidFill>
                  <a:srgbClr val="D5E4EF"/>
                </a:solidFill>
                <a:latin typeface="Cambria"/>
                <a:cs typeface="Cambria"/>
              </a:rPr>
              <a:t>Bulb</a:t>
            </a:r>
            <a:r>
              <a:rPr sz="1350" spc="16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30" dirty="0">
                <a:solidFill>
                  <a:srgbClr val="D5E4EF"/>
                </a:solidFill>
                <a:latin typeface="Cambria"/>
                <a:cs typeface="Cambria"/>
              </a:rPr>
              <a:t>Life</a:t>
            </a:r>
            <a:endParaRPr sz="1350">
              <a:latin typeface="Cambria"/>
              <a:cs typeface="Cambria"/>
            </a:endParaRPr>
          </a:p>
          <a:p>
            <a:pPr marL="451484">
              <a:lnSpc>
                <a:spcPct val="100000"/>
              </a:lnSpc>
              <a:spcBef>
                <a:spcPts val="1055"/>
              </a:spcBef>
            </a:pP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Optimized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switching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cycles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reduce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thermal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stress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wear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5287" y="1363948"/>
            <a:ext cx="111061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55" dirty="0">
                <a:solidFill>
                  <a:srgbClr val="F98AC7"/>
                </a:solidFill>
                <a:latin typeface="Cambria"/>
                <a:cs typeface="Cambria"/>
              </a:rPr>
              <a:t>Future</a:t>
            </a:r>
            <a:r>
              <a:rPr sz="1350" spc="65" dirty="0">
                <a:solidFill>
                  <a:srgbClr val="F98AC7"/>
                </a:solidFill>
                <a:latin typeface="Cambria"/>
                <a:cs typeface="Cambria"/>
              </a:rPr>
              <a:t> </a:t>
            </a:r>
            <a:r>
              <a:rPr sz="1350" spc="80" dirty="0">
                <a:solidFill>
                  <a:srgbClr val="F98AC7"/>
                </a:solidFill>
                <a:latin typeface="Cambria"/>
                <a:cs typeface="Cambria"/>
              </a:rPr>
              <a:t>Scope</a:t>
            </a:r>
            <a:endParaRPr sz="135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83124" y="1757225"/>
            <a:ext cx="156322" cy="1212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9" y="1962149"/>
            <a:ext cx="5219699" cy="190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75287" y="2059273"/>
            <a:ext cx="3279140" cy="546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dirty="0">
                <a:solidFill>
                  <a:srgbClr val="D5E4EF"/>
                </a:solidFill>
                <a:latin typeface="Cambria"/>
                <a:cs typeface="Cambria"/>
              </a:rPr>
              <a:t>IoT</a:t>
            </a:r>
            <a:r>
              <a:rPr sz="1350" spc="1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D5E4EF"/>
                </a:solidFill>
                <a:latin typeface="Cambria"/>
                <a:cs typeface="Cambria"/>
              </a:rPr>
              <a:t>Integration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Remote</a:t>
            </a:r>
            <a:r>
              <a:rPr sz="115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monitoring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and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control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via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cloud</a:t>
            </a:r>
            <a:r>
              <a:rPr sz="1150" spc="-7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dashboard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83187" y="2854821"/>
            <a:ext cx="156197" cy="15581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86499" y="3076574"/>
            <a:ext cx="5219699" cy="1904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275287" y="3173698"/>
            <a:ext cx="3550920" cy="546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55" dirty="0">
                <a:solidFill>
                  <a:srgbClr val="D5E4EF"/>
                </a:solidFill>
                <a:latin typeface="Cambria"/>
                <a:cs typeface="Cambria"/>
              </a:rPr>
              <a:t>Solar</a:t>
            </a:r>
            <a:r>
              <a:rPr sz="1350" spc="7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D5E4EF"/>
                </a:solidFill>
                <a:latin typeface="Cambria"/>
                <a:cs typeface="Cambria"/>
              </a:rPr>
              <a:t>Power</a:t>
            </a:r>
            <a:r>
              <a:rPr sz="1350" spc="8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50" dirty="0">
                <a:solidFill>
                  <a:srgbClr val="D5E4EF"/>
                </a:solidFill>
                <a:latin typeface="Cambria"/>
                <a:cs typeface="Cambria"/>
              </a:rPr>
              <a:t>Harvesting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Sustainable,</a:t>
            </a:r>
            <a:r>
              <a:rPr sz="1150" spc="-5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off-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grid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operation</a:t>
            </a:r>
            <a:r>
              <a:rPr sz="1150" spc="-5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using</a:t>
            </a:r>
            <a:r>
              <a:rPr sz="1150" spc="-5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photovoltaic</a:t>
            </a:r>
            <a:r>
              <a:rPr sz="1150" spc="-5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panels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91552" y="3971924"/>
            <a:ext cx="139309" cy="15288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6499" y="4190999"/>
            <a:ext cx="5219699" cy="1904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275287" y="4288123"/>
            <a:ext cx="3689350" cy="546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70" dirty="0">
                <a:solidFill>
                  <a:srgbClr val="D5E4EF"/>
                </a:solidFill>
                <a:latin typeface="Cambria"/>
                <a:cs typeface="Cambria"/>
              </a:rPr>
              <a:t>Smart </a:t>
            </a:r>
            <a:r>
              <a:rPr sz="1350" spc="170" dirty="0">
                <a:solidFill>
                  <a:srgbClr val="D5E4EF"/>
                </a:solidFill>
                <a:latin typeface="Cambria"/>
                <a:cs typeface="Cambria"/>
              </a:rPr>
              <a:t>MCU</a:t>
            </a:r>
            <a:r>
              <a:rPr sz="1350" spc="7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55" dirty="0">
                <a:solidFill>
                  <a:srgbClr val="D5E4EF"/>
                </a:solidFill>
                <a:latin typeface="Cambria"/>
                <a:cs typeface="Cambria"/>
              </a:rPr>
              <a:t>Implementation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Arduino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0" dirty="0">
                <a:solidFill>
                  <a:srgbClr val="D5E4EF"/>
                </a:solidFill>
                <a:latin typeface="Trebuchet MS"/>
                <a:cs typeface="Trebuchet MS"/>
              </a:rPr>
              <a:t>or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dirty="0">
                <a:solidFill>
                  <a:srgbClr val="D5E4EF"/>
                </a:solidFill>
                <a:latin typeface="Trebuchet MS"/>
                <a:cs typeface="Trebuchet MS"/>
              </a:rPr>
              <a:t>ESP32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5E4EF"/>
                </a:solidFill>
                <a:latin typeface="Trebuchet MS"/>
                <a:cs typeface="Trebuchet MS"/>
              </a:rPr>
              <a:t>for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45" dirty="0">
                <a:solidFill>
                  <a:srgbClr val="D5E4EF"/>
                </a:solidFill>
                <a:latin typeface="Trebuchet MS"/>
                <a:cs typeface="Trebuchet MS"/>
              </a:rPr>
              <a:t>adaptive,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25" dirty="0">
                <a:solidFill>
                  <a:srgbClr val="D5E4EF"/>
                </a:solidFill>
                <a:latin typeface="Trebuchet MS"/>
                <a:cs typeface="Trebuchet MS"/>
              </a:rPr>
              <a:t>programmable</a:t>
            </a:r>
            <a:r>
              <a:rPr sz="1150" spc="-6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control</a:t>
            </a:r>
            <a:r>
              <a:rPr sz="1150" spc="-6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logic</a:t>
            </a:r>
            <a:endParaRPr sz="115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83168" y="5093457"/>
            <a:ext cx="152904" cy="13868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86499" y="5305424"/>
            <a:ext cx="5219699" cy="190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75287" y="5402548"/>
            <a:ext cx="3569335" cy="546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60" dirty="0">
                <a:solidFill>
                  <a:srgbClr val="D5E4EF"/>
                </a:solidFill>
                <a:latin typeface="Cambria"/>
                <a:cs typeface="Cambria"/>
              </a:rPr>
              <a:t>Traffic</a:t>
            </a:r>
            <a:r>
              <a:rPr sz="1350" spc="65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350" spc="70" dirty="0">
                <a:solidFill>
                  <a:srgbClr val="D5E4EF"/>
                </a:solidFill>
                <a:latin typeface="Cambria"/>
                <a:cs typeface="Cambria"/>
              </a:rPr>
              <a:t>Data </a:t>
            </a:r>
            <a:r>
              <a:rPr sz="1350" spc="40" dirty="0">
                <a:solidFill>
                  <a:srgbClr val="D5E4EF"/>
                </a:solidFill>
                <a:latin typeface="Cambria"/>
                <a:cs typeface="Cambria"/>
              </a:rPr>
              <a:t>Analytics</a:t>
            </a:r>
            <a:endParaRPr sz="13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150" spc="-50" dirty="0">
                <a:solidFill>
                  <a:srgbClr val="D5E4EF"/>
                </a:solidFill>
                <a:latin typeface="Trebuchet MS"/>
                <a:cs typeface="Trebuchet MS"/>
              </a:rPr>
              <a:t>Pattern</a:t>
            </a:r>
            <a:r>
              <a:rPr sz="1150" spc="-4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0" dirty="0">
                <a:solidFill>
                  <a:srgbClr val="D5E4EF"/>
                </a:solidFill>
                <a:latin typeface="Trebuchet MS"/>
                <a:cs typeface="Trebuchet MS"/>
              </a:rPr>
              <a:t>recognition</a:t>
            </a: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50" dirty="0">
                <a:solidFill>
                  <a:srgbClr val="D5E4EF"/>
                </a:solidFill>
                <a:latin typeface="Trebuchet MS"/>
                <a:cs typeface="Trebuchet MS"/>
              </a:rPr>
              <a:t>for</a:t>
            </a: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55" dirty="0">
                <a:solidFill>
                  <a:srgbClr val="D5E4EF"/>
                </a:solidFill>
                <a:latin typeface="Trebuchet MS"/>
                <a:cs typeface="Trebuchet MS"/>
              </a:rPr>
              <a:t>predictive,</a:t>
            </a:r>
            <a:r>
              <a:rPr sz="1150" spc="-4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35" dirty="0">
                <a:solidFill>
                  <a:srgbClr val="D5E4EF"/>
                </a:solidFill>
                <a:latin typeface="Trebuchet MS"/>
                <a:cs typeface="Trebuchet MS"/>
              </a:rPr>
              <a:t>optimized</a:t>
            </a:r>
            <a:r>
              <a:rPr sz="1150" spc="-4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150" spc="-10" dirty="0">
                <a:solidFill>
                  <a:srgbClr val="D5E4EF"/>
                </a:solidFill>
                <a:latin typeface="Trebuchet MS"/>
                <a:cs typeface="Trebuchet MS"/>
              </a:rPr>
              <a:t>illumination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19999" y="0"/>
            <a:ext cx="4572000" cy="6858000"/>
            <a:chOff x="7619999" y="0"/>
            <a:chExt cx="4572000" cy="6858000"/>
          </a:xfrm>
        </p:grpSpPr>
        <p:sp>
          <p:nvSpPr>
            <p:cNvPr id="3" name="object 3"/>
            <p:cNvSpPr/>
            <p:nvPr/>
          </p:nvSpPr>
          <p:spPr>
            <a:xfrm>
              <a:off x="7619999" y="0"/>
              <a:ext cx="4572000" cy="6858000"/>
            </a:xfrm>
            <a:custGeom>
              <a:avLst/>
              <a:gdLst/>
              <a:ahLst/>
              <a:cxnLst/>
              <a:rect l="l" t="t" r="r" b="b"/>
              <a:pathLst>
                <a:path w="4572000" h="6858000">
                  <a:moveTo>
                    <a:pt x="457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571999" y="0"/>
                  </a:lnTo>
                  <a:lnTo>
                    <a:pt x="4571999" y="6857999"/>
                  </a:lnTo>
                  <a:close/>
                </a:path>
              </a:pathLst>
            </a:custGeom>
            <a:solidFill>
              <a:srgbClr val="4446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5249" y="142875"/>
              <a:ext cx="4381499" cy="657224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65" dirty="0"/>
              <a:t>Conclusion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95324" y="1466849"/>
            <a:ext cx="3028950" cy="2266950"/>
            <a:chOff x="695324" y="1466849"/>
            <a:chExt cx="3028950" cy="2266950"/>
          </a:xfrm>
        </p:grpSpPr>
        <p:sp>
          <p:nvSpPr>
            <p:cNvPr id="8" name="object 8"/>
            <p:cNvSpPr/>
            <p:nvPr/>
          </p:nvSpPr>
          <p:spPr>
            <a:xfrm>
              <a:off x="704849" y="1476374"/>
              <a:ext cx="3009900" cy="2247900"/>
            </a:xfrm>
            <a:custGeom>
              <a:avLst/>
              <a:gdLst/>
              <a:ahLst/>
              <a:cxnLst/>
              <a:rect l="l" t="t" r="r" b="b"/>
              <a:pathLst>
                <a:path w="3009900" h="2247900">
                  <a:moveTo>
                    <a:pt x="2997614" y="2247899"/>
                  </a:moveTo>
                  <a:lnTo>
                    <a:pt x="12285" y="2247899"/>
                  </a:lnTo>
                  <a:lnTo>
                    <a:pt x="10478" y="2247539"/>
                  </a:lnTo>
                  <a:lnTo>
                    <a:pt x="0" y="2235614"/>
                  </a:lnTo>
                  <a:lnTo>
                    <a:pt x="0" y="2233736"/>
                  </a:lnTo>
                  <a:lnTo>
                    <a:pt x="0" y="12285"/>
                  </a:lnTo>
                  <a:lnTo>
                    <a:pt x="12285" y="0"/>
                  </a:lnTo>
                  <a:lnTo>
                    <a:pt x="2997614" y="0"/>
                  </a:lnTo>
                  <a:lnTo>
                    <a:pt x="3009899" y="12285"/>
                  </a:lnTo>
                  <a:lnTo>
                    <a:pt x="3009899" y="2235614"/>
                  </a:lnTo>
                  <a:lnTo>
                    <a:pt x="2999420" y="2247539"/>
                  </a:lnTo>
                  <a:lnTo>
                    <a:pt x="2997614" y="224789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4849" y="1476374"/>
              <a:ext cx="3009900" cy="2247900"/>
            </a:xfrm>
            <a:custGeom>
              <a:avLst/>
              <a:gdLst/>
              <a:ahLst/>
              <a:cxnLst/>
              <a:rect l="l" t="t" r="r" b="b"/>
              <a:pathLst>
                <a:path w="3009900" h="2247900">
                  <a:moveTo>
                    <a:pt x="0" y="2233736"/>
                  </a:moveTo>
                  <a:lnTo>
                    <a:pt x="0" y="14163"/>
                  </a:lnTo>
                  <a:lnTo>
                    <a:pt x="0" y="12285"/>
                  </a:lnTo>
                  <a:lnTo>
                    <a:pt x="359" y="10478"/>
                  </a:lnTo>
                  <a:lnTo>
                    <a:pt x="1078" y="8743"/>
                  </a:lnTo>
                  <a:lnTo>
                    <a:pt x="1796" y="7007"/>
                  </a:lnTo>
                  <a:lnTo>
                    <a:pt x="2820" y="5476"/>
                  </a:lnTo>
                  <a:lnTo>
                    <a:pt x="4148" y="4148"/>
                  </a:lnTo>
                  <a:lnTo>
                    <a:pt x="5476" y="2820"/>
                  </a:lnTo>
                  <a:lnTo>
                    <a:pt x="7008" y="1796"/>
                  </a:lnTo>
                  <a:lnTo>
                    <a:pt x="8743" y="1077"/>
                  </a:lnTo>
                  <a:lnTo>
                    <a:pt x="10478" y="359"/>
                  </a:lnTo>
                  <a:lnTo>
                    <a:pt x="12285" y="0"/>
                  </a:lnTo>
                  <a:lnTo>
                    <a:pt x="14163" y="0"/>
                  </a:lnTo>
                  <a:lnTo>
                    <a:pt x="2995736" y="0"/>
                  </a:lnTo>
                  <a:lnTo>
                    <a:pt x="2997614" y="0"/>
                  </a:lnTo>
                  <a:lnTo>
                    <a:pt x="2999420" y="359"/>
                  </a:lnTo>
                  <a:lnTo>
                    <a:pt x="3008821" y="8743"/>
                  </a:lnTo>
                  <a:lnTo>
                    <a:pt x="3009539" y="10478"/>
                  </a:lnTo>
                  <a:lnTo>
                    <a:pt x="3009899" y="12285"/>
                  </a:lnTo>
                  <a:lnTo>
                    <a:pt x="3009899" y="14163"/>
                  </a:lnTo>
                  <a:lnTo>
                    <a:pt x="3009899" y="2233736"/>
                  </a:lnTo>
                  <a:lnTo>
                    <a:pt x="3009899" y="2235614"/>
                  </a:lnTo>
                  <a:lnTo>
                    <a:pt x="3009539" y="2237420"/>
                  </a:lnTo>
                  <a:lnTo>
                    <a:pt x="3008821" y="2239155"/>
                  </a:lnTo>
                  <a:lnTo>
                    <a:pt x="3008102" y="2240891"/>
                  </a:lnTo>
                  <a:lnTo>
                    <a:pt x="2995736" y="2247899"/>
                  </a:lnTo>
                  <a:lnTo>
                    <a:pt x="14163" y="2247899"/>
                  </a:lnTo>
                  <a:lnTo>
                    <a:pt x="12285" y="2247899"/>
                  </a:lnTo>
                  <a:lnTo>
                    <a:pt x="10478" y="2247539"/>
                  </a:lnTo>
                  <a:lnTo>
                    <a:pt x="8743" y="2246821"/>
                  </a:lnTo>
                  <a:lnTo>
                    <a:pt x="7008" y="2246102"/>
                  </a:lnTo>
                  <a:lnTo>
                    <a:pt x="1078" y="2239155"/>
                  </a:lnTo>
                  <a:lnTo>
                    <a:pt x="359" y="2237420"/>
                  </a:lnTo>
                  <a:lnTo>
                    <a:pt x="0" y="2235614"/>
                  </a:lnTo>
                  <a:lnTo>
                    <a:pt x="0" y="2233736"/>
                  </a:lnTo>
                  <a:close/>
                </a:path>
              </a:pathLst>
            </a:custGeom>
            <a:ln w="19049">
              <a:solidFill>
                <a:srgbClr val="5C60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04849" y="1476374"/>
            <a:ext cx="3009900" cy="224790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01295" marR="1198245">
              <a:lnSpc>
                <a:spcPct val="106700"/>
              </a:lnSpc>
              <a:spcBef>
                <a:spcPts val="1010"/>
              </a:spcBef>
            </a:pPr>
            <a:r>
              <a:rPr sz="2050" spc="204" dirty="0">
                <a:latin typeface="Segoe UI Symbol"/>
                <a:cs typeface="Segoe UI Symbol"/>
              </a:rPr>
              <a:t>✅</a:t>
            </a:r>
            <a:r>
              <a:rPr sz="2050" spc="-175" dirty="0">
                <a:latin typeface="Segoe UI Symbol"/>
                <a:cs typeface="Segoe UI Symbol"/>
              </a:rPr>
              <a:t> </a:t>
            </a:r>
            <a:r>
              <a:rPr sz="1750" spc="55" dirty="0">
                <a:solidFill>
                  <a:srgbClr val="D5E4EF"/>
                </a:solidFill>
                <a:latin typeface="Cambria"/>
                <a:cs typeface="Cambria"/>
              </a:rPr>
              <a:t>Successfully </a:t>
            </a:r>
            <a:r>
              <a:rPr sz="1750" spc="65" dirty="0">
                <a:solidFill>
                  <a:srgbClr val="D5E4EF"/>
                </a:solidFill>
                <a:latin typeface="Cambria"/>
                <a:cs typeface="Cambria"/>
              </a:rPr>
              <a:t>Designed</a:t>
            </a:r>
            <a:endParaRPr sz="1750">
              <a:latin typeface="Cambria"/>
              <a:cs typeface="Cambria"/>
            </a:endParaRPr>
          </a:p>
          <a:p>
            <a:pPr marL="201295" marR="220979">
              <a:lnSpc>
                <a:spcPct val="129200"/>
              </a:lnSpc>
              <a:spcBef>
                <a:spcPts val="475"/>
              </a:spcBef>
            </a:pPr>
            <a:r>
              <a:rPr sz="1500" spc="-80" dirty="0">
                <a:solidFill>
                  <a:srgbClr val="D5E4EF"/>
                </a:solidFill>
                <a:latin typeface="Trebuchet MS"/>
                <a:cs typeface="Trebuchet MS"/>
              </a:rPr>
              <a:t>Efficient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combinational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logic-</a:t>
            </a:r>
            <a:r>
              <a:rPr sz="1500" spc="-40" dirty="0">
                <a:solidFill>
                  <a:srgbClr val="D5E4EF"/>
                </a:solidFill>
                <a:latin typeface="Trebuchet MS"/>
                <a:cs typeface="Trebuchet MS"/>
              </a:rPr>
              <a:t>based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street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light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controller</a:t>
            </a:r>
            <a:r>
              <a:rPr sz="1500" spc="-10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30" dirty="0">
                <a:solidFill>
                  <a:srgbClr val="D5E4EF"/>
                </a:solidFill>
                <a:latin typeface="Trebuchet MS"/>
                <a:cs typeface="Trebuchet MS"/>
              </a:rPr>
              <a:t>built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from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fundamental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80" dirty="0">
                <a:solidFill>
                  <a:srgbClr val="D5E4EF"/>
                </a:solidFill>
                <a:latin typeface="Trebuchet MS"/>
                <a:cs typeface="Trebuchet MS"/>
              </a:rPr>
              <a:t>AND,</a:t>
            </a:r>
            <a:r>
              <a:rPr sz="1500" spc="-114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OR,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5E4EF"/>
                </a:solidFill>
                <a:latin typeface="Trebuchet MS"/>
                <a:cs typeface="Trebuchet MS"/>
              </a:rPr>
              <a:t>NOT </a:t>
            </a:r>
            <a:r>
              <a:rPr sz="1500" spc="-80" dirty="0">
                <a:solidFill>
                  <a:srgbClr val="D5E4EF"/>
                </a:solidFill>
                <a:latin typeface="Trebuchet MS"/>
                <a:cs typeface="Trebuchet MS"/>
              </a:rPr>
              <a:t>gate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principles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95724" y="1466849"/>
            <a:ext cx="3028950" cy="2266950"/>
            <a:chOff x="3895724" y="1466849"/>
            <a:chExt cx="3028950" cy="2266950"/>
          </a:xfrm>
        </p:grpSpPr>
        <p:sp>
          <p:nvSpPr>
            <p:cNvPr id="12" name="object 12"/>
            <p:cNvSpPr/>
            <p:nvPr/>
          </p:nvSpPr>
          <p:spPr>
            <a:xfrm>
              <a:off x="3905249" y="1476374"/>
              <a:ext cx="3009900" cy="2247900"/>
            </a:xfrm>
            <a:custGeom>
              <a:avLst/>
              <a:gdLst/>
              <a:ahLst/>
              <a:cxnLst/>
              <a:rect l="l" t="t" r="r" b="b"/>
              <a:pathLst>
                <a:path w="3009900" h="2247900">
                  <a:moveTo>
                    <a:pt x="2997613" y="2247899"/>
                  </a:moveTo>
                  <a:lnTo>
                    <a:pt x="12284" y="2247899"/>
                  </a:lnTo>
                  <a:lnTo>
                    <a:pt x="10478" y="2247539"/>
                  </a:lnTo>
                  <a:lnTo>
                    <a:pt x="0" y="2235614"/>
                  </a:lnTo>
                  <a:lnTo>
                    <a:pt x="0" y="2233736"/>
                  </a:lnTo>
                  <a:lnTo>
                    <a:pt x="0" y="12285"/>
                  </a:lnTo>
                  <a:lnTo>
                    <a:pt x="12284" y="0"/>
                  </a:lnTo>
                  <a:lnTo>
                    <a:pt x="2997613" y="0"/>
                  </a:lnTo>
                  <a:lnTo>
                    <a:pt x="3009899" y="12285"/>
                  </a:lnTo>
                  <a:lnTo>
                    <a:pt x="3009899" y="2235614"/>
                  </a:lnTo>
                  <a:lnTo>
                    <a:pt x="2999420" y="2247539"/>
                  </a:lnTo>
                  <a:lnTo>
                    <a:pt x="2997613" y="224789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05249" y="1476374"/>
              <a:ext cx="3009900" cy="2247900"/>
            </a:xfrm>
            <a:custGeom>
              <a:avLst/>
              <a:gdLst/>
              <a:ahLst/>
              <a:cxnLst/>
              <a:rect l="l" t="t" r="r" b="b"/>
              <a:pathLst>
                <a:path w="3009900" h="2247900">
                  <a:moveTo>
                    <a:pt x="0" y="2233736"/>
                  </a:moveTo>
                  <a:lnTo>
                    <a:pt x="0" y="14163"/>
                  </a:lnTo>
                  <a:lnTo>
                    <a:pt x="0" y="12285"/>
                  </a:lnTo>
                  <a:lnTo>
                    <a:pt x="359" y="10478"/>
                  </a:lnTo>
                  <a:lnTo>
                    <a:pt x="1078" y="8743"/>
                  </a:lnTo>
                  <a:lnTo>
                    <a:pt x="1796" y="7007"/>
                  </a:lnTo>
                  <a:lnTo>
                    <a:pt x="2820" y="5476"/>
                  </a:lnTo>
                  <a:lnTo>
                    <a:pt x="4148" y="4148"/>
                  </a:lnTo>
                  <a:lnTo>
                    <a:pt x="5476" y="2820"/>
                  </a:lnTo>
                  <a:lnTo>
                    <a:pt x="7008" y="1796"/>
                  </a:lnTo>
                  <a:lnTo>
                    <a:pt x="8743" y="1077"/>
                  </a:lnTo>
                  <a:lnTo>
                    <a:pt x="10478" y="359"/>
                  </a:lnTo>
                  <a:lnTo>
                    <a:pt x="12284" y="0"/>
                  </a:lnTo>
                  <a:lnTo>
                    <a:pt x="14163" y="0"/>
                  </a:lnTo>
                  <a:lnTo>
                    <a:pt x="2995736" y="0"/>
                  </a:lnTo>
                  <a:lnTo>
                    <a:pt x="2997613" y="0"/>
                  </a:lnTo>
                  <a:lnTo>
                    <a:pt x="2999420" y="359"/>
                  </a:lnTo>
                  <a:lnTo>
                    <a:pt x="3008820" y="8743"/>
                  </a:lnTo>
                  <a:lnTo>
                    <a:pt x="3009539" y="10478"/>
                  </a:lnTo>
                  <a:lnTo>
                    <a:pt x="3009899" y="12285"/>
                  </a:lnTo>
                  <a:lnTo>
                    <a:pt x="3009899" y="14163"/>
                  </a:lnTo>
                  <a:lnTo>
                    <a:pt x="3009899" y="2233736"/>
                  </a:lnTo>
                  <a:lnTo>
                    <a:pt x="2995736" y="2247899"/>
                  </a:lnTo>
                  <a:lnTo>
                    <a:pt x="14163" y="2247899"/>
                  </a:lnTo>
                  <a:lnTo>
                    <a:pt x="12284" y="2247899"/>
                  </a:lnTo>
                  <a:lnTo>
                    <a:pt x="10478" y="2247539"/>
                  </a:lnTo>
                  <a:lnTo>
                    <a:pt x="8743" y="2246821"/>
                  </a:lnTo>
                  <a:lnTo>
                    <a:pt x="7008" y="2246102"/>
                  </a:lnTo>
                  <a:lnTo>
                    <a:pt x="0" y="2235614"/>
                  </a:lnTo>
                  <a:lnTo>
                    <a:pt x="0" y="2233736"/>
                  </a:lnTo>
                  <a:close/>
                </a:path>
              </a:pathLst>
            </a:custGeom>
            <a:ln w="19049">
              <a:solidFill>
                <a:srgbClr val="5C60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05249" y="1476374"/>
            <a:ext cx="3009900" cy="224790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202565" marR="1177925">
              <a:lnSpc>
                <a:spcPct val="106700"/>
              </a:lnSpc>
              <a:spcBef>
                <a:spcPts val="1010"/>
              </a:spcBef>
            </a:pPr>
            <a:r>
              <a:rPr sz="2050" spc="1030" dirty="0">
                <a:latin typeface="Segoe UI Symbol"/>
                <a:cs typeface="Segoe UI Symbol"/>
              </a:rPr>
              <a:t>⚡</a:t>
            </a:r>
            <a:r>
              <a:rPr sz="2050" spc="130" dirty="0">
                <a:latin typeface="Segoe UI Symbol"/>
                <a:cs typeface="Segoe UI Symbol"/>
              </a:rPr>
              <a:t> </a:t>
            </a:r>
            <a:r>
              <a:rPr sz="1750" spc="55" dirty="0">
                <a:solidFill>
                  <a:srgbClr val="D5E4EF"/>
                </a:solidFill>
                <a:latin typeface="Cambria"/>
                <a:cs typeface="Cambria"/>
              </a:rPr>
              <a:t>Real-</a:t>
            </a:r>
            <a:r>
              <a:rPr sz="1750" spc="50" dirty="0">
                <a:solidFill>
                  <a:srgbClr val="D5E4EF"/>
                </a:solidFill>
                <a:latin typeface="Cambria"/>
                <a:cs typeface="Cambria"/>
              </a:rPr>
              <a:t>Time </a:t>
            </a:r>
            <a:r>
              <a:rPr sz="1750" spc="45" dirty="0">
                <a:solidFill>
                  <a:srgbClr val="D5E4EF"/>
                </a:solidFill>
                <a:latin typeface="Cambria"/>
                <a:cs typeface="Cambria"/>
              </a:rPr>
              <a:t>Responsiveness</a:t>
            </a:r>
            <a:endParaRPr sz="1750">
              <a:latin typeface="Cambria"/>
              <a:cs typeface="Cambria"/>
            </a:endParaRPr>
          </a:p>
          <a:p>
            <a:pPr marL="202565" marR="212725">
              <a:lnSpc>
                <a:spcPct val="129200"/>
              </a:lnSpc>
              <a:spcBef>
                <a:spcPts val="475"/>
              </a:spcBef>
            </a:pP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Demonstrated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 instant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sensor-</a:t>
            </a:r>
            <a:r>
              <a:rPr sz="1500" spc="-25" dirty="0">
                <a:solidFill>
                  <a:srgbClr val="D5E4EF"/>
                </a:solidFill>
                <a:latin typeface="Trebuchet MS"/>
                <a:cs typeface="Trebuchet MS"/>
              </a:rPr>
              <a:t>to-</a:t>
            </a:r>
            <a:r>
              <a:rPr sz="1500" spc="-50" dirty="0">
                <a:solidFill>
                  <a:srgbClr val="D5E4EF"/>
                </a:solidFill>
                <a:latin typeface="Trebuchet MS"/>
                <a:cs typeface="Trebuchet MS"/>
              </a:rPr>
              <a:t>output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D5E4EF"/>
                </a:solidFill>
                <a:latin typeface="Trebuchet MS"/>
                <a:cs typeface="Trebuchet MS"/>
              </a:rPr>
              <a:t>reaction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with</a:t>
            </a:r>
            <a:r>
              <a:rPr sz="1500" spc="-11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0" dirty="0">
                <a:solidFill>
                  <a:srgbClr val="D5E4EF"/>
                </a:solidFill>
                <a:latin typeface="Trebuchet MS"/>
                <a:cs typeface="Trebuchet MS"/>
              </a:rPr>
              <a:t>measurable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energy</a:t>
            </a:r>
            <a:r>
              <a:rPr sz="15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optimization</a:t>
            </a:r>
            <a:r>
              <a:rPr sz="15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35" dirty="0">
                <a:solidFill>
                  <a:srgbClr val="D5E4EF"/>
                </a:solidFill>
                <a:latin typeface="Trebuchet MS"/>
                <a:cs typeface="Trebuchet MS"/>
              </a:rPr>
              <a:t>across</a:t>
            </a:r>
            <a:r>
              <a:rPr sz="1500" spc="-9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D5E4EF"/>
                </a:solidFill>
                <a:latin typeface="Trebuchet MS"/>
                <a:cs typeface="Trebuchet MS"/>
              </a:rPr>
              <a:t>all </a:t>
            </a:r>
            <a:r>
              <a:rPr sz="1500" spc="-60" dirty="0">
                <a:solidFill>
                  <a:srgbClr val="D5E4EF"/>
                </a:solidFill>
                <a:latin typeface="Trebuchet MS"/>
                <a:cs typeface="Trebuchet MS"/>
              </a:rPr>
              <a:t>operating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conditions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5324" y="3914774"/>
            <a:ext cx="6229350" cy="1409700"/>
            <a:chOff x="695324" y="3914774"/>
            <a:chExt cx="6229350" cy="1409700"/>
          </a:xfrm>
        </p:grpSpPr>
        <p:sp>
          <p:nvSpPr>
            <p:cNvPr id="16" name="object 16"/>
            <p:cNvSpPr/>
            <p:nvPr/>
          </p:nvSpPr>
          <p:spPr>
            <a:xfrm>
              <a:off x="704849" y="3924299"/>
              <a:ext cx="6210300" cy="1390650"/>
            </a:xfrm>
            <a:custGeom>
              <a:avLst/>
              <a:gdLst/>
              <a:ahLst/>
              <a:cxnLst/>
              <a:rect l="l" t="t" r="r" b="b"/>
              <a:pathLst>
                <a:path w="6210300" h="1390650">
                  <a:moveTo>
                    <a:pt x="6198013" y="1390649"/>
                  </a:moveTo>
                  <a:lnTo>
                    <a:pt x="12285" y="1390649"/>
                  </a:lnTo>
                  <a:lnTo>
                    <a:pt x="10478" y="1390289"/>
                  </a:lnTo>
                  <a:lnTo>
                    <a:pt x="0" y="1378363"/>
                  </a:lnTo>
                  <a:lnTo>
                    <a:pt x="0" y="1376486"/>
                  </a:lnTo>
                  <a:lnTo>
                    <a:pt x="0" y="12284"/>
                  </a:lnTo>
                  <a:lnTo>
                    <a:pt x="12285" y="0"/>
                  </a:lnTo>
                  <a:lnTo>
                    <a:pt x="6198013" y="0"/>
                  </a:lnTo>
                  <a:lnTo>
                    <a:pt x="6210299" y="12284"/>
                  </a:lnTo>
                  <a:lnTo>
                    <a:pt x="6210299" y="1378363"/>
                  </a:lnTo>
                  <a:lnTo>
                    <a:pt x="6199819" y="1390289"/>
                  </a:lnTo>
                  <a:lnTo>
                    <a:pt x="6198013" y="1390649"/>
                  </a:lnTo>
                  <a:close/>
                </a:path>
              </a:pathLst>
            </a:custGeom>
            <a:solidFill>
              <a:srgbClr val="252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4849" y="3924299"/>
              <a:ext cx="6210300" cy="1390650"/>
            </a:xfrm>
            <a:custGeom>
              <a:avLst/>
              <a:gdLst/>
              <a:ahLst/>
              <a:cxnLst/>
              <a:rect l="l" t="t" r="r" b="b"/>
              <a:pathLst>
                <a:path w="6210300" h="1390650">
                  <a:moveTo>
                    <a:pt x="0" y="1376486"/>
                  </a:moveTo>
                  <a:lnTo>
                    <a:pt x="0" y="14163"/>
                  </a:lnTo>
                  <a:lnTo>
                    <a:pt x="0" y="12284"/>
                  </a:lnTo>
                  <a:lnTo>
                    <a:pt x="359" y="10478"/>
                  </a:lnTo>
                  <a:lnTo>
                    <a:pt x="1078" y="8743"/>
                  </a:lnTo>
                  <a:lnTo>
                    <a:pt x="1796" y="7008"/>
                  </a:lnTo>
                  <a:lnTo>
                    <a:pt x="2820" y="5476"/>
                  </a:lnTo>
                  <a:lnTo>
                    <a:pt x="4148" y="4148"/>
                  </a:lnTo>
                  <a:lnTo>
                    <a:pt x="5476" y="2819"/>
                  </a:lnTo>
                  <a:lnTo>
                    <a:pt x="7008" y="1796"/>
                  </a:lnTo>
                  <a:lnTo>
                    <a:pt x="8743" y="1077"/>
                  </a:lnTo>
                  <a:lnTo>
                    <a:pt x="10478" y="359"/>
                  </a:lnTo>
                  <a:lnTo>
                    <a:pt x="12285" y="0"/>
                  </a:lnTo>
                  <a:lnTo>
                    <a:pt x="14163" y="0"/>
                  </a:lnTo>
                  <a:lnTo>
                    <a:pt x="6196135" y="0"/>
                  </a:lnTo>
                  <a:lnTo>
                    <a:pt x="6198013" y="0"/>
                  </a:lnTo>
                  <a:lnTo>
                    <a:pt x="6199819" y="359"/>
                  </a:lnTo>
                  <a:lnTo>
                    <a:pt x="6209220" y="8743"/>
                  </a:lnTo>
                  <a:lnTo>
                    <a:pt x="6209939" y="10478"/>
                  </a:lnTo>
                  <a:lnTo>
                    <a:pt x="6210299" y="12284"/>
                  </a:lnTo>
                  <a:lnTo>
                    <a:pt x="6210299" y="14163"/>
                  </a:lnTo>
                  <a:lnTo>
                    <a:pt x="6210299" y="1376486"/>
                  </a:lnTo>
                  <a:lnTo>
                    <a:pt x="6196135" y="1390649"/>
                  </a:lnTo>
                  <a:lnTo>
                    <a:pt x="14163" y="1390649"/>
                  </a:lnTo>
                  <a:lnTo>
                    <a:pt x="0" y="1378363"/>
                  </a:lnTo>
                  <a:lnTo>
                    <a:pt x="0" y="1376486"/>
                  </a:lnTo>
                  <a:close/>
                </a:path>
              </a:pathLst>
            </a:custGeom>
            <a:ln w="19049">
              <a:solidFill>
                <a:srgbClr val="5C60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04849" y="3924299"/>
            <a:ext cx="6210300" cy="139065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1250"/>
              </a:spcBef>
            </a:pPr>
            <a:r>
              <a:rPr sz="2050" spc="80" dirty="0">
                <a:latin typeface="Segoe UI Symbol"/>
                <a:cs typeface="Segoe UI Symbol"/>
              </a:rPr>
              <a:t>🔬</a:t>
            </a:r>
            <a:r>
              <a:rPr sz="2050" spc="-20" dirty="0">
                <a:latin typeface="Segoe UI Symbol"/>
                <a:cs typeface="Segoe UI Symbol"/>
              </a:rPr>
              <a:t> </a:t>
            </a:r>
            <a:r>
              <a:rPr sz="1750" dirty="0">
                <a:solidFill>
                  <a:srgbClr val="D5E4EF"/>
                </a:solidFill>
                <a:latin typeface="Cambria"/>
                <a:cs typeface="Cambria"/>
              </a:rPr>
              <a:t>Fully</a:t>
            </a:r>
            <a:r>
              <a:rPr sz="1750" spc="120" dirty="0">
                <a:solidFill>
                  <a:srgbClr val="D5E4EF"/>
                </a:solidFill>
                <a:latin typeface="Cambria"/>
                <a:cs typeface="Cambria"/>
              </a:rPr>
              <a:t> </a:t>
            </a:r>
            <a:r>
              <a:rPr sz="1750" spc="35" dirty="0">
                <a:solidFill>
                  <a:srgbClr val="D5E4EF"/>
                </a:solidFill>
                <a:latin typeface="Cambria"/>
                <a:cs typeface="Cambria"/>
              </a:rPr>
              <a:t>Validated</a:t>
            </a:r>
            <a:endParaRPr sz="1750">
              <a:latin typeface="Cambria"/>
              <a:cs typeface="Cambria"/>
            </a:endParaRPr>
          </a:p>
          <a:p>
            <a:pPr marL="201295" marR="712470">
              <a:lnSpc>
                <a:spcPct val="129200"/>
              </a:lnSpc>
              <a:spcBef>
                <a:spcPts val="565"/>
              </a:spcBef>
            </a:pP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System</a:t>
            </a:r>
            <a:r>
              <a:rPr sz="1500" spc="-9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performance</a:t>
            </a:r>
            <a:r>
              <a:rPr sz="15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confirmed</a:t>
            </a:r>
            <a:r>
              <a:rPr sz="15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through</a:t>
            </a:r>
            <a:r>
              <a:rPr sz="15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55" dirty="0">
                <a:solidFill>
                  <a:srgbClr val="D5E4EF"/>
                </a:solidFill>
                <a:latin typeface="Trebuchet MS"/>
                <a:cs typeface="Trebuchet MS"/>
              </a:rPr>
              <a:t>comprehensive</a:t>
            </a:r>
            <a:r>
              <a:rPr sz="1500" spc="-8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simulation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testing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85" dirty="0">
                <a:solidFill>
                  <a:srgbClr val="D5E4EF"/>
                </a:solidFill>
                <a:latin typeface="Trebuchet MS"/>
                <a:cs typeface="Trebuchet MS"/>
              </a:rPr>
              <a:t>—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all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45" dirty="0">
                <a:solidFill>
                  <a:srgbClr val="D5E4EF"/>
                </a:solidFill>
                <a:latin typeface="Trebuchet MS"/>
                <a:cs typeface="Trebuchet MS"/>
              </a:rPr>
              <a:t>outputs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65" dirty="0">
                <a:solidFill>
                  <a:srgbClr val="D5E4EF"/>
                </a:solidFill>
                <a:latin typeface="Trebuchet MS"/>
                <a:cs typeface="Trebuchet MS"/>
              </a:rPr>
              <a:t>match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0" dirty="0">
                <a:solidFill>
                  <a:srgbClr val="D5E4EF"/>
                </a:solidFill>
                <a:latin typeface="Trebuchet MS"/>
                <a:cs typeface="Trebuchet MS"/>
              </a:rPr>
              <a:t>truth</a:t>
            </a:r>
            <a:r>
              <a:rPr sz="1500" spc="-120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75" dirty="0">
                <a:solidFill>
                  <a:srgbClr val="D5E4EF"/>
                </a:solidFill>
                <a:latin typeface="Trebuchet MS"/>
                <a:cs typeface="Trebuchet MS"/>
              </a:rPr>
              <a:t>table</a:t>
            </a:r>
            <a:r>
              <a:rPr sz="1500" spc="-125" dirty="0">
                <a:solidFill>
                  <a:srgbClr val="D5E4EF"/>
                </a:solidFill>
                <a:latin typeface="Trebuchet MS"/>
                <a:cs typeface="Trebuchet MS"/>
              </a:rPr>
              <a:t> </a:t>
            </a:r>
            <a:r>
              <a:rPr sz="1500" spc="-10" dirty="0">
                <a:solidFill>
                  <a:srgbClr val="D5E4EF"/>
                </a:solidFill>
                <a:latin typeface="Trebuchet MS"/>
                <a:cs typeface="Trebuchet MS"/>
              </a:rPr>
              <a:t>specifications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4087" y="5722397"/>
            <a:ext cx="2656205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100" dirty="0">
                <a:solidFill>
                  <a:srgbClr val="D5E4EF"/>
                </a:solidFill>
                <a:latin typeface="Yu Gothic"/>
                <a:cs typeface="Yu Gothic"/>
              </a:rPr>
              <a:t>Questions </a:t>
            </a:r>
            <a:r>
              <a:rPr sz="1500" b="1" dirty="0">
                <a:solidFill>
                  <a:srgbClr val="D5E4EF"/>
                </a:solidFill>
                <a:latin typeface="Yu Gothic"/>
                <a:cs typeface="Yu Gothic"/>
              </a:rPr>
              <a:t>S</a:t>
            </a:r>
            <a:r>
              <a:rPr sz="1500" b="1" spc="-9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120" dirty="0">
                <a:solidFill>
                  <a:srgbClr val="D5E4EF"/>
                </a:solidFill>
                <a:latin typeface="Yu Gothic"/>
                <a:cs typeface="Yu Gothic"/>
              </a:rPr>
              <a:t>Feedback</a:t>
            </a:r>
            <a:r>
              <a:rPr sz="1500" b="1" spc="-95" dirty="0">
                <a:solidFill>
                  <a:srgbClr val="D5E4EF"/>
                </a:solidFill>
                <a:latin typeface="Yu Gothic"/>
                <a:cs typeface="Yu Gothic"/>
              </a:rPr>
              <a:t> </a:t>
            </a:r>
            <a:r>
              <a:rPr sz="1500" b="1" spc="-80" dirty="0">
                <a:solidFill>
                  <a:srgbClr val="D5E4EF"/>
                </a:solidFill>
                <a:latin typeface="Yu Gothic"/>
                <a:cs typeface="Yu Gothic"/>
              </a:rPr>
              <a:t>Welcome</a:t>
            </a:r>
            <a:endParaRPr sz="1500">
              <a:latin typeface="Yu Gothic"/>
              <a:cs typeface="Yu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95324" y="5524499"/>
            <a:ext cx="19050" cy="695325"/>
            <a:chOff x="695324" y="5524499"/>
            <a:chExt cx="19050" cy="695325"/>
          </a:xfrm>
        </p:grpSpPr>
        <p:sp>
          <p:nvSpPr>
            <p:cNvPr id="21" name="object 21"/>
            <p:cNvSpPr/>
            <p:nvPr/>
          </p:nvSpPr>
          <p:spPr>
            <a:xfrm>
              <a:off x="695324" y="5524499"/>
              <a:ext cx="19050" cy="695325"/>
            </a:xfrm>
            <a:custGeom>
              <a:avLst/>
              <a:gdLst/>
              <a:ahLst/>
              <a:cxnLst/>
              <a:rect l="l" t="t" r="r" b="b"/>
              <a:pathLst>
                <a:path w="19050" h="695325">
                  <a:moveTo>
                    <a:pt x="15874" y="695324"/>
                  </a:moveTo>
                  <a:lnTo>
                    <a:pt x="3175" y="695324"/>
                  </a:lnTo>
                  <a:lnTo>
                    <a:pt x="0" y="692150"/>
                  </a:lnTo>
                  <a:lnTo>
                    <a:pt x="0" y="3174"/>
                  </a:lnTo>
                  <a:lnTo>
                    <a:pt x="3175" y="0"/>
                  </a:lnTo>
                  <a:lnTo>
                    <a:pt x="15874" y="0"/>
                  </a:lnTo>
                  <a:lnTo>
                    <a:pt x="19049" y="3174"/>
                  </a:lnTo>
                  <a:lnTo>
                    <a:pt x="19049" y="692150"/>
                  </a:lnTo>
                  <a:lnTo>
                    <a:pt x="15874" y="695324"/>
                  </a:lnTo>
                  <a:close/>
                </a:path>
              </a:pathLst>
            </a:custGeom>
            <a:solidFill>
              <a:srgbClr val="F98A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5324" y="5524499"/>
              <a:ext cx="19049" cy="6953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626</Words>
  <Application>Microsoft Office PowerPoint</Application>
  <PresentationFormat>Widescreen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Yu Gothic</vt:lpstr>
      <vt:lpstr>Cambria</vt:lpstr>
      <vt:lpstr>Segoe UI Symbol</vt:lpstr>
      <vt:lpstr>Trebuchet MS</vt:lpstr>
      <vt:lpstr>Office Theme</vt:lpstr>
      <vt:lpstr>Design and Simulation of an Automatic Street Light Control System Using Combinational Logic</vt:lpstr>
      <vt:lpstr>Introduction and Objectives</vt:lpstr>
      <vt:lpstr>System Architecture</vt:lpstr>
      <vt:lpstr>Combinational Logic Design</vt:lpstr>
      <vt:lpstr>Circuit Design</vt:lpstr>
      <vt:lpstr>Simulation Phase</vt:lpstr>
      <vt:lpstr>Benefits and 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Shaan Inampudi</cp:lastModifiedBy>
  <cp:revision>1</cp:revision>
  <dcterms:created xsi:type="dcterms:W3CDTF">2026-08-26T07:16:28Z</dcterms:created>
  <dcterms:modified xsi:type="dcterms:W3CDTF">2026-08-26T07:21:37Z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2026-08-23T00:00:00Z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2026-08-26T00:00:00Z</vt:filetime>
  </property>
  <property fmtid="{D5CDD505-2E9C-101B-9397-08002B2CF9AE}" pid="6" name="Producer">
    <vt:lpwstr>pdf-lib (https://github.com/Hopding/pdf-lib)</vt:lpwstr>
  </property>
</Properties>
</file>