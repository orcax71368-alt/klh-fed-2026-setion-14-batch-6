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Consolas" panose="020B0609020204030204" pitchFamily="49" charset="0"/>
      <p:regular r:id="rId14"/>
      <p:bold r:id="rId15"/>
      <p:italic r:id="rId16"/>
      <p:boldItalic r:id="rId17"/>
    </p:embeddedFont>
    <p:embeddedFont>
      <p:font typeface="Instrument Sans Medium" panose="020B0604020202020204" charset="0"/>
      <p:regular r:id="rId18"/>
    </p:embeddedFont>
    <p:embeddedFont>
      <p:font typeface="Martian Mono" panose="020B0604020202020204" charset="0"/>
      <p:regular r:id="rId19"/>
    </p:embeddedFont>
    <p:embeddedFont>
      <p:font typeface="Martian Mono Medium" panose="020B0604020202020204" charset="0"/>
      <p:regular r:id="rId20"/>
    </p:embeddedFont>
    <p:embeddedFont>
      <p:font typeface="Martian Mono SemiBold" panose="020B0604020202020204" charset="0"/>
      <p:regular r:id="rId21"/>
    </p:embeddedFont>
    <p:embeddedFont>
      <p:font typeface="Open Sans" panose="020B0606030504020204" pitchFamily="34" charset="0"/>
      <p:regular r:id="rId22"/>
    </p:embeddedFont>
    <p:embeddedFont>
      <p:font typeface="Open Sans Bold" panose="020B0604020202020204" charset="0"/>
      <p:regular r:id="rId23"/>
    </p:embeddedFont>
    <p:embeddedFont>
      <p:font typeface="Open Sans SemiBold" panose="020B0706030804020204" pitchFamily="34" charset="0"/>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99"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83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project presentation. We designed and simulated an automatic street light control system that switches lamps on only during darkness and dims them when no motion is detected. Today we present the sensing model, truth table logic, circuit synthesis, and Logisim simulation.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motivation is eliminating wasted roadway power. Conventional lights burn full power for ten to twelve hours straight. Our objective is closed-loop autonomy: darkness turns the fixture on to an energy-saving dim level, and human or vehicle motion triggers full illumination.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four-stage system pipeline. The ambient light and motion sensors gather environmental data, signal conditioning turns the analog LDR resistance into clean digital bits, the logic core evaluates state conditions, and a power driver controls the lamp at dim or full brightness.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truth table forms the foundation of our circuit. Notice that motion during daylight produces zero lamp output, preserving power. When dark, motion selects 100% brightness while lack of motion holds the lamp at a 30% dim standby.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widely documented, cost-effective components. The LDR swings from megohms in total darkness to a few kilohms in sunlight. The PIR module provides an active-high 3.3V pulse on motion. The Arduino or discrete logic drives our power transistor to modulate the LED array safely.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maps directly to our software loop or hardware state register. Notice how the primary branch bifurcates: if it is daylight, the PIR sensor is bypassed completely, eliminating nuisance triggers from daytime pedestrian traffic.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Logisim, we built the complete digital core. We used a comparator subcircuit for the LDR threshold, an inverter and AND gates for term generation, a timer register to prevent flickering when motion pauses briefly, and a multiplexer to route the correct brightness code to the LED probe.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verified the design using both Logisim for purely digital gate validation and Tinkercad for mixed-signal microcontroller simulation. We tested corner cases, including rapid daylight changes and brief motion bursts, to confirm zero unintended lamp activations.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simulation results prove our control logic holds under realistic conditions. Looking at the graph across 24 hours, the lamp remains completely off all afternoon, triggers to 30% at dusk, leaps to 100% only during detected traffic at 21:00 and 03:00, and shuts off cleanly at sunrise.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 control saves energy by switching lamps on only when needed and dimming them when empty. The comparison shows relative nightly energy use of 100 for manual and about 50 for automatic (illustrative estimate). The same logic scales to a RISC-V core driving a memory-mapped LED output.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summarize that the system senses, decides, and switches automatically,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F1F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F1F1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077641"/>
            <a:ext cx="6349841" cy="4781649"/>
          </a:xfrm>
          <a:prstGeom prst="rect">
            <a:avLst/>
          </a:prstGeom>
          <a:solidFill>
            <a:srgbClr val="000000"/>
          </a:solidFill>
          <a:ln/>
        </p:spPr>
      </p:sp>
      <p:sp>
        <p:nvSpPr>
          <p:cNvPr id="3" name="Shape 1"/>
          <p:cNvSpPr/>
          <p:nvPr/>
        </p:nvSpPr>
        <p:spPr>
          <a:xfrm>
            <a:off x="355591" y="2204641"/>
            <a:ext cx="5173533" cy="311944"/>
          </a:xfrm>
          <a:prstGeom prst="rect">
            <a:avLst/>
          </a:prstGeom>
          <a:solidFill>
            <a:srgbClr val="F5F547"/>
          </a:solidFill>
          <a:ln/>
        </p:spPr>
      </p:sp>
      <p:sp>
        <p:nvSpPr>
          <p:cNvPr id="4" name="Text 2"/>
          <p:cNvSpPr/>
          <p:nvPr/>
        </p:nvSpPr>
        <p:spPr>
          <a:xfrm>
            <a:off x="482588" y="2279063"/>
            <a:ext cx="5503725"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DIGITAL SYSTEMS PROJECT · CAPSTONE REVIEW</a:t>
            </a:r>
            <a:endParaRPr lang="en-US" sz="1100" dirty="0"/>
          </a:p>
        </p:txBody>
      </p:sp>
      <p:sp>
        <p:nvSpPr>
          <p:cNvPr id="5" name="Text 3"/>
          <p:cNvSpPr/>
          <p:nvPr/>
        </p:nvSpPr>
        <p:spPr>
          <a:xfrm>
            <a:off x="355591" y="2641280"/>
            <a:ext cx="5638659" cy="2099965"/>
          </a:xfrm>
          <a:prstGeom prst="rect">
            <a:avLst/>
          </a:prstGeom>
          <a:noFill/>
          <a:ln/>
        </p:spPr>
        <p:txBody>
          <a:bodyPr wrap="square" lIns="0" tIns="0" rIns="0" bIns="0" rtlCol="0" anchor="t">
            <a:normAutofit/>
          </a:bodyPr>
          <a:lstStyle/>
          <a:p>
            <a:pPr marL="0" indent="0" algn="l">
              <a:lnSpc>
                <a:spcPct val="88000"/>
              </a:lnSpc>
              <a:buNone/>
            </a:pPr>
            <a:r>
              <a:rPr lang="en-US" sz="5200" kern="100" spc="-104" dirty="0">
                <a:solidFill>
                  <a:srgbClr val="FFFFFF"/>
                </a:solidFill>
                <a:latin typeface="Instrument Sans Medium" pitchFamily="34" charset="0"/>
                <a:ea typeface="Instrument Sans Medium" pitchFamily="34" charset="-122"/>
                <a:cs typeface="Instrument Sans Medium" pitchFamily="34" charset="-120"/>
              </a:rPr>
              <a:t>Automatic Street Light Control System</a:t>
            </a:r>
            <a:endParaRPr lang="en-US" sz="5200" dirty="0"/>
          </a:p>
        </p:txBody>
      </p:sp>
      <p:sp>
        <p:nvSpPr>
          <p:cNvPr id="6" name="Text 4"/>
          <p:cNvSpPr/>
          <p:nvPr/>
        </p:nvSpPr>
        <p:spPr>
          <a:xfrm>
            <a:off x="355591" y="4863882"/>
            <a:ext cx="5638659" cy="274241"/>
          </a:xfrm>
          <a:prstGeom prst="rect">
            <a:avLst/>
          </a:prstGeom>
          <a:noFill/>
          <a:ln/>
        </p:spPr>
        <p:txBody>
          <a:bodyPr wrap="none" lIns="0" tIns="0" rIns="0" bIns="0" rtlCol="0" anchor="t"/>
          <a:lstStyle/>
          <a:p>
            <a:pPr marL="0" indent="0" algn="l">
              <a:lnSpc>
                <a:spcPct val="113000"/>
              </a:lnSpc>
              <a:buNone/>
            </a:pPr>
            <a:r>
              <a:rPr lang="en-US" sz="1600" dirty="0">
                <a:solidFill>
                  <a:srgbClr val="FFFFFF"/>
                </a:solidFill>
                <a:latin typeface="Open Sans" pitchFamily="34" charset="0"/>
                <a:ea typeface="Open Sans" pitchFamily="34" charset="-122"/>
                <a:cs typeface="Open Sans" pitchFamily="34" charset="-120"/>
              </a:rPr>
              <a:t>Design, Logic Synthesis, and Logisim Simulation</a:t>
            </a:r>
            <a:endParaRPr lang="en-US" sz="1600" dirty="0"/>
          </a:p>
        </p:txBody>
      </p:sp>
      <p:sp>
        <p:nvSpPr>
          <p:cNvPr id="7" name="Shape 5"/>
          <p:cNvSpPr/>
          <p:nvPr/>
        </p:nvSpPr>
        <p:spPr>
          <a:xfrm>
            <a:off x="355591" y="5297190"/>
            <a:ext cx="1409665" cy="57150"/>
          </a:xfrm>
          <a:prstGeom prst="roundRect">
            <a:avLst>
              <a:gd name="adj" fmla="val 49999"/>
            </a:avLst>
          </a:prstGeom>
          <a:solidFill>
            <a:srgbClr val="F5F547"/>
          </a:solidFill>
          <a:ln/>
        </p:spPr>
      </p:sp>
      <p:sp>
        <p:nvSpPr>
          <p:cNvPr id="11" name="Text 6">
            <a:extLst>
              <a:ext uri="{FF2B5EF4-FFF2-40B4-BE49-F238E27FC236}">
                <a16:creationId xmlns:a16="http://schemas.microsoft.com/office/drawing/2014/main" id="{39108DA4-C56C-5351-071E-577C723A12E2}"/>
              </a:ext>
            </a:extLst>
          </p:cNvPr>
          <p:cNvSpPr/>
          <p:nvPr/>
        </p:nvSpPr>
        <p:spPr>
          <a:xfrm>
            <a:off x="355591" y="5390852"/>
            <a:ext cx="5994250" cy="819150"/>
          </a:xfrm>
          <a:prstGeom prst="rect">
            <a:avLst/>
          </a:prstGeom>
          <a:noFill/>
          <a:ln/>
        </p:spPr>
        <p:txBody>
          <a:bodyPr wrap="square" lIns="0" tIns="0" rIns="0" bIns="0" rtlCol="0" anchor="t"/>
          <a:lstStyle/>
          <a:p>
            <a:pPr>
              <a:lnSpc>
                <a:spcPct val="125000"/>
              </a:lnSpc>
              <a:spcAft>
                <a:spcPts val="1200"/>
              </a:spcAft>
            </a:pPr>
            <a:r>
              <a:rPr lang="en-US" sz="1200" b="1" dirty="0">
                <a:solidFill>
                  <a:srgbClr val="FFFFFF"/>
                </a:solidFill>
                <a:latin typeface="Open Sans Bold" pitchFamily="34" charset="0"/>
                <a:ea typeface="Open Sans Bold" pitchFamily="34" charset="-122"/>
                <a:cs typeface="Open Sans Bold" pitchFamily="34" charset="-120"/>
              </a:rPr>
              <a:t>Team members:</a:t>
            </a:r>
            <a:r>
              <a:rPr lang="en-US" sz="1200" dirty="0">
                <a:solidFill>
                  <a:srgbClr val="FFFFFF"/>
                </a:solidFill>
                <a:latin typeface="Open Sans" pitchFamily="34" charset="0"/>
                <a:ea typeface="Open Sans" pitchFamily="34" charset="-122"/>
                <a:cs typeface="Open Sans" pitchFamily="34" charset="-120"/>
              </a:rPr>
              <a:t> </a:t>
            </a:r>
            <a:br>
              <a:rPr lang="en-US" sz="1200" dirty="0">
                <a:solidFill>
                  <a:srgbClr val="FFFFFF"/>
                </a:solidFill>
                <a:latin typeface="Open Sans" pitchFamily="34" charset="0"/>
                <a:ea typeface="Open Sans" pitchFamily="34" charset="-122"/>
                <a:cs typeface="Open Sans" pitchFamily="34" charset="-120"/>
              </a:rPr>
            </a:br>
            <a:r>
              <a:rPr lang="en-US" sz="1200" dirty="0">
                <a:solidFill>
                  <a:srgbClr val="FFFFFF"/>
                </a:solidFill>
                <a:latin typeface="Open Sans" pitchFamily="34" charset="0"/>
                <a:ea typeface="Open Sans" pitchFamily="34" charset="-122"/>
                <a:cs typeface="Open Sans" pitchFamily="34" charset="-120"/>
              </a:rPr>
              <a:t>2620030286 Shaan Inampudi · 2620030283 KALAKUNTLA  ANUDEEP RAO</a:t>
            </a:r>
            <a:br>
              <a:rPr lang="en-US" sz="1200" dirty="0">
                <a:solidFill>
                  <a:srgbClr val="FFFFFF"/>
                </a:solidFill>
                <a:latin typeface="Open Sans" pitchFamily="34" charset="0"/>
                <a:ea typeface="Open Sans" pitchFamily="34" charset="-122"/>
                <a:cs typeface="Open Sans" pitchFamily="34" charset="-120"/>
              </a:rPr>
            </a:br>
            <a:r>
              <a:rPr lang="en-US" sz="1200" dirty="0">
                <a:solidFill>
                  <a:srgbClr val="FFFFFF"/>
                </a:solidFill>
                <a:latin typeface="Open Sans" pitchFamily="34" charset="0"/>
                <a:ea typeface="Open Sans" pitchFamily="34" charset="-122"/>
                <a:cs typeface="Open Sans" pitchFamily="34" charset="-120"/>
              </a:rPr>
              <a:t>2620030251 MAKKENA  SRI SAI CHARAN · 2620030287 GUNDA BHAARGAV</a:t>
            </a:r>
          </a:p>
          <a:p>
            <a:pPr marL="0" indent="0" algn="l">
              <a:lnSpc>
                <a:spcPct val="125000"/>
              </a:lnSpc>
              <a:buNone/>
            </a:pPr>
            <a:endParaRPr lang="en-US" sz="1200" dirty="0"/>
          </a:p>
        </p:txBody>
      </p:sp>
      <p:sp>
        <p:nvSpPr>
          <p:cNvPr id="13" name="Text 7">
            <a:extLst>
              <a:ext uri="{FF2B5EF4-FFF2-40B4-BE49-F238E27FC236}">
                <a16:creationId xmlns:a16="http://schemas.microsoft.com/office/drawing/2014/main" id="{77CC4856-23B4-7249-99B7-15C46F85F1AF}"/>
              </a:ext>
            </a:extLst>
          </p:cNvPr>
          <p:cNvSpPr/>
          <p:nvPr/>
        </p:nvSpPr>
        <p:spPr>
          <a:xfrm>
            <a:off x="289151" y="6296349"/>
            <a:ext cx="5638659" cy="400050"/>
          </a:xfrm>
          <a:prstGeom prst="rect">
            <a:avLst/>
          </a:prstGeom>
          <a:noFill/>
          <a:ln/>
        </p:spPr>
        <p:txBody>
          <a:bodyPr wrap="square" lIns="0" tIns="0" rIns="0" bIns="0" rtlCol="0" anchor="t">
            <a:normAutofit/>
          </a:bodyPr>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Section - 14· Digital Design and Computer Architecture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09585" y="645914"/>
            <a:ext cx="3741148" cy="311944"/>
          </a:xfrm>
          <a:prstGeom prst="rect">
            <a:avLst/>
          </a:prstGeom>
          <a:solidFill>
            <a:srgbClr val="F5F547"/>
          </a:solidFill>
          <a:ln/>
        </p:spPr>
      </p:sp>
      <p:sp>
        <p:nvSpPr>
          <p:cNvPr id="3" name="Text 1"/>
          <p:cNvSpPr/>
          <p:nvPr/>
        </p:nvSpPr>
        <p:spPr>
          <a:xfrm>
            <a:off x="736582" y="720336"/>
            <a:ext cx="4071340"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PROBLEM STATEMENT &amp; OBJECTIVE</a:t>
            </a:r>
            <a:endParaRPr lang="en-US" sz="1100" dirty="0"/>
          </a:p>
        </p:txBody>
      </p:sp>
      <p:sp>
        <p:nvSpPr>
          <p:cNvPr id="4" name="Text 2"/>
          <p:cNvSpPr/>
          <p:nvPr/>
        </p:nvSpPr>
        <p:spPr>
          <a:xfrm>
            <a:off x="609585" y="1143042"/>
            <a:ext cx="6603835" cy="1453753"/>
          </a:xfrm>
          <a:prstGeom prst="rect">
            <a:avLst/>
          </a:prstGeom>
          <a:noFill/>
          <a:ln/>
        </p:spPr>
        <p:txBody>
          <a:bodyPr wrap="square" lIns="0" tIns="0" rIns="0" bIns="0" rtlCol="0" anchor="t">
            <a:normAutofit/>
          </a:bodyPr>
          <a:lstStyle/>
          <a:p>
            <a:pPr marL="0" indent="0" algn="l">
              <a:lnSpc>
                <a:spcPct val="88000"/>
              </a:lnSpc>
              <a:buNone/>
            </a:pPr>
            <a:r>
              <a:rPr lang="en-US" sz="3600" kern="100" spc="-72" dirty="0">
                <a:solidFill>
                  <a:srgbClr val="FEFEFE"/>
                </a:solidFill>
                <a:latin typeface="Instrument Sans Medium" pitchFamily="34" charset="0"/>
                <a:ea typeface="Instrument Sans Medium" pitchFamily="34" charset="-122"/>
                <a:cs typeface="Instrument Sans Medium" pitchFamily="34" charset="-120"/>
              </a:rPr>
              <a:t>Streets burn power all night, whether anyone needs them or not</a:t>
            </a:r>
            <a:endParaRPr lang="en-US" sz="3600" dirty="0"/>
          </a:p>
        </p:txBody>
      </p:sp>
      <p:sp>
        <p:nvSpPr>
          <p:cNvPr id="5" name="Shape 3"/>
          <p:cNvSpPr/>
          <p:nvPr/>
        </p:nvSpPr>
        <p:spPr>
          <a:xfrm>
            <a:off x="609585" y="2783086"/>
            <a:ext cx="1650859" cy="57150"/>
          </a:xfrm>
          <a:prstGeom prst="roundRect">
            <a:avLst>
              <a:gd name="adj" fmla="val 49999"/>
            </a:avLst>
          </a:prstGeom>
          <a:solidFill>
            <a:srgbClr val="F5F547"/>
          </a:solidFill>
          <a:ln/>
        </p:spPr>
      </p:sp>
      <p:sp>
        <p:nvSpPr>
          <p:cNvPr id="6" name="Text 4"/>
          <p:cNvSpPr/>
          <p:nvPr/>
        </p:nvSpPr>
        <p:spPr>
          <a:xfrm>
            <a:off x="609585" y="3048198"/>
            <a:ext cx="6603835" cy="8001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BFBFBF"/>
                </a:solidFill>
                <a:latin typeface="Open Sans" pitchFamily="34" charset="0"/>
                <a:ea typeface="Open Sans" pitchFamily="34" charset="-122"/>
                <a:cs typeface="Open Sans" pitchFamily="34" charset="-120"/>
              </a:rPr>
              <a:t>Conventional street lamps operate on fixed mechanical timers or manual switches, wasting massive municipal power during early dusk, empty post-midnight hours, and dawn.</a:t>
            </a:r>
            <a:endParaRPr lang="en-US" sz="1400" dirty="0"/>
          </a:p>
        </p:txBody>
      </p:sp>
      <p:sp>
        <p:nvSpPr>
          <p:cNvPr id="7" name="Shape 5"/>
          <p:cNvSpPr/>
          <p:nvPr/>
        </p:nvSpPr>
        <p:spPr>
          <a:xfrm>
            <a:off x="609585" y="4002286"/>
            <a:ext cx="6603835" cy="482600"/>
          </a:xfrm>
          <a:prstGeom prst="rect">
            <a:avLst/>
          </a:prstGeom>
          <a:solidFill>
            <a:srgbClr val="242424"/>
          </a:solidFill>
          <a:ln/>
        </p:spPr>
      </p:sp>
      <p:sp>
        <p:nvSpPr>
          <p:cNvPr id="8" name="Text 6"/>
          <p:cNvSpPr/>
          <p:nvPr/>
        </p:nvSpPr>
        <p:spPr>
          <a:xfrm>
            <a:off x="812780" y="4129286"/>
            <a:ext cx="6400640" cy="228600"/>
          </a:xfrm>
          <a:prstGeom prst="rect">
            <a:avLst/>
          </a:prstGeom>
          <a:noFill/>
          <a:ln/>
        </p:spPr>
        <p:txBody>
          <a:bodyPr wrap="none" lIns="0" tIns="0" rIns="0" bIns="0" rtlCol="0" anchor="t"/>
          <a:lstStyle/>
          <a:p>
            <a:pPr marL="0" indent="0" algn="l">
              <a:lnSpc>
                <a:spcPct val="125000"/>
              </a:lnSpc>
              <a:buNone/>
            </a:pPr>
            <a:r>
              <a:rPr lang="en-US" sz="1200" b="1" dirty="0">
                <a:solidFill>
                  <a:srgbClr val="BFBFBF"/>
                </a:solidFill>
                <a:latin typeface="Open Sans Bold" pitchFamily="34" charset="0"/>
                <a:ea typeface="Open Sans Bold" pitchFamily="34" charset="-122"/>
                <a:cs typeface="Open Sans Bold" pitchFamily="34" charset="-120"/>
              </a:rPr>
              <a:t>Energy waste:</a:t>
            </a:r>
            <a:r>
              <a:rPr lang="en-US" sz="1200" dirty="0">
                <a:solidFill>
                  <a:srgbClr val="BFBFBF"/>
                </a:solidFill>
                <a:latin typeface="Open Sans" pitchFamily="34" charset="0"/>
                <a:ea typeface="Open Sans" pitchFamily="34" charset="-122"/>
                <a:cs typeface="Open Sans" pitchFamily="34" charset="-120"/>
              </a:rPr>
              <a:t> Lights run at 100% capacity on completely vacant roadways.</a:t>
            </a:r>
            <a:endParaRPr lang="en-US" sz="1200" dirty="0"/>
          </a:p>
        </p:txBody>
      </p:sp>
      <p:sp>
        <p:nvSpPr>
          <p:cNvPr id="9" name="Shape 7"/>
          <p:cNvSpPr/>
          <p:nvPr/>
        </p:nvSpPr>
        <p:spPr>
          <a:xfrm>
            <a:off x="609585" y="4637286"/>
            <a:ext cx="6603835" cy="711200"/>
          </a:xfrm>
          <a:prstGeom prst="rect">
            <a:avLst/>
          </a:prstGeom>
          <a:solidFill>
            <a:srgbClr val="242424"/>
          </a:solidFill>
          <a:ln/>
        </p:spPr>
      </p:sp>
      <p:sp>
        <p:nvSpPr>
          <p:cNvPr id="10" name="Text 8"/>
          <p:cNvSpPr/>
          <p:nvPr/>
        </p:nvSpPr>
        <p:spPr>
          <a:xfrm>
            <a:off x="812780" y="4764286"/>
            <a:ext cx="6197445" cy="457200"/>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BFBFBF"/>
                </a:solidFill>
                <a:latin typeface="Open Sans Bold" pitchFamily="34" charset="0"/>
                <a:ea typeface="Open Sans Bold" pitchFamily="34" charset="-122"/>
                <a:cs typeface="Open Sans Bold" pitchFamily="34" charset="-120"/>
              </a:rPr>
              <a:t>Primary objective:</a:t>
            </a:r>
            <a:r>
              <a:rPr lang="en-US" sz="1200" dirty="0">
                <a:solidFill>
                  <a:srgbClr val="BFBFBF"/>
                </a:solidFill>
                <a:latin typeface="Open Sans" pitchFamily="34" charset="0"/>
                <a:ea typeface="Open Sans" pitchFamily="34" charset="-122"/>
                <a:cs typeface="Open Sans" pitchFamily="34" charset="-120"/>
              </a:rPr>
              <a:t> Keep the lamp OFF in daylight, DIM at night, and boost to FULL brightness only when vehicles or pedestrians pass.</a:t>
            </a:r>
            <a:endParaRPr lang="en-US" sz="1200" dirty="0"/>
          </a:p>
        </p:txBody>
      </p:sp>
      <p:sp>
        <p:nvSpPr>
          <p:cNvPr id="11" name="Shape 9"/>
          <p:cNvSpPr/>
          <p:nvPr/>
        </p:nvSpPr>
        <p:spPr>
          <a:xfrm>
            <a:off x="609585" y="5500886"/>
            <a:ext cx="6603835" cy="711200"/>
          </a:xfrm>
          <a:prstGeom prst="rect">
            <a:avLst/>
          </a:prstGeom>
          <a:solidFill>
            <a:srgbClr val="242424"/>
          </a:solidFill>
          <a:ln/>
        </p:spPr>
      </p:sp>
      <p:sp>
        <p:nvSpPr>
          <p:cNvPr id="12" name="Text 10"/>
          <p:cNvSpPr/>
          <p:nvPr/>
        </p:nvSpPr>
        <p:spPr>
          <a:xfrm>
            <a:off x="812780" y="5627886"/>
            <a:ext cx="6197445" cy="457200"/>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BFBFBF"/>
                </a:solidFill>
                <a:latin typeface="Open Sans Bold" pitchFamily="34" charset="0"/>
                <a:ea typeface="Open Sans Bold" pitchFamily="34" charset="-122"/>
                <a:cs typeface="Open Sans Bold" pitchFamily="34" charset="-120"/>
              </a:rPr>
              <a:t>Method &amp; verification:</a:t>
            </a:r>
            <a:r>
              <a:rPr lang="en-US" sz="1200" dirty="0">
                <a:solidFill>
                  <a:srgbClr val="BFBFBF"/>
                </a:solidFill>
                <a:latin typeface="Open Sans" pitchFamily="34" charset="0"/>
                <a:ea typeface="Open Sans" pitchFamily="34" charset="-122"/>
                <a:cs typeface="Open Sans" pitchFamily="34" charset="-120"/>
              </a:rPr>
              <a:t> Pair LDR light sensing and PIR motion detection with combinational logic, verified in simulation before building hardware.</a:t>
            </a:r>
            <a:endParaRPr lang="en-US" sz="1200" dirty="0"/>
          </a:p>
        </p:txBody>
      </p:sp>
      <p:pic>
        <p:nvPicPr>
          <p:cNvPr id="13" name="Image 0" descr="preencoded.png"/>
          <p:cNvPicPr>
            <a:picLocks noChangeAspect="1"/>
          </p:cNvPicPr>
          <p:nvPr/>
        </p:nvPicPr>
        <p:blipFill>
          <a:blip r:embed="rId3"/>
          <a:stretch>
            <a:fillRect/>
          </a:stretch>
        </p:blipFill>
        <p:spPr>
          <a:xfrm>
            <a:off x="8330992" y="609600"/>
            <a:ext cx="3251119" cy="5638800"/>
          </a:xfrm>
          <a:prstGeom prst="rect">
            <a:avLst/>
          </a:prstGeom>
        </p:spPr>
      </p:pic>
      <p:sp>
        <p:nvSpPr>
          <p:cNvPr id="14" name="Text 11"/>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58786" y="457200"/>
            <a:ext cx="2547477" cy="311944"/>
          </a:xfrm>
          <a:prstGeom prst="rect">
            <a:avLst/>
          </a:prstGeom>
          <a:solidFill>
            <a:srgbClr val="F5F547"/>
          </a:solidFill>
          <a:ln/>
        </p:spPr>
      </p:sp>
      <p:sp>
        <p:nvSpPr>
          <p:cNvPr id="3" name="Text 1"/>
          <p:cNvSpPr/>
          <p:nvPr/>
        </p:nvSpPr>
        <p:spPr>
          <a:xfrm>
            <a:off x="685783" y="531622"/>
            <a:ext cx="2877669"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SYSTEM ARCHITECTURE</a:t>
            </a:r>
            <a:endParaRPr lang="en-US" sz="1100" dirty="0"/>
          </a:p>
        </p:txBody>
      </p:sp>
      <p:sp>
        <p:nvSpPr>
          <p:cNvPr id="4" name="Text 2"/>
          <p:cNvSpPr/>
          <p:nvPr/>
        </p:nvSpPr>
        <p:spPr>
          <a:xfrm>
            <a:off x="558786" y="943832"/>
            <a:ext cx="11074123" cy="376932"/>
          </a:xfrm>
          <a:prstGeom prst="rect">
            <a:avLst/>
          </a:prstGeom>
          <a:noFill/>
          <a:ln/>
        </p:spPr>
        <p:txBody>
          <a:bodyPr wrap="none" lIns="0" tIns="0" rIns="0" bIns="0" rtlCol="0" anchor="t"/>
          <a:lstStyle/>
          <a:p>
            <a:pPr marL="0" indent="0" algn="l">
              <a:lnSpc>
                <a:spcPct val="88000"/>
              </a:lnSpc>
              <a:buNone/>
            </a:pPr>
            <a:r>
              <a:rPr lang="en-US" sz="2800" kern="100" spc="-56" dirty="0">
                <a:solidFill>
                  <a:srgbClr val="FEFEFE"/>
                </a:solidFill>
                <a:latin typeface="Instrument Sans Medium" pitchFamily="34" charset="0"/>
                <a:ea typeface="Instrument Sans Medium" pitchFamily="34" charset="-122"/>
                <a:cs typeface="Instrument Sans Medium" pitchFamily="34" charset="-120"/>
              </a:rPr>
              <a:t>How the system works: sense, decide, switch</a:t>
            </a:r>
            <a:endParaRPr lang="en-US" sz="2800" dirty="0"/>
          </a:p>
        </p:txBody>
      </p:sp>
      <p:sp>
        <p:nvSpPr>
          <p:cNvPr id="5" name="Text 3"/>
          <p:cNvSpPr/>
          <p:nvPr/>
        </p:nvSpPr>
        <p:spPr>
          <a:xfrm>
            <a:off x="558786" y="1475482"/>
            <a:ext cx="11632909" cy="200025"/>
          </a:xfrm>
          <a:prstGeom prst="rect">
            <a:avLst/>
          </a:prstGeom>
          <a:noFill/>
          <a:ln/>
        </p:spPr>
        <p:txBody>
          <a:bodyPr wrap="none" lIns="0" tIns="0" rIns="0" bIns="0" rtlCol="0" anchor="t"/>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A continuous feedforward path from environmental sensors to high-efficiency power drivers.</a:t>
            </a:r>
            <a:endParaRPr lang="en-US" sz="1050" dirty="0"/>
          </a:p>
        </p:txBody>
      </p:sp>
      <p:sp>
        <p:nvSpPr>
          <p:cNvPr id="6" name="Shape 4"/>
          <p:cNvSpPr/>
          <p:nvPr/>
        </p:nvSpPr>
        <p:spPr>
          <a:xfrm>
            <a:off x="558786" y="1850926"/>
            <a:ext cx="2654234" cy="2088158"/>
          </a:xfrm>
          <a:prstGeom prst="rect">
            <a:avLst/>
          </a:prstGeom>
          <a:solidFill>
            <a:srgbClr val="242424"/>
          </a:solidFill>
          <a:ln/>
        </p:spPr>
      </p:sp>
      <p:sp>
        <p:nvSpPr>
          <p:cNvPr id="7" name="Text 5"/>
          <p:cNvSpPr/>
          <p:nvPr/>
        </p:nvSpPr>
        <p:spPr>
          <a:xfrm>
            <a:off x="761981" y="2054126"/>
            <a:ext cx="812978" cy="177800"/>
          </a:xfrm>
          <a:prstGeom prst="rect">
            <a:avLst/>
          </a:prstGeom>
          <a:noFill/>
          <a:ln/>
        </p:spPr>
        <p:txBody>
          <a:bodyPr wrap="none" lIns="0" tIns="0" rIns="0" bIns="0" rtlCol="0" anchor="t"/>
          <a:lstStyle/>
          <a:p>
            <a:pPr marL="0" indent="0" algn="l">
              <a:lnSpc>
                <a:spcPct val="83000"/>
              </a:lnSpc>
              <a:buNone/>
            </a:pPr>
            <a:r>
              <a:rPr lang="en-US" sz="1400" dirty="0">
                <a:solidFill>
                  <a:srgbClr val="F5F547"/>
                </a:solidFill>
                <a:latin typeface="Open Sans SemiBold" pitchFamily="34" charset="0"/>
                <a:ea typeface="Open Sans SemiBold" pitchFamily="34" charset="-122"/>
                <a:cs typeface="Open Sans SemiBold" pitchFamily="34" charset="-120"/>
              </a:rPr>
              <a:t>01</a:t>
            </a:r>
            <a:endParaRPr lang="en-US" sz="1400" dirty="0"/>
          </a:p>
        </p:txBody>
      </p:sp>
      <p:sp>
        <p:nvSpPr>
          <p:cNvPr id="8" name="Shape 6"/>
          <p:cNvSpPr/>
          <p:nvPr/>
        </p:nvSpPr>
        <p:spPr>
          <a:xfrm>
            <a:off x="558786" y="2303066"/>
            <a:ext cx="2654234" cy="19050"/>
          </a:xfrm>
          <a:prstGeom prst="rect">
            <a:avLst/>
          </a:prstGeom>
          <a:solidFill>
            <a:srgbClr val="F5F547"/>
          </a:solidFill>
          <a:ln/>
        </p:spPr>
      </p:sp>
      <p:sp>
        <p:nvSpPr>
          <p:cNvPr id="9" name="Text 7"/>
          <p:cNvSpPr/>
          <p:nvPr/>
        </p:nvSpPr>
        <p:spPr>
          <a:xfrm>
            <a:off x="761981" y="2438539"/>
            <a:ext cx="2247844"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1. Sensing Layer</a:t>
            </a:r>
            <a:endParaRPr lang="en-US" sz="1550" dirty="0"/>
          </a:p>
        </p:txBody>
      </p:sp>
      <p:sp>
        <p:nvSpPr>
          <p:cNvPr id="10" name="Text 8"/>
          <p:cNvSpPr/>
          <p:nvPr/>
        </p:nvSpPr>
        <p:spPr>
          <a:xfrm>
            <a:off x="761981" y="2821484"/>
            <a:ext cx="2247844" cy="914400"/>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BFBFBF"/>
                </a:solidFill>
                <a:latin typeface="Open Sans Bold" pitchFamily="34" charset="0"/>
                <a:ea typeface="Open Sans Bold" pitchFamily="34" charset="-122"/>
                <a:cs typeface="Open Sans Bold" pitchFamily="34" charset="-120"/>
              </a:rPr>
              <a:t>LDR</a:t>
            </a:r>
            <a:r>
              <a:rPr lang="en-US" sz="1200" dirty="0">
                <a:solidFill>
                  <a:srgbClr val="BFBFBF"/>
                </a:solidFill>
                <a:latin typeface="Open Sans" pitchFamily="34" charset="0"/>
                <a:ea typeface="Open Sans" pitchFamily="34" charset="-122"/>
                <a:cs typeface="Open Sans" pitchFamily="34" charset="-120"/>
              </a:rPr>
              <a:t> tracks ambient lux; </a:t>
            </a:r>
            <a:r>
              <a:rPr lang="en-US" sz="1200" b="1" dirty="0">
                <a:solidFill>
                  <a:srgbClr val="BFBFBF"/>
                </a:solidFill>
                <a:latin typeface="Open Sans Bold" pitchFamily="34" charset="0"/>
                <a:ea typeface="Open Sans Bold" pitchFamily="34" charset="-122"/>
                <a:cs typeface="Open Sans Bold" pitchFamily="34" charset="-120"/>
              </a:rPr>
              <a:t>PIR sensor</a:t>
            </a:r>
            <a:r>
              <a:rPr lang="en-US" sz="1200" dirty="0">
                <a:solidFill>
                  <a:srgbClr val="BFBFBF"/>
                </a:solidFill>
                <a:latin typeface="Open Sans" pitchFamily="34" charset="0"/>
                <a:ea typeface="Open Sans" pitchFamily="34" charset="-122"/>
                <a:cs typeface="Open Sans" pitchFamily="34" charset="-120"/>
              </a:rPr>
              <a:t> scans a 120° field for infrared radiation changes caused by movement.</a:t>
            </a:r>
            <a:endParaRPr lang="en-US" sz="1200" dirty="0"/>
          </a:p>
        </p:txBody>
      </p:sp>
      <p:sp>
        <p:nvSpPr>
          <p:cNvPr id="11" name="Shape 9"/>
          <p:cNvSpPr/>
          <p:nvPr/>
        </p:nvSpPr>
        <p:spPr>
          <a:xfrm>
            <a:off x="3365416" y="1850926"/>
            <a:ext cx="2654234" cy="2088158"/>
          </a:xfrm>
          <a:prstGeom prst="rect">
            <a:avLst/>
          </a:prstGeom>
          <a:solidFill>
            <a:srgbClr val="242424"/>
          </a:solidFill>
          <a:ln/>
        </p:spPr>
      </p:sp>
      <p:sp>
        <p:nvSpPr>
          <p:cNvPr id="12" name="Text 10"/>
          <p:cNvSpPr/>
          <p:nvPr/>
        </p:nvSpPr>
        <p:spPr>
          <a:xfrm>
            <a:off x="3568611" y="2054126"/>
            <a:ext cx="812978" cy="177800"/>
          </a:xfrm>
          <a:prstGeom prst="rect">
            <a:avLst/>
          </a:prstGeom>
          <a:noFill/>
          <a:ln/>
        </p:spPr>
        <p:txBody>
          <a:bodyPr wrap="none" lIns="0" tIns="0" rIns="0" bIns="0" rtlCol="0" anchor="t"/>
          <a:lstStyle/>
          <a:p>
            <a:pPr marL="0" indent="0" algn="l">
              <a:lnSpc>
                <a:spcPct val="83000"/>
              </a:lnSpc>
              <a:buNone/>
            </a:pPr>
            <a:r>
              <a:rPr lang="en-US" sz="1400" dirty="0">
                <a:solidFill>
                  <a:srgbClr val="F5F547"/>
                </a:solidFill>
                <a:latin typeface="Open Sans SemiBold" pitchFamily="34" charset="0"/>
                <a:ea typeface="Open Sans SemiBold" pitchFamily="34" charset="-122"/>
                <a:cs typeface="Open Sans SemiBold" pitchFamily="34" charset="-120"/>
              </a:rPr>
              <a:t>02</a:t>
            </a:r>
            <a:endParaRPr lang="en-US" sz="1400" dirty="0"/>
          </a:p>
        </p:txBody>
      </p:sp>
      <p:sp>
        <p:nvSpPr>
          <p:cNvPr id="13" name="Shape 11"/>
          <p:cNvSpPr/>
          <p:nvPr/>
        </p:nvSpPr>
        <p:spPr>
          <a:xfrm>
            <a:off x="3365416" y="2303066"/>
            <a:ext cx="2654234" cy="19050"/>
          </a:xfrm>
          <a:prstGeom prst="rect">
            <a:avLst/>
          </a:prstGeom>
          <a:solidFill>
            <a:srgbClr val="F5F547"/>
          </a:solidFill>
          <a:ln/>
        </p:spPr>
      </p:sp>
      <p:sp>
        <p:nvSpPr>
          <p:cNvPr id="14" name="Text 12"/>
          <p:cNvSpPr/>
          <p:nvPr/>
        </p:nvSpPr>
        <p:spPr>
          <a:xfrm>
            <a:off x="3568611" y="2438539"/>
            <a:ext cx="2247844"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2. Conditioning</a:t>
            </a:r>
            <a:endParaRPr lang="en-US" sz="1550" dirty="0"/>
          </a:p>
        </p:txBody>
      </p:sp>
      <p:sp>
        <p:nvSpPr>
          <p:cNvPr id="15" name="Text 13"/>
          <p:cNvSpPr/>
          <p:nvPr/>
        </p:nvSpPr>
        <p:spPr>
          <a:xfrm>
            <a:off x="3568611" y="2821484"/>
            <a:ext cx="2247844" cy="9144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Voltage divider and op-amp comparator digitize the LDR signal into clean high/low binary levels.</a:t>
            </a:r>
            <a:endParaRPr lang="en-US" sz="1200" dirty="0"/>
          </a:p>
        </p:txBody>
      </p:sp>
      <p:sp>
        <p:nvSpPr>
          <p:cNvPr id="16" name="Shape 14"/>
          <p:cNvSpPr/>
          <p:nvPr/>
        </p:nvSpPr>
        <p:spPr>
          <a:xfrm>
            <a:off x="6172046" y="1850926"/>
            <a:ext cx="2654234" cy="2088158"/>
          </a:xfrm>
          <a:prstGeom prst="rect">
            <a:avLst/>
          </a:prstGeom>
          <a:solidFill>
            <a:srgbClr val="242424"/>
          </a:solidFill>
          <a:ln/>
        </p:spPr>
      </p:sp>
      <p:sp>
        <p:nvSpPr>
          <p:cNvPr id="17" name="Text 15"/>
          <p:cNvSpPr/>
          <p:nvPr/>
        </p:nvSpPr>
        <p:spPr>
          <a:xfrm>
            <a:off x="6375241" y="2054126"/>
            <a:ext cx="812978" cy="177800"/>
          </a:xfrm>
          <a:prstGeom prst="rect">
            <a:avLst/>
          </a:prstGeom>
          <a:noFill/>
          <a:ln/>
        </p:spPr>
        <p:txBody>
          <a:bodyPr wrap="none" lIns="0" tIns="0" rIns="0" bIns="0" rtlCol="0" anchor="t"/>
          <a:lstStyle/>
          <a:p>
            <a:pPr marL="0" indent="0" algn="l">
              <a:lnSpc>
                <a:spcPct val="83000"/>
              </a:lnSpc>
              <a:buNone/>
            </a:pPr>
            <a:r>
              <a:rPr lang="en-US" sz="1400" dirty="0">
                <a:solidFill>
                  <a:srgbClr val="F5F547"/>
                </a:solidFill>
                <a:latin typeface="Open Sans SemiBold" pitchFamily="34" charset="0"/>
                <a:ea typeface="Open Sans SemiBold" pitchFamily="34" charset="-122"/>
                <a:cs typeface="Open Sans SemiBold" pitchFamily="34" charset="-120"/>
              </a:rPr>
              <a:t>03</a:t>
            </a:r>
            <a:endParaRPr lang="en-US" sz="1400" dirty="0"/>
          </a:p>
        </p:txBody>
      </p:sp>
      <p:sp>
        <p:nvSpPr>
          <p:cNvPr id="18" name="Shape 16"/>
          <p:cNvSpPr/>
          <p:nvPr/>
        </p:nvSpPr>
        <p:spPr>
          <a:xfrm>
            <a:off x="6172046" y="2303066"/>
            <a:ext cx="2654234" cy="19050"/>
          </a:xfrm>
          <a:prstGeom prst="rect">
            <a:avLst/>
          </a:prstGeom>
          <a:solidFill>
            <a:srgbClr val="F5F547"/>
          </a:solidFill>
          <a:ln/>
        </p:spPr>
      </p:sp>
      <p:sp>
        <p:nvSpPr>
          <p:cNvPr id="19" name="Text 17"/>
          <p:cNvSpPr/>
          <p:nvPr/>
        </p:nvSpPr>
        <p:spPr>
          <a:xfrm>
            <a:off x="6375241" y="2438539"/>
            <a:ext cx="2247844"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3. Logic / Controller</a:t>
            </a:r>
            <a:endParaRPr lang="en-US" sz="1550" dirty="0"/>
          </a:p>
        </p:txBody>
      </p:sp>
      <p:sp>
        <p:nvSpPr>
          <p:cNvPr id="20" name="Text 18"/>
          <p:cNvSpPr/>
          <p:nvPr/>
        </p:nvSpPr>
        <p:spPr>
          <a:xfrm>
            <a:off x="6375241" y="2821484"/>
            <a:ext cx="2247844" cy="9144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Combinational gates or an ATmega328P evaluate inputs against set thresholds to select the operating state.</a:t>
            </a:r>
            <a:endParaRPr lang="en-US" sz="1200" dirty="0"/>
          </a:p>
        </p:txBody>
      </p:sp>
      <p:sp>
        <p:nvSpPr>
          <p:cNvPr id="21" name="Shape 19"/>
          <p:cNvSpPr/>
          <p:nvPr/>
        </p:nvSpPr>
        <p:spPr>
          <a:xfrm>
            <a:off x="8978675" y="1850926"/>
            <a:ext cx="2654234" cy="2088158"/>
          </a:xfrm>
          <a:prstGeom prst="rect">
            <a:avLst/>
          </a:prstGeom>
          <a:solidFill>
            <a:srgbClr val="242424"/>
          </a:solidFill>
          <a:ln/>
        </p:spPr>
      </p:sp>
      <p:sp>
        <p:nvSpPr>
          <p:cNvPr id="22" name="Text 20"/>
          <p:cNvSpPr/>
          <p:nvPr/>
        </p:nvSpPr>
        <p:spPr>
          <a:xfrm>
            <a:off x="9181870" y="2054126"/>
            <a:ext cx="812978" cy="177800"/>
          </a:xfrm>
          <a:prstGeom prst="rect">
            <a:avLst/>
          </a:prstGeom>
          <a:noFill/>
          <a:ln/>
        </p:spPr>
        <p:txBody>
          <a:bodyPr wrap="none" lIns="0" tIns="0" rIns="0" bIns="0" rtlCol="0" anchor="t"/>
          <a:lstStyle/>
          <a:p>
            <a:pPr marL="0" indent="0" algn="l">
              <a:lnSpc>
                <a:spcPct val="83000"/>
              </a:lnSpc>
              <a:buNone/>
            </a:pPr>
            <a:r>
              <a:rPr lang="en-US" sz="1400" dirty="0">
                <a:solidFill>
                  <a:srgbClr val="F5F547"/>
                </a:solidFill>
                <a:latin typeface="Open Sans SemiBold" pitchFamily="34" charset="0"/>
                <a:ea typeface="Open Sans SemiBold" pitchFamily="34" charset="-122"/>
                <a:cs typeface="Open Sans SemiBold" pitchFamily="34" charset="-120"/>
              </a:rPr>
              <a:t>04</a:t>
            </a:r>
            <a:endParaRPr lang="en-US" sz="1400" dirty="0"/>
          </a:p>
        </p:txBody>
      </p:sp>
      <p:sp>
        <p:nvSpPr>
          <p:cNvPr id="23" name="Shape 21"/>
          <p:cNvSpPr/>
          <p:nvPr/>
        </p:nvSpPr>
        <p:spPr>
          <a:xfrm>
            <a:off x="8978675" y="2303066"/>
            <a:ext cx="2654234" cy="19050"/>
          </a:xfrm>
          <a:prstGeom prst="rect">
            <a:avLst/>
          </a:prstGeom>
          <a:solidFill>
            <a:srgbClr val="F5F547"/>
          </a:solidFill>
          <a:ln/>
        </p:spPr>
      </p:sp>
      <p:sp>
        <p:nvSpPr>
          <p:cNvPr id="24" name="Text 22"/>
          <p:cNvSpPr/>
          <p:nvPr/>
        </p:nvSpPr>
        <p:spPr>
          <a:xfrm>
            <a:off x="9181870" y="2438539"/>
            <a:ext cx="2247844"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4. Power Driver</a:t>
            </a:r>
            <a:endParaRPr lang="en-US" sz="1550" dirty="0"/>
          </a:p>
        </p:txBody>
      </p:sp>
      <p:sp>
        <p:nvSpPr>
          <p:cNvPr id="25" name="Text 23"/>
          <p:cNvSpPr/>
          <p:nvPr/>
        </p:nvSpPr>
        <p:spPr>
          <a:xfrm>
            <a:off x="9181870" y="2821484"/>
            <a:ext cx="2247844" cy="9144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An NPN power transistor or 5V relay module switches high current and modulates PWM output to the LED luminaire.</a:t>
            </a:r>
            <a:endParaRPr lang="en-US" sz="1200" dirty="0"/>
          </a:p>
        </p:txBody>
      </p:sp>
      <p:sp>
        <p:nvSpPr>
          <p:cNvPr id="26" name="Shape 24"/>
          <p:cNvSpPr/>
          <p:nvPr/>
        </p:nvSpPr>
        <p:spPr>
          <a:xfrm>
            <a:off x="558786" y="5946775"/>
            <a:ext cx="11074123" cy="454025"/>
          </a:xfrm>
          <a:prstGeom prst="rect">
            <a:avLst/>
          </a:prstGeom>
          <a:solidFill>
            <a:srgbClr val="242424"/>
          </a:solidFill>
          <a:ln/>
        </p:spPr>
      </p:sp>
      <p:sp>
        <p:nvSpPr>
          <p:cNvPr id="27" name="Text 25"/>
          <p:cNvSpPr/>
          <p:nvPr/>
        </p:nvSpPr>
        <p:spPr>
          <a:xfrm>
            <a:off x="761981" y="6076156"/>
            <a:ext cx="10870928" cy="200025"/>
          </a:xfrm>
          <a:prstGeom prst="rect">
            <a:avLst/>
          </a:prstGeom>
          <a:noFill/>
          <a:ln/>
        </p:spPr>
        <p:txBody>
          <a:bodyPr wrap="none" lIns="0" tIns="0" rIns="0" bIns="0" rtlCol="0" anchor="t"/>
          <a:lstStyle/>
          <a:p>
            <a:pPr marL="0" indent="0" algn="l">
              <a:lnSpc>
                <a:spcPct val="125000"/>
              </a:lnSpc>
              <a:buNone/>
            </a:pPr>
            <a:r>
              <a:rPr lang="en-US" sz="1050" kern="100" spc="21" dirty="0">
                <a:solidFill>
                  <a:srgbClr val="BFBFBF"/>
                </a:solidFill>
                <a:latin typeface="Martian Mono" pitchFamily="34" charset="0"/>
                <a:ea typeface="Martian Mono" pitchFamily="34" charset="-122"/>
                <a:cs typeface="Martian Mono" pitchFamily="34" charset="-120"/>
              </a:rPr>
              <a:t>POWER DISTRIBUTION: Regulated 5V DC rail supplies sensors, logic gates, and the microcontroller core.</a:t>
            </a:r>
            <a:endParaRPr lang="en-US" sz="1050" dirty="0"/>
          </a:p>
        </p:txBody>
      </p:sp>
      <p:sp>
        <p:nvSpPr>
          <p:cNvPr id="28" name="Text 26"/>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09585" y="609600"/>
            <a:ext cx="3024906" cy="311944"/>
          </a:xfrm>
          <a:prstGeom prst="rect">
            <a:avLst/>
          </a:prstGeom>
          <a:solidFill>
            <a:srgbClr val="F5F547"/>
          </a:solidFill>
          <a:ln/>
        </p:spPr>
      </p:sp>
      <p:sp>
        <p:nvSpPr>
          <p:cNvPr id="3" name="Text 1"/>
          <p:cNvSpPr/>
          <p:nvPr/>
        </p:nvSpPr>
        <p:spPr>
          <a:xfrm>
            <a:off x="736582" y="684022"/>
            <a:ext cx="3355097"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BOOLEAN LOGIC SYNTHESIS</a:t>
            </a:r>
            <a:endParaRPr lang="en-US" sz="1100" dirty="0"/>
          </a:p>
        </p:txBody>
      </p:sp>
      <p:sp>
        <p:nvSpPr>
          <p:cNvPr id="4" name="Text 2"/>
          <p:cNvSpPr/>
          <p:nvPr/>
        </p:nvSpPr>
        <p:spPr>
          <a:xfrm>
            <a:off x="609585" y="1096232"/>
            <a:ext cx="5430404" cy="376932"/>
          </a:xfrm>
          <a:prstGeom prst="rect">
            <a:avLst/>
          </a:prstGeom>
          <a:noFill/>
          <a:ln/>
        </p:spPr>
        <p:txBody>
          <a:bodyPr wrap="none" lIns="0" tIns="0" rIns="0" bIns="0" rtlCol="0" anchor="t"/>
          <a:lstStyle/>
          <a:p>
            <a:pPr marL="0" indent="0" algn="l">
              <a:lnSpc>
                <a:spcPct val="88000"/>
              </a:lnSpc>
              <a:buNone/>
            </a:pPr>
            <a:r>
              <a:rPr lang="en-US" sz="2800" kern="100" spc="-56" dirty="0">
                <a:solidFill>
                  <a:srgbClr val="FEFEFE"/>
                </a:solidFill>
                <a:latin typeface="Instrument Sans Medium" pitchFamily="34" charset="0"/>
                <a:ea typeface="Instrument Sans Medium" pitchFamily="34" charset="-122"/>
                <a:cs typeface="Instrument Sans Medium" pitchFamily="34" charset="-120"/>
              </a:rPr>
              <a:t>Two sensor bits decide the lamp</a:t>
            </a:r>
            <a:endParaRPr lang="en-US" sz="2800" dirty="0"/>
          </a:p>
        </p:txBody>
      </p:sp>
      <p:sp>
        <p:nvSpPr>
          <p:cNvPr id="5" name="Text 3"/>
          <p:cNvSpPr/>
          <p:nvPr/>
        </p:nvSpPr>
        <p:spPr>
          <a:xfrm>
            <a:off x="609585" y="1625501"/>
            <a:ext cx="5430404" cy="458391"/>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Let </a:t>
            </a:r>
            <a:r>
              <a:rPr lang="en-US" sz="1150" i="1" dirty="0">
                <a:solidFill>
                  <a:srgbClr val="BFBFBF"/>
                </a:solidFill>
                <a:latin typeface="Consolas" pitchFamily="34" charset="0"/>
                <a:ea typeface="Consolas" pitchFamily="34" charset="-122"/>
                <a:cs typeface="Consolas" pitchFamily="34" charset="-120"/>
              </a:rPr>
              <a:t>   </a:t>
            </a:r>
            <a:r>
              <a:rPr lang="en-US" sz="1200" dirty="0">
                <a:solidFill>
                  <a:srgbClr val="BFBFBF"/>
                </a:solidFill>
                <a:latin typeface="Open Sans" pitchFamily="34" charset="0"/>
                <a:ea typeface="Open Sans" pitchFamily="34" charset="-122"/>
                <a:cs typeface="Open Sans" pitchFamily="34" charset="-120"/>
              </a:rPr>
              <a:t> when ambient conditions are dark, and </a:t>
            </a:r>
            <a:r>
              <a:rPr lang="en-US" sz="1150" i="1" dirty="0">
                <a:solidFill>
                  <a:srgbClr val="BFBFBF"/>
                </a:solidFill>
                <a:latin typeface="Consolas" pitchFamily="34" charset="0"/>
                <a:ea typeface="Consolas" pitchFamily="34" charset="-122"/>
                <a:cs typeface="Consolas" pitchFamily="34" charset="-120"/>
              </a:rPr>
              <a:t>   </a:t>
            </a:r>
            <a:r>
              <a:rPr lang="en-US" sz="1200" dirty="0">
                <a:solidFill>
                  <a:srgbClr val="BFBFBF"/>
                </a:solidFill>
                <a:latin typeface="Open Sans" pitchFamily="34" charset="0"/>
                <a:ea typeface="Open Sans" pitchFamily="34" charset="-122"/>
                <a:cs typeface="Open Sans" pitchFamily="34" charset="-120"/>
              </a:rPr>
              <a:t> when motion is detected.</a:t>
            </a:r>
            <a:endParaRPr lang="en-US" sz="1200" dirty="0"/>
          </a:p>
        </p:txBody>
      </p:sp>
      <p:pic>
        <p:nvPicPr>
          <p:cNvPr id="6" name="Image 0" descr="preencoded.png"/>
          <p:cNvPicPr>
            <a:picLocks noChangeAspect="1"/>
          </p:cNvPicPr>
          <p:nvPr/>
        </p:nvPicPr>
        <p:blipFill>
          <a:blip r:embed="rId3"/>
          <a:stretch>
            <a:fillRect/>
          </a:stretch>
        </p:blipFill>
        <p:spPr>
          <a:xfrm>
            <a:off x="868638" y="1657251"/>
            <a:ext cx="400040" cy="191393"/>
          </a:xfrm>
          <a:prstGeom prst="rect">
            <a:avLst/>
          </a:prstGeom>
        </p:spPr>
      </p:pic>
      <p:pic>
        <p:nvPicPr>
          <p:cNvPr id="7" name="Image 1" descr="preencoded.png"/>
          <p:cNvPicPr>
            <a:picLocks noChangeAspect="1"/>
          </p:cNvPicPr>
          <p:nvPr/>
        </p:nvPicPr>
        <p:blipFill>
          <a:blip r:embed="rId4"/>
          <a:stretch>
            <a:fillRect/>
          </a:stretch>
        </p:blipFill>
        <p:spPr>
          <a:xfrm>
            <a:off x="4131266" y="1657251"/>
            <a:ext cx="433277" cy="191393"/>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2210891"/>
          <a:ext cx="5430404" cy="914400"/>
        </p:xfrm>
        <a:graphic>
          <a:graphicData uri="http://schemas.openxmlformats.org/drawingml/2006/table">
            <a:tbl>
              <a:tblPr/>
              <a:tblGrid>
                <a:gridCol w="1200447">
                  <a:extLst>
                    <a:ext uri="{9D8B030D-6E8A-4147-A177-3AD203B41FA5}">
                      <a16:colId xmlns:a16="http://schemas.microsoft.com/office/drawing/2014/main" val="20000"/>
                    </a:ext>
                  </a:extLst>
                </a:gridCol>
                <a:gridCol w="1365234">
                  <a:extLst>
                    <a:ext uri="{9D8B030D-6E8A-4147-A177-3AD203B41FA5}">
                      <a16:colId xmlns:a16="http://schemas.microsoft.com/office/drawing/2014/main" val="20001"/>
                    </a:ext>
                  </a:extLst>
                </a:gridCol>
                <a:gridCol w="1120391">
                  <a:extLst>
                    <a:ext uri="{9D8B030D-6E8A-4147-A177-3AD203B41FA5}">
                      <a16:colId xmlns:a16="http://schemas.microsoft.com/office/drawing/2014/main" val="20002"/>
                    </a:ext>
                  </a:extLst>
                </a:gridCol>
                <a:gridCol w="1273144">
                  <a:extLst>
                    <a:ext uri="{9D8B030D-6E8A-4147-A177-3AD203B41FA5}">
                      <a16:colId xmlns:a16="http://schemas.microsoft.com/office/drawing/2014/main" val="20003"/>
                    </a:ext>
                  </a:extLst>
                </a:gridCol>
                <a:gridCol w="241804">
                  <a:extLst>
                    <a:ext uri="{9D8B030D-6E8A-4147-A177-3AD203B41FA5}">
                      <a16:colId xmlns:a16="http://schemas.microsoft.com/office/drawing/2014/main" val="20004"/>
                    </a:ext>
                  </a:extLst>
                </a:gridCol>
                <a:gridCol w="241804">
                  <a:extLst>
                    <a:ext uri="{9D8B030D-6E8A-4147-A177-3AD203B41FA5}">
                      <a16:colId xmlns:a16="http://schemas.microsoft.com/office/drawing/2014/main" val="20005"/>
                    </a:ext>
                  </a:extLst>
                </a:gridCol>
                <a:gridCol w="241804">
                  <a:extLst>
                    <a:ext uri="{9D8B030D-6E8A-4147-A177-3AD203B41FA5}">
                      <a16:colId xmlns:a16="http://schemas.microsoft.com/office/drawing/2014/main" val="20006"/>
                    </a:ext>
                  </a:extLst>
                </a:gridCol>
              </a:tblGrid>
              <a:tr h="742931">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D (DARK)</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M (MOTION)</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LAMP MODE</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OUTPUT LEVEL</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0"/>
                  </a:ext>
                </a:extLst>
              </a:tr>
              <a:tr h="476238">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0</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0</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Day / Idle</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OFF (0%)</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1"/>
                  </a:ext>
                </a:extLst>
              </a:tr>
              <a:tr h="742931">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0</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1</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Day / Motion</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OFF (0%)</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2"/>
                  </a:ext>
                </a:extLst>
              </a:tr>
              <a:tr h="476238">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1</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0</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Night / Idle</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b="1" dirty="0">
                          <a:solidFill>
                            <a:srgbClr val="F5F547"/>
                          </a:solidFill>
                          <a:latin typeface="Open Sans" pitchFamily="34" charset="0"/>
                          <a:ea typeface="Open Sans" pitchFamily="34" charset="-122"/>
                          <a:cs typeface="Open Sans" pitchFamily="34" charset="-120"/>
                        </a:rPr>
                        <a:t>DIM (30%)</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3"/>
                  </a:ext>
                </a:extLst>
              </a:tr>
              <a:tr h="736582">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1</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1</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Night / Motion</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b="1" dirty="0">
                          <a:solidFill>
                            <a:srgbClr val="F5F547"/>
                          </a:solidFill>
                          <a:latin typeface="Open Sans" pitchFamily="34" charset="0"/>
                          <a:ea typeface="Open Sans" pitchFamily="34" charset="-122"/>
                          <a:cs typeface="Open Sans" pitchFamily="34" charset="-120"/>
                        </a:rPr>
                        <a:t>FULL (100%)</a:t>
                      </a: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3B3B3B"/>
                      </a:solidFill>
                      <a:prstDash val="solid"/>
                      <a:round/>
                      <a:headEnd type="none" w="med" len="med"/>
                      <a:tailEnd type="none" w="med" len="med"/>
                    </a:lnL>
                    <a:lnR w="12700" cap="flat" cmpd="sng" algn="ctr">
                      <a:solidFill>
                        <a:srgbClr val="3B3B3B"/>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4"/>
          <p:cNvSpPr/>
          <p:nvPr/>
        </p:nvSpPr>
        <p:spPr>
          <a:xfrm>
            <a:off x="7106663" y="0"/>
            <a:ext cx="5085032" cy="6858000"/>
          </a:xfrm>
          <a:prstGeom prst="rect">
            <a:avLst/>
          </a:prstGeom>
          <a:solidFill>
            <a:srgbClr val="242424"/>
          </a:solidFill>
          <a:ln/>
        </p:spPr>
      </p:sp>
      <p:sp>
        <p:nvSpPr>
          <p:cNvPr id="10" name="Text 5"/>
          <p:cNvSpPr/>
          <p:nvPr/>
        </p:nvSpPr>
        <p:spPr>
          <a:xfrm>
            <a:off x="7360656" y="263763"/>
            <a:ext cx="4577045"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Boolean Equations &amp; Implementation</a:t>
            </a:r>
            <a:endParaRPr lang="en-US" sz="1550" dirty="0"/>
          </a:p>
        </p:txBody>
      </p:sp>
      <p:sp>
        <p:nvSpPr>
          <p:cNvPr id="11" name="Shape 6"/>
          <p:cNvSpPr/>
          <p:nvPr/>
        </p:nvSpPr>
        <p:spPr>
          <a:xfrm>
            <a:off x="7360656" y="691158"/>
            <a:ext cx="4577045" cy="19050"/>
          </a:xfrm>
          <a:prstGeom prst="roundRect">
            <a:avLst>
              <a:gd name="adj" fmla="val 49999"/>
            </a:avLst>
          </a:prstGeom>
          <a:solidFill>
            <a:srgbClr val="3B3B3B"/>
          </a:solidFill>
          <a:ln/>
        </p:spPr>
      </p:sp>
      <p:sp>
        <p:nvSpPr>
          <p:cNvPr id="12" name="Text 7"/>
          <p:cNvSpPr/>
          <p:nvPr/>
        </p:nvSpPr>
        <p:spPr>
          <a:xfrm>
            <a:off x="7360656" y="913408"/>
            <a:ext cx="4577045" cy="4572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The overall lamp activation condition requires darkness regardless of motion:</a:t>
            </a:r>
            <a:endParaRPr lang="en-US" sz="1200" dirty="0"/>
          </a:p>
        </p:txBody>
      </p:sp>
      <p:pic>
        <p:nvPicPr>
          <p:cNvPr id="13" name="Image 2" descr="preencoded.png"/>
          <p:cNvPicPr>
            <a:picLocks noChangeAspect="1"/>
          </p:cNvPicPr>
          <p:nvPr/>
        </p:nvPicPr>
        <p:blipFill>
          <a:blip r:embed="rId5"/>
          <a:stretch>
            <a:fillRect/>
          </a:stretch>
        </p:blipFill>
        <p:spPr>
          <a:xfrm>
            <a:off x="7360656" y="1529358"/>
            <a:ext cx="4577045" cy="303014"/>
          </a:xfrm>
          <a:prstGeom prst="rect">
            <a:avLst/>
          </a:prstGeom>
        </p:spPr>
      </p:pic>
      <p:sp>
        <p:nvSpPr>
          <p:cNvPr id="14" name="Text 8"/>
          <p:cNvSpPr/>
          <p:nvPr/>
        </p:nvSpPr>
        <p:spPr>
          <a:xfrm>
            <a:off x="7360656" y="1991122"/>
            <a:ext cx="4831039" cy="228600"/>
          </a:xfrm>
          <a:prstGeom prst="rect">
            <a:avLst/>
          </a:prstGeom>
          <a:noFill/>
          <a:ln/>
        </p:spPr>
        <p:txBody>
          <a:bodyPr wrap="none" lIns="0" tIns="0" rIns="0" bIns="0" rtlCol="0" anchor="t"/>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Decomposing the power levels into individual gating channels:</a:t>
            </a:r>
            <a:endParaRPr lang="en-US" sz="1200" dirty="0"/>
          </a:p>
        </p:txBody>
      </p:sp>
      <p:pic>
        <p:nvPicPr>
          <p:cNvPr id="15" name="Image 3" descr="preencoded.png"/>
          <p:cNvPicPr>
            <a:picLocks noChangeAspect="1"/>
          </p:cNvPicPr>
          <p:nvPr/>
        </p:nvPicPr>
        <p:blipFill>
          <a:blip r:embed="rId6"/>
          <a:stretch>
            <a:fillRect/>
          </a:stretch>
        </p:blipFill>
        <p:spPr>
          <a:xfrm>
            <a:off x="7360656" y="2378472"/>
            <a:ext cx="4577045" cy="303014"/>
          </a:xfrm>
          <a:prstGeom prst="rect">
            <a:avLst/>
          </a:prstGeom>
        </p:spPr>
      </p:pic>
      <p:pic>
        <p:nvPicPr>
          <p:cNvPr id="16" name="Image 4" descr="preencoded.png"/>
          <p:cNvPicPr>
            <a:picLocks noChangeAspect="1"/>
          </p:cNvPicPr>
          <p:nvPr/>
        </p:nvPicPr>
        <p:blipFill>
          <a:blip r:embed="rId7"/>
          <a:stretch>
            <a:fillRect/>
          </a:stretch>
        </p:blipFill>
        <p:spPr>
          <a:xfrm>
            <a:off x="7360656" y="2840236"/>
            <a:ext cx="4577045" cy="303014"/>
          </a:xfrm>
          <a:prstGeom prst="rect">
            <a:avLst/>
          </a:prstGeom>
        </p:spPr>
      </p:pic>
      <p:sp>
        <p:nvSpPr>
          <p:cNvPr id="17" name="Text 9"/>
          <p:cNvSpPr/>
          <p:nvPr/>
        </p:nvSpPr>
        <p:spPr>
          <a:xfrm>
            <a:off x="7360656" y="3302000"/>
            <a:ext cx="4577045" cy="685800"/>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BFBFBF"/>
                </a:solidFill>
                <a:latin typeface="Open Sans Bold" pitchFamily="34" charset="0"/>
                <a:ea typeface="Open Sans Bold" pitchFamily="34" charset="-122"/>
                <a:cs typeface="Open Sans Bold" pitchFamily="34" charset="-120"/>
              </a:rPr>
              <a:t>Universal gate conversion:</a:t>
            </a:r>
            <a:endParaRPr lang="en-US" sz="1200" dirty="0"/>
          </a:p>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By De Morgan's laws, the circuit can be fabricated entirely from two-input NAND gates, simplifying physical IC footprint.</a:t>
            </a:r>
            <a:endParaRPr lang="en-US" sz="1200" dirty="0"/>
          </a:p>
        </p:txBody>
      </p:sp>
      <p:sp>
        <p:nvSpPr>
          <p:cNvPr id="18" name="Text 10"/>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58786" y="457200"/>
            <a:ext cx="3024906" cy="311944"/>
          </a:xfrm>
          <a:prstGeom prst="rect">
            <a:avLst/>
          </a:prstGeom>
          <a:solidFill>
            <a:srgbClr val="F5F547"/>
          </a:solidFill>
          <a:ln/>
        </p:spPr>
      </p:sp>
      <p:sp>
        <p:nvSpPr>
          <p:cNvPr id="3" name="Text 1"/>
          <p:cNvSpPr/>
          <p:nvPr/>
        </p:nvSpPr>
        <p:spPr>
          <a:xfrm>
            <a:off x="685783" y="531622"/>
            <a:ext cx="3355097"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HARDWARE SPECIFICATIONS</a:t>
            </a:r>
            <a:endParaRPr lang="en-US" sz="1100" dirty="0"/>
          </a:p>
        </p:txBody>
      </p:sp>
      <p:sp>
        <p:nvSpPr>
          <p:cNvPr id="4" name="Text 2"/>
          <p:cNvSpPr/>
          <p:nvPr/>
        </p:nvSpPr>
        <p:spPr>
          <a:xfrm>
            <a:off x="558786" y="943832"/>
            <a:ext cx="11074123" cy="376932"/>
          </a:xfrm>
          <a:prstGeom prst="rect">
            <a:avLst/>
          </a:prstGeom>
          <a:noFill/>
          <a:ln/>
        </p:spPr>
        <p:txBody>
          <a:bodyPr wrap="none" lIns="0" tIns="0" rIns="0" bIns="0" rtlCol="0" anchor="t"/>
          <a:lstStyle/>
          <a:p>
            <a:pPr marL="0" indent="0" algn="l">
              <a:lnSpc>
                <a:spcPct val="88000"/>
              </a:lnSpc>
              <a:buNone/>
            </a:pPr>
            <a:r>
              <a:rPr lang="en-US" sz="2800" kern="100" spc="-56" dirty="0">
                <a:solidFill>
                  <a:srgbClr val="FEFEFE"/>
                </a:solidFill>
                <a:latin typeface="Instrument Sans Medium" pitchFamily="34" charset="0"/>
                <a:ea typeface="Instrument Sans Medium" pitchFamily="34" charset="-122"/>
                <a:cs typeface="Instrument Sans Medium" pitchFamily="34" charset="-120"/>
              </a:rPr>
              <a:t>Components and operational ratings</a:t>
            </a:r>
            <a:endParaRPr lang="en-US" sz="2800" dirty="0"/>
          </a:p>
        </p:txBody>
      </p:sp>
      <p:sp>
        <p:nvSpPr>
          <p:cNvPr id="5" name="Text 3"/>
          <p:cNvSpPr/>
          <p:nvPr/>
        </p:nvSpPr>
        <p:spPr>
          <a:xfrm>
            <a:off x="558786" y="1475482"/>
            <a:ext cx="11632909" cy="200025"/>
          </a:xfrm>
          <a:prstGeom prst="rect">
            <a:avLst/>
          </a:prstGeom>
          <a:noFill/>
          <a:ln/>
        </p:spPr>
        <p:txBody>
          <a:bodyPr wrap="none" lIns="0" tIns="0" rIns="0" bIns="0" rtlCol="0" anchor="t"/>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Standardized electronic components selected for simulation modeling and benchtop prototyping.</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58786" y="1850926"/>
          <a:ext cx="11074123" cy="914400"/>
        </p:xfrm>
        <a:graphic>
          <a:graphicData uri="http://schemas.openxmlformats.org/drawingml/2006/table">
            <a:tbl>
              <a:tblPr/>
              <a:tblGrid>
                <a:gridCol w="2442208">
                  <a:extLst>
                    <a:ext uri="{9D8B030D-6E8A-4147-A177-3AD203B41FA5}">
                      <a16:colId xmlns:a16="http://schemas.microsoft.com/office/drawing/2014/main" val="20000"/>
                    </a:ext>
                  </a:extLst>
                </a:gridCol>
                <a:gridCol w="2427028">
                  <a:extLst>
                    <a:ext uri="{9D8B030D-6E8A-4147-A177-3AD203B41FA5}">
                      <a16:colId xmlns:a16="http://schemas.microsoft.com/office/drawing/2014/main" val="20001"/>
                    </a:ext>
                  </a:extLst>
                </a:gridCol>
                <a:gridCol w="3277709">
                  <a:extLst>
                    <a:ext uri="{9D8B030D-6E8A-4147-A177-3AD203B41FA5}">
                      <a16:colId xmlns:a16="http://schemas.microsoft.com/office/drawing/2014/main" val="20002"/>
                    </a:ext>
                  </a:extLst>
                </a:gridCol>
                <a:gridCol w="2012503">
                  <a:extLst>
                    <a:ext uri="{9D8B030D-6E8A-4147-A177-3AD203B41FA5}">
                      <a16:colId xmlns:a16="http://schemas.microsoft.com/office/drawing/2014/main" val="20003"/>
                    </a:ext>
                  </a:extLst>
                </a:gridCol>
                <a:gridCol w="241804">
                  <a:extLst>
                    <a:ext uri="{9D8B030D-6E8A-4147-A177-3AD203B41FA5}">
                      <a16:colId xmlns:a16="http://schemas.microsoft.com/office/drawing/2014/main" val="20004"/>
                    </a:ext>
                  </a:extLst>
                </a:gridCol>
                <a:gridCol w="241804">
                  <a:extLst>
                    <a:ext uri="{9D8B030D-6E8A-4147-A177-3AD203B41FA5}">
                      <a16:colId xmlns:a16="http://schemas.microsoft.com/office/drawing/2014/main" val="20005"/>
                    </a:ext>
                  </a:extLst>
                </a:gridCol>
                <a:gridCol w="241804">
                  <a:extLst>
                    <a:ext uri="{9D8B030D-6E8A-4147-A177-3AD203B41FA5}">
                      <a16:colId xmlns:a16="http://schemas.microsoft.com/office/drawing/2014/main" val="20006"/>
                    </a:ext>
                  </a:extLst>
                </a:gridCol>
                <a:gridCol w="241804">
                  <a:extLst>
                    <a:ext uri="{9D8B030D-6E8A-4147-A177-3AD203B41FA5}">
                      <a16:colId xmlns:a16="http://schemas.microsoft.com/office/drawing/2014/main" val="20007"/>
                    </a:ext>
                  </a:extLst>
                </a:gridCol>
                <a:gridCol w="241804">
                  <a:extLst>
                    <a:ext uri="{9D8B030D-6E8A-4147-A177-3AD203B41FA5}">
                      <a16:colId xmlns:a16="http://schemas.microsoft.com/office/drawing/2014/main" val="20008"/>
                    </a:ext>
                  </a:extLst>
                </a:gridCol>
                <a:gridCol w="241804">
                  <a:extLst>
                    <a:ext uri="{9D8B030D-6E8A-4147-A177-3AD203B41FA5}">
                      <a16:colId xmlns:a16="http://schemas.microsoft.com/office/drawing/2014/main" val="20009"/>
                    </a:ext>
                  </a:extLst>
                </a:gridCol>
              </a:tblGrid>
              <a:tr h="742931">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COMPONENT</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SUBSYSTEM ROLE</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ELECTRICAL SPECIFICATIONS</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SIGNAL TYPE</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0"/>
                  </a:ext>
                </a:extLst>
              </a:tr>
              <a:tr h="481893">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LDR (Photoresistor)</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Daylight detection</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Dark R &gt; 1\,\text{M}\Omega; Light R \approx 1\text{--}10\,\text{k}\Omega</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050" kern="100" spc="21" dirty="0">
                          <a:solidFill>
                            <a:srgbClr val="9A9A9A"/>
                          </a:solidFill>
                          <a:latin typeface="Martian Mono" pitchFamily="34" charset="0"/>
                          <a:ea typeface="Martian Mono" pitchFamily="34" charset="-122"/>
                          <a:cs typeface="Martian Mono" pitchFamily="34" charset="-120"/>
                        </a:rPr>
                        <a:t>Analog voltage</a:t>
                      </a:r>
                      <a:endParaRPr lang="en-US" sz="105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1"/>
                  </a:ext>
                </a:extLst>
              </a:tr>
              <a:tr h="742931">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PIR HC-SR501</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Occupancy tracking</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3.3V logic high; 3–7 m range; 120° aperture</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050" kern="100" spc="21" dirty="0">
                          <a:solidFill>
                            <a:srgbClr val="9A9A9A"/>
                          </a:solidFill>
                          <a:latin typeface="Martian Mono" pitchFamily="34" charset="0"/>
                          <a:ea typeface="Martian Mono" pitchFamily="34" charset="-122"/>
                          <a:cs typeface="Martian Mono" pitchFamily="34" charset="-120"/>
                        </a:rPr>
                        <a:t>Digital TTL</a:t>
                      </a:r>
                      <a:endParaRPr lang="en-US" sz="105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2"/>
                  </a:ext>
                </a:extLst>
              </a:tr>
              <a:tr h="742931">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Arduino Uno (MCU)</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Threshold evaluation</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ATmega328P, 16 MHz, 10-bit ADC, 6 PWM pins</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050" kern="100" spc="21" dirty="0">
                          <a:solidFill>
                            <a:srgbClr val="9A9A9A"/>
                          </a:solidFill>
                          <a:latin typeface="Martian Mono" pitchFamily="34" charset="0"/>
                          <a:ea typeface="Martian Mono" pitchFamily="34" charset="-122"/>
                          <a:cs typeface="Martian Mono" pitchFamily="34" charset="-120"/>
                        </a:rPr>
                        <a:t>Digital / PWM</a:t>
                      </a:r>
                      <a:endParaRPr lang="en-US" sz="105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3"/>
                  </a:ext>
                </a:extLst>
              </a:tr>
              <a:tr h="742931">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NPN / 5V Relay</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Load switching</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2N2222 transistor or 10A/250VAC SPDT relay</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050" kern="100" spc="21" dirty="0">
                          <a:solidFill>
                            <a:srgbClr val="9A9A9A"/>
                          </a:solidFill>
                          <a:latin typeface="Martian Mono" pitchFamily="34" charset="0"/>
                          <a:ea typeface="Martian Mono" pitchFamily="34" charset="-122"/>
                          <a:cs typeface="Martian Mono" pitchFamily="34" charset="-120"/>
                        </a:rPr>
                        <a:t>Switched DC</a:t>
                      </a:r>
                      <a:endParaRPr lang="en-US" sz="105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4"/>
                  </a:ext>
                </a:extLst>
              </a:tr>
              <a:tr h="736582">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High-Power LED</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Luminaire output</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1W–10W LED with current-limiting series resistor</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lgn="l">
                        <a:buNone/>
                      </a:pPr>
                      <a:r>
                        <a:rPr lang="en-US" sz="1050" kern="100" spc="21" dirty="0">
                          <a:solidFill>
                            <a:srgbClr val="9A9A9A"/>
                          </a:solidFill>
                          <a:latin typeface="Martian Mono" pitchFamily="34" charset="0"/>
                          <a:ea typeface="Martian Mono" pitchFamily="34" charset="-122"/>
                          <a:cs typeface="Martian Mono" pitchFamily="34" charset="-120"/>
                        </a:rPr>
                        <a:t>PWM brightness</a:t>
                      </a:r>
                      <a:endParaRPr lang="en-US" sz="105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buNone/>
                      </a:pP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58786" y="431800"/>
            <a:ext cx="3263620" cy="311944"/>
          </a:xfrm>
          <a:prstGeom prst="rect">
            <a:avLst/>
          </a:prstGeom>
          <a:solidFill>
            <a:srgbClr val="F5F547"/>
          </a:solidFill>
          <a:ln/>
        </p:spPr>
      </p:sp>
      <p:sp>
        <p:nvSpPr>
          <p:cNvPr id="3" name="Text 1"/>
          <p:cNvSpPr/>
          <p:nvPr/>
        </p:nvSpPr>
        <p:spPr>
          <a:xfrm>
            <a:off x="685783" y="506222"/>
            <a:ext cx="3593812"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STATE MACHINE &amp; FLOWCHART</a:t>
            </a:r>
            <a:endParaRPr lang="en-US" sz="1100" dirty="0"/>
          </a:p>
        </p:txBody>
      </p:sp>
      <p:sp>
        <p:nvSpPr>
          <p:cNvPr id="4" name="Text 2"/>
          <p:cNvSpPr/>
          <p:nvPr/>
        </p:nvSpPr>
        <p:spPr>
          <a:xfrm>
            <a:off x="558786" y="918432"/>
            <a:ext cx="11074123" cy="376932"/>
          </a:xfrm>
          <a:prstGeom prst="rect">
            <a:avLst/>
          </a:prstGeom>
          <a:noFill/>
          <a:ln/>
        </p:spPr>
        <p:txBody>
          <a:bodyPr wrap="none" lIns="0" tIns="0" rIns="0" bIns="0" rtlCol="0" anchor="t"/>
          <a:lstStyle/>
          <a:p>
            <a:pPr marL="0" indent="0" algn="l">
              <a:lnSpc>
                <a:spcPct val="88000"/>
              </a:lnSpc>
              <a:buNone/>
            </a:pPr>
            <a:r>
              <a:rPr lang="en-US" sz="2800" kern="100" spc="-56" dirty="0">
                <a:solidFill>
                  <a:srgbClr val="FEFEFE"/>
                </a:solidFill>
                <a:latin typeface="Instrument Sans Medium" pitchFamily="34" charset="0"/>
                <a:ea typeface="Instrument Sans Medium" pitchFamily="34" charset="-122"/>
                <a:cs typeface="Instrument Sans Medium" pitchFamily="34" charset="-120"/>
              </a:rPr>
              <a:t>Control logic flowchart and transition loop</a:t>
            </a:r>
            <a:endParaRPr lang="en-US" sz="2800" dirty="0"/>
          </a:p>
        </p:txBody>
      </p:sp>
      <p:sp>
        <p:nvSpPr>
          <p:cNvPr id="5" name="Text 3"/>
          <p:cNvSpPr/>
          <p:nvPr/>
        </p:nvSpPr>
        <p:spPr>
          <a:xfrm>
            <a:off x="558786" y="1450082"/>
            <a:ext cx="11632909" cy="200025"/>
          </a:xfrm>
          <a:prstGeom prst="rect">
            <a:avLst/>
          </a:prstGeom>
          <a:noFill/>
          <a:ln/>
        </p:spPr>
        <p:txBody>
          <a:bodyPr wrap="none" lIns="0" tIns="0" rIns="0" bIns="0" rtlCol="0" anchor="t"/>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A three-state finite state machine continuously evaluates inputs in a non-blocking loop.</a:t>
            </a:r>
            <a:endParaRPr lang="en-US" sz="1050" dirty="0"/>
          </a:p>
        </p:txBody>
      </p:sp>
      <p:sp>
        <p:nvSpPr>
          <p:cNvPr id="6" name="Shape 4"/>
          <p:cNvSpPr/>
          <p:nvPr/>
        </p:nvSpPr>
        <p:spPr>
          <a:xfrm>
            <a:off x="558786" y="1800126"/>
            <a:ext cx="2654234" cy="2070795"/>
          </a:xfrm>
          <a:prstGeom prst="rect">
            <a:avLst/>
          </a:prstGeom>
          <a:solidFill>
            <a:srgbClr val="242424"/>
          </a:solidFill>
          <a:ln/>
        </p:spPr>
      </p:sp>
      <p:sp>
        <p:nvSpPr>
          <p:cNvPr id="7" name="Text 5"/>
          <p:cNvSpPr/>
          <p:nvPr/>
        </p:nvSpPr>
        <p:spPr>
          <a:xfrm>
            <a:off x="736582" y="1977926"/>
            <a:ext cx="812978" cy="177800"/>
          </a:xfrm>
          <a:prstGeom prst="rect">
            <a:avLst/>
          </a:prstGeom>
          <a:noFill/>
          <a:ln/>
        </p:spPr>
        <p:txBody>
          <a:bodyPr wrap="none" lIns="0" tIns="0" rIns="0" bIns="0" rtlCol="0" anchor="t"/>
          <a:lstStyle/>
          <a:p>
            <a:pPr marL="0" indent="0" algn="l">
              <a:lnSpc>
                <a:spcPct val="83000"/>
              </a:lnSpc>
              <a:buNone/>
            </a:pPr>
            <a:r>
              <a:rPr lang="en-US" sz="1400" dirty="0">
                <a:solidFill>
                  <a:srgbClr val="F5F547"/>
                </a:solidFill>
                <a:latin typeface="Open Sans SemiBold" pitchFamily="34" charset="0"/>
                <a:ea typeface="Open Sans SemiBold" pitchFamily="34" charset="-122"/>
                <a:cs typeface="Open Sans SemiBold" pitchFamily="34" charset="-120"/>
              </a:rPr>
              <a:t>01</a:t>
            </a:r>
            <a:endParaRPr lang="en-US" sz="1400" dirty="0"/>
          </a:p>
        </p:txBody>
      </p:sp>
      <p:sp>
        <p:nvSpPr>
          <p:cNvPr id="8" name="Shape 6"/>
          <p:cNvSpPr/>
          <p:nvPr/>
        </p:nvSpPr>
        <p:spPr>
          <a:xfrm>
            <a:off x="558786" y="2226866"/>
            <a:ext cx="2654234" cy="19050"/>
          </a:xfrm>
          <a:prstGeom prst="rect">
            <a:avLst/>
          </a:prstGeom>
          <a:solidFill>
            <a:srgbClr val="F5F547"/>
          </a:solidFill>
          <a:ln/>
        </p:spPr>
      </p:sp>
      <p:sp>
        <p:nvSpPr>
          <p:cNvPr id="9" name="Text 7"/>
          <p:cNvSpPr/>
          <p:nvPr/>
        </p:nvSpPr>
        <p:spPr>
          <a:xfrm>
            <a:off x="736582" y="2358291"/>
            <a:ext cx="2476438" cy="186630"/>
          </a:xfrm>
          <a:prstGeom prst="rect">
            <a:avLst/>
          </a:prstGeom>
          <a:noFill/>
          <a:ln/>
        </p:spPr>
        <p:txBody>
          <a:bodyPr wrap="none" lIns="0" tIns="0" rIns="0" bIns="0" rtlCol="0" anchor="t"/>
          <a:lstStyle/>
          <a:p>
            <a:pPr marL="0" indent="0" algn="l">
              <a:lnSpc>
                <a:spcPct val="117000"/>
              </a:lnSpc>
              <a:buNone/>
            </a:pPr>
            <a:r>
              <a:rPr lang="en-US" sz="1050" kern="100" spc="126" dirty="0">
                <a:solidFill>
                  <a:srgbClr val="9A9A9A"/>
                </a:solidFill>
                <a:latin typeface="Martian Mono Medium" pitchFamily="34" charset="0"/>
                <a:ea typeface="Martian Mono Medium" pitchFamily="34" charset="-122"/>
                <a:cs typeface="Martian Mono Medium" pitchFamily="34" charset="-120"/>
              </a:rPr>
              <a:t>STEP 01</a:t>
            </a:r>
            <a:endParaRPr lang="en-US" sz="1050" dirty="0"/>
          </a:p>
        </p:txBody>
      </p:sp>
      <p:sp>
        <p:nvSpPr>
          <p:cNvPr id="10" name="Text 8"/>
          <p:cNvSpPr/>
          <p:nvPr/>
        </p:nvSpPr>
        <p:spPr>
          <a:xfrm>
            <a:off x="736582" y="2621994"/>
            <a:ext cx="2298642"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Sample LDR</a:t>
            </a:r>
            <a:endParaRPr lang="en-US" sz="1550" dirty="0"/>
          </a:p>
        </p:txBody>
      </p:sp>
      <p:sp>
        <p:nvSpPr>
          <p:cNvPr id="11" name="Text 9"/>
          <p:cNvSpPr/>
          <p:nvPr/>
        </p:nvSpPr>
        <p:spPr>
          <a:xfrm>
            <a:off x="736582" y="3004939"/>
            <a:ext cx="2298642" cy="458391"/>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Measure voltage </a:t>
            </a:r>
            <a:r>
              <a:rPr lang="en-US" sz="1150" i="1" dirty="0">
                <a:solidFill>
                  <a:srgbClr val="BFBFBF"/>
                </a:solidFill>
                <a:latin typeface="Consolas" pitchFamily="34" charset="0"/>
                <a:ea typeface="Consolas" pitchFamily="34" charset="-122"/>
                <a:cs typeface="Consolas" pitchFamily="34" charset="-120"/>
              </a:rPr>
              <a:t>   </a:t>
            </a:r>
            <a:r>
              <a:rPr lang="en-US" sz="1200" dirty="0">
                <a:solidFill>
                  <a:srgbClr val="BFBFBF"/>
                </a:solidFill>
                <a:latin typeface="Open Sans" pitchFamily="34" charset="0"/>
                <a:ea typeface="Open Sans" pitchFamily="34" charset="-122"/>
                <a:cs typeface="Open Sans" pitchFamily="34" charset="-120"/>
              </a:rPr>
              <a:t> across the potential divider network.</a:t>
            </a:r>
            <a:endParaRPr lang="en-US" sz="1200" dirty="0"/>
          </a:p>
        </p:txBody>
      </p:sp>
      <p:pic>
        <p:nvPicPr>
          <p:cNvPr id="12" name="Image 0" descr="preencoded.png"/>
          <p:cNvPicPr>
            <a:picLocks noChangeAspect="1"/>
          </p:cNvPicPr>
          <p:nvPr/>
        </p:nvPicPr>
        <p:blipFill>
          <a:blip r:embed="rId3"/>
          <a:stretch>
            <a:fillRect/>
          </a:stretch>
        </p:blipFill>
        <p:spPr>
          <a:xfrm>
            <a:off x="1950691" y="3036689"/>
            <a:ext cx="315706" cy="191393"/>
          </a:xfrm>
          <a:prstGeom prst="rect">
            <a:avLst/>
          </a:prstGeom>
        </p:spPr>
      </p:pic>
      <p:sp>
        <p:nvSpPr>
          <p:cNvPr id="13" name="Shape 10"/>
          <p:cNvSpPr/>
          <p:nvPr/>
        </p:nvSpPr>
        <p:spPr>
          <a:xfrm>
            <a:off x="3365416" y="1800126"/>
            <a:ext cx="2654234" cy="2070795"/>
          </a:xfrm>
          <a:prstGeom prst="rect">
            <a:avLst/>
          </a:prstGeom>
          <a:solidFill>
            <a:srgbClr val="242424"/>
          </a:solidFill>
          <a:ln/>
        </p:spPr>
      </p:sp>
      <p:sp>
        <p:nvSpPr>
          <p:cNvPr id="14" name="Text 11"/>
          <p:cNvSpPr/>
          <p:nvPr/>
        </p:nvSpPr>
        <p:spPr>
          <a:xfrm>
            <a:off x="3543211" y="1977926"/>
            <a:ext cx="812978" cy="177800"/>
          </a:xfrm>
          <a:prstGeom prst="rect">
            <a:avLst/>
          </a:prstGeom>
          <a:noFill/>
          <a:ln/>
        </p:spPr>
        <p:txBody>
          <a:bodyPr wrap="none" lIns="0" tIns="0" rIns="0" bIns="0" rtlCol="0" anchor="t"/>
          <a:lstStyle/>
          <a:p>
            <a:pPr marL="0" indent="0" algn="l">
              <a:lnSpc>
                <a:spcPct val="83000"/>
              </a:lnSpc>
              <a:buNone/>
            </a:pPr>
            <a:r>
              <a:rPr lang="en-US" sz="1400" dirty="0">
                <a:solidFill>
                  <a:srgbClr val="F5F547"/>
                </a:solidFill>
                <a:latin typeface="Open Sans SemiBold" pitchFamily="34" charset="0"/>
                <a:ea typeface="Open Sans SemiBold" pitchFamily="34" charset="-122"/>
                <a:cs typeface="Open Sans SemiBold" pitchFamily="34" charset="-120"/>
              </a:rPr>
              <a:t>02</a:t>
            </a:r>
            <a:endParaRPr lang="en-US" sz="1400" dirty="0"/>
          </a:p>
        </p:txBody>
      </p:sp>
      <p:sp>
        <p:nvSpPr>
          <p:cNvPr id="15" name="Shape 12"/>
          <p:cNvSpPr/>
          <p:nvPr/>
        </p:nvSpPr>
        <p:spPr>
          <a:xfrm>
            <a:off x="3365416" y="2226866"/>
            <a:ext cx="2654234" cy="19050"/>
          </a:xfrm>
          <a:prstGeom prst="rect">
            <a:avLst/>
          </a:prstGeom>
          <a:solidFill>
            <a:srgbClr val="F5F547"/>
          </a:solidFill>
          <a:ln/>
        </p:spPr>
      </p:sp>
      <p:sp>
        <p:nvSpPr>
          <p:cNvPr id="16" name="Text 13"/>
          <p:cNvSpPr/>
          <p:nvPr/>
        </p:nvSpPr>
        <p:spPr>
          <a:xfrm>
            <a:off x="3543211" y="2358291"/>
            <a:ext cx="2476438" cy="186630"/>
          </a:xfrm>
          <a:prstGeom prst="rect">
            <a:avLst/>
          </a:prstGeom>
          <a:noFill/>
          <a:ln/>
        </p:spPr>
        <p:txBody>
          <a:bodyPr wrap="none" lIns="0" tIns="0" rIns="0" bIns="0" rtlCol="0" anchor="t"/>
          <a:lstStyle/>
          <a:p>
            <a:pPr marL="0" indent="0" algn="l">
              <a:lnSpc>
                <a:spcPct val="117000"/>
              </a:lnSpc>
              <a:buNone/>
            </a:pPr>
            <a:r>
              <a:rPr lang="en-US" sz="1050" kern="100" spc="126" dirty="0">
                <a:solidFill>
                  <a:srgbClr val="9A9A9A"/>
                </a:solidFill>
                <a:latin typeface="Martian Mono Medium" pitchFamily="34" charset="0"/>
                <a:ea typeface="Martian Mono Medium" pitchFamily="34" charset="-122"/>
                <a:cs typeface="Martian Mono Medium" pitchFamily="34" charset="-120"/>
              </a:rPr>
              <a:t>DECISION 01</a:t>
            </a:r>
            <a:endParaRPr lang="en-US" sz="1050" dirty="0"/>
          </a:p>
        </p:txBody>
      </p:sp>
      <p:sp>
        <p:nvSpPr>
          <p:cNvPr id="17" name="Text 14"/>
          <p:cNvSpPr/>
          <p:nvPr/>
        </p:nvSpPr>
        <p:spPr>
          <a:xfrm>
            <a:off x="3543211" y="2621994"/>
            <a:ext cx="2298642"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Is it Dark?</a:t>
            </a:r>
            <a:endParaRPr lang="en-US" sz="1550" dirty="0"/>
          </a:p>
        </p:txBody>
      </p:sp>
      <p:sp>
        <p:nvSpPr>
          <p:cNvPr id="18" name="Text 15"/>
          <p:cNvSpPr/>
          <p:nvPr/>
        </p:nvSpPr>
        <p:spPr>
          <a:xfrm>
            <a:off x="3543211" y="3004939"/>
            <a:ext cx="2298642" cy="686991"/>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If </a:t>
            </a:r>
            <a:r>
              <a:rPr lang="en-US" sz="1150" i="1" dirty="0">
                <a:solidFill>
                  <a:srgbClr val="BFBFBF"/>
                </a:solidFill>
                <a:latin typeface="Consolas" pitchFamily="34" charset="0"/>
                <a:ea typeface="Consolas" pitchFamily="34" charset="-122"/>
                <a:cs typeface="Consolas" pitchFamily="34" charset="-120"/>
              </a:rPr>
              <a:t>      </a:t>
            </a:r>
            <a:r>
              <a:rPr lang="en-US" sz="1200" dirty="0">
                <a:solidFill>
                  <a:srgbClr val="BFBFBF"/>
                </a:solidFill>
                <a:latin typeface="Open Sans" pitchFamily="34" charset="0"/>
                <a:ea typeface="Open Sans" pitchFamily="34" charset="-122"/>
                <a:cs typeface="Open Sans" pitchFamily="34" charset="-120"/>
              </a:rPr>
              <a:t>, ambient is daylight: execute </a:t>
            </a:r>
            <a:r>
              <a:rPr lang="en-US" sz="1200" b="1" dirty="0">
                <a:solidFill>
                  <a:srgbClr val="BFBFBF"/>
                </a:solidFill>
                <a:latin typeface="Open Sans Bold" pitchFamily="34" charset="0"/>
                <a:ea typeface="Open Sans Bold" pitchFamily="34" charset="-122"/>
                <a:cs typeface="Open Sans Bold" pitchFamily="34" charset="-120"/>
              </a:rPr>
              <a:t>State 0 (Lamp OFF)</a:t>
            </a:r>
            <a:r>
              <a:rPr lang="en-US" sz="1200" dirty="0">
                <a:solidFill>
                  <a:srgbClr val="BFBFBF"/>
                </a:solidFill>
                <a:latin typeface="Open Sans" pitchFamily="34" charset="0"/>
                <a:ea typeface="Open Sans" pitchFamily="34" charset="-122"/>
                <a:cs typeface="Open Sans" pitchFamily="34" charset="-120"/>
              </a:rPr>
              <a:t> and loop back.</a:t>
            </a:r>
            <a:endParaRPr lang="en-US" sz="1200" dirty="0"/>
          </a:p>
        </p:txBody>
      </p:sp>
      <p:pic>
        <p:nvPicPr>
          <p:cNvPr id="19" name="Image 1" descr="preencoded.png"/>
          <p:cNvPicPr>
            <a:picLocks noChangeAspect="1"/>
          </p:cNvPicPr>
          <p:nvPr/>
        </p:nvPicPr>
        <p:blipFill>
          <a:blip r:embed="rId4"/>
          <a:stretch>
            <a:fillRect/>
          </a:stretch>
        </p:blipFill>
        <p:spPr>
          <a:xfrm>
            <a:off x="3676657" y="3036689"/>
            <a:ext cx="727354" cy="191393"/>
          </a:xfrm>
          <a:prstGeom prst="rect">
            <a:avLst/>
          </a:prstGeom>
        </p:spPr>
      </p:pic>
      <p:sp>
        <p:nvSpPr>
          <p:cNvPr id="20" name="Shape 16"/>
          <p:cNvSpPr/>
          <p:nvPr/>
        </p:nvSpPr>
        <p:spPr>
          <a:xfrm>
            <a:off x="6172046" y="1800126"/>
            <a:ext cx="2654234" cy="2070795"/>
          </a:xfrm>
          <a:prstGeom prst="rect">
            <a:avLst/>
          </a:prstGeom>
          <a:solidFill>
            <a:srgbClr val="242424"/>
          </a:solidFill>
          <a:ln/>
        </p:spPr>
      </p:sp>
      <p:sp>
        <p:nvSpPr>
          <p:cNvPr id="21" name="Text 17"/>
          <p:cNvSpPr/>
          <p:nvPr/>
        </p:nvSpPr>
        <p:spPr>
          <a:xfrm>
            <a:off x="6349841" y="1977926"/>
            <a:ext cx="812978" cy="177800"/>
          </a:xfrm>
          <a:prstGeom prst="rect">
            <a:avLst/>
          </a:prstGeom>
          <a:noFill/>
          <a:ln/>
        </p:spPr>
        <p:txBody>
          <a:bodyPr wrap="none" lIns="0" tIns="0" rIns="0" bIns="0" rtlCol="0" anchor="t"/>
          <a:lstStyle/>
          <a:p>
            <a:pPr marL="0" indent="0" algn="l">
              <a:lnSpc>
                <a:spcPct val="83000"/>
              </a:lnSpc>
              <a:buNone/>
            </a:pPr>
            <a:r>
              <a:rPr lang="en-US" sz="1400" dirty="0">
                <a:solidFill>
                  <a:srgbClr val="F5F547"/>
                </a:solidFill>
                <a:latin typeface="Open Sans SemiBold" pitchFamily="34" charset="0"/>
                <a:ea typeface="Open Sans SemiBold" pitchFamily="34" charset="-122"/>
                <a:cs typeface="Open Sans SemiBold" pitchFamily="34" charset="-120"/>
              </a:rPr>
              <a:t>03</a:t>
            </a:r>
            <a:endParaRPr lang="en-US" sz="1400" dirty="0"/>
          </a:p>
        </p:txBody>
      </p:sp>
      <p:sp>
        <p:nvSpPr>
          <p:cNvPr id="22" name="Shape 18"/>
          <p:cNvSpPr/>
          <p:nvPr/>
        </p:nvSpPr>
        <p:spPr>
          <a:xfrm>
            <a:off x="6172046" y="2226866"/>
            <a:ext cx="2654234" cy="19050"/>
          </a:xfrm>
          <a:prstGeom prst="rect">
            <a:avLst/>
          </a:prstGeom>
          <a:solidFill>
            <a:srgbClr val="F5F547"/>
          </a:solidFill>
          <a:ln/>
        </p:spPr>
      </p:sp>
      <p:sp>
        <p:nvSpPr>
          <p:cNvPr id="23" name="Text 19"/>
          <p:cNvSpPr/>
          <p:nvPr/>
        </p:nvSpPr>
        <p:spPr>
          <a:xfrm>
            <a:off x="6349841" y="2358291"/>
            <a:ext cx="2476438" cy="186630"/>
          </a:xfrm>
          <a:prstGeom prst="rect">
            <a:avLst/>
          </a:prstGeom>
          <a:noFill/>
          <a:ln/>
        </p:spPr>
        <p:txBody>
          <a:bodyPr wrap="none" lIns="0" tIns="0" rIns="0" bIns="0" rtlCol="0" anchor="t"/>
          <a:lstStyle/>
          <a:p>
            <a:pPr marL="0" indent="0" algn="l">
              <a:lnSpc>
                <a:spcPct val="117000"/>
              </a:lnSpc>
              <a:buNone/>
            </a:pPr>
            <a:r>
              <a:rPr lang="en-US" sz="1050" kern="100" spc="126" dirty="0">
                <a:solidFill>
                  <a:srgbClr val="9A9A9A"/>
                </a:solidFill>
                <a:latin typeface="Martian Mono Medium" pitchFamily="34" charset="0"/>
                <a:ea typeface="Martian Mono Medium" pitchFamily="34" charset="-122"/>
                <a:cs typeface="Martian Mono Medium" pitchFamily="34" charset="-120"/>
              </a:rPr>
              <a:t>DECISION 02</a:t>
            </a:r>
            <a:endParaRPr lang="en-US" sz="1050" dirty="0"/>
          </a:p>
        </p:txBody>
      </p:sp>
      <p:sp>
        <p:nvSpPr>
          <p:cNvPr id="24" name="Text 20"/>
          <p:cNvSpPr/>
          <p:nvPr/>
        </p:nvSpPr>
        <p:spPr>
          <a:xfrm>
            <a:off x="6349841" y="2621994"/>
            <a:ext cx="2298642"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Motion Sensed?</a:t>
            </a:r>
            <a:endParaRPr lang="en-US" sz="1550" dirty="0"/>
          </a:p>
        </p:txBody>
      </p:sp>
      <p:sp>
        <p:nvSpPr>
          <p:cNvPr id="25" name="Text 21"/>
          <p:cNvSpPr/>
          <p:nvPr/>
        </p:nvSpPr>
        <p:spPr>
          <a:xfrm>
            <a:off x="6349841" y="3004939"/>
            <a:ext cx="2298642" cy="686991"/>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If dark, read PIR pin </a:t>
            </a:r>
            <a:r>
              <a:rPr lang="en-US" sz="1150" i="1" dirty="0">
                <a:solidFill>
                  <a:srgbClr val="BFBFBF"/>
                </a:solidFill>
                <a:latin typeface="Consolas" pitchFamily="34" charset="0"/>
                <a:ea typeface="Consolas" pitchFamily="34" charset="-122"/>
                <a:cs typeface="Consolas" pitchFamily="34" charset="-120"/>
              </a:rPr>
              <a:t>  </a:t>
            </a:r>
            <a:r>
              <a:rPr lang="en-US" sz="1200" dirty="0">
                <a:solidFill>
                  <a:srgbClr val="BFBFBF"/>
                </a:solidFill>
                <a:latin typeface="Open Sans" pitchFamily="34" charset="0"/>
                <a:ea typeface="Open Sans" pitchFamily="34" charset="-122"/>
                <a:cs typeface="Open Sans" pitchFamily="34" charset="-120"/>
              </a:rPr>
              <a:t>. Check if moving thermal mass is within range.</a:t>
            </a:r>
            <a:endParaRPr lang="en-US" sz="1200" dirty="0"/>
          </a:p>
        </p:txBody>
      </p:sp>
      <p:pic>
        <p:nvPicPr>
          <p:cNvPr id="26" name="Image 2" descr="preencoded.png"/>
          <p:cNvPicPr>
            <a:picLocks noChangeAspect="1"/>
          </p:cNvPicPr>
          <p:nvPr/>
        </p:nvPicPr>
        <p:blipFill>
          <a:blip r:embed="rId5"/>
          <a:stretch>
            <a:fillRect/>
          </a:stretch>
        </p:blipFill>
        <p:spPr>
          <a:xfrm>
            <a:off x="7780639" y="3036689"/>
            <a:ext cx="160532" cy="191393"/>
          </a:xfrm>
          <a:prstGeom prst="rect">
            <a:avLst/>
          </a:prstGeom>
        </p:spPr>
      </p:pic>
      <p:sp>
        <p:nvSpPr>
          <p:cNvPr id="27" name="Shape 22"/>
          <p:cNvSpPr/>
          <p:nvPr/>
        </p:nvSpPr>
        <p:spPr>
          <a:xfrm>
            <a:off x="8978675" y="1800126"/>
            <a:ext cx="2654234" cy="2070795"/>
          </a:xfrm>
          <a:prstGeom prst="rect">
            <a:avLst/>
          </a:prstGeom>
          <a:solidFill>
            <a:srgbClr val="242424"/>
          </a:solidFill>
          <a:ln/>
        </p:spPr>
      </p:sp>
      <p:sp>
        <p:nvSpPr>
          <p:cNvPr id="28" name="Text 23"/>
          <p:cNvSpPr/>
          <p:nvPr/>
        </p:nvSpPr>
        <p:spPr>
          <a:xfrm>
            <a:off x="9156471" y="1977926"/>
            <a:ext cx="812978" cy="177800"/>
          </a:xfrm>
          <a:prstGeom prst="rect">
            <a:avLst/>
          </a:prstGeom>
          <a:noFill/>
          <a:ln/>
        </p:spPr>
        <p:txBody>
          <a:bodyPr wrap="none" lIns="0" tIns="0" rIns="0" bIns="0" rtlCol="0" anchor="t"/>
          <a:lstStyle/>
          <a:p>
            <a:pPr marL="0" indent="0" algn="l">
              <a:lnSpc>
                <a:spcPct val="83000"/>
              </a:lnSpc>
              <a:buNone/>
            </a:pPr>
            <a:r>
              <a:rPr lang="en-US" sz="1400" dirty="0">
                <a:solidFill>
                  <a:srgbClr val="F5F547"/>
                </a:solidFill>
                <a:latin typeface="Open Sans SemiBold" pitchFamily="34" charset="0"/>
                <a:ea typeface="Open Sans SemiBold" pitchFamily="34" charset="-122"/>
                <a:cs typeface="Open Sans SemiBold" pitchFamily="34" charset="-120"/>
              </a:rPr>
              <a:t>04</a:t>
            </a:r>
            <a:endParaRPr lang="en-US" sz="1400" dirty="0"/>
          </a:p>
        </p:txBody>
      </p:sp>
      <p:sp>
        <p:nvSpPr>
          <p:cNvPr id="29" name="Shape 24"/>
          <p:cNvSpPr/>
          <p:nvPr/>
        </p:nvSpPr>
        <p:spPr>
          <a:xfrm>
            <a:off x="8978675" y="2226866"/>
            <a:ext cx="2654234" cy="19050"/>
          </a:xfrm>
          <a:prstGeom prst="rect">
            <a:avLst/>
          </a:prstGeom>
          <a:solidFill>
            <a:srgbClr val="F5F547"/>
          </a:solidFill>
          <a:ln/>
        </p:spPr>
      </p:sp>
      <p:sp>
        <p:nvSpPr>
          <p:cNvPr id="30" name="Text 25"/>
          <p:cNvSpPr/>
          <p:nvPr/>
        </p:nvSpPr>
        <p:spPr>
          <a:xfrm>
            <a:off x="9156471" y="2358291"/>
            <a:ext cx="2476438" cy="186630"/>
          </a:xfrm>
          <a:prstGeom prst="rect">
            <a:avLst/>
          </a:prstGeom>
          <a:noFill/>
          <a:ln/>
        </p:spPr>
        <p:txBody>
          <a:bodyPr wrap="none" lIns="0" tIns="0" rIns="0" bIns="0" rtlCol="0" anchor="t"/>
          <a:lstStyle/>
          <a:p>
            <a:pPr marL="0" indent="0" algn="l">
              <a:lnSpc>
                <a:spcPct val="117000"/>
              </a:lnSpc>
              <a:buNone/>
            </a:pPr>
            <a:r>
              <a:rPr lang="en-US" sz="1050" kern="100" spc="126" dirty="0">
                <a:solidFill>
                  <a:srgbClr val="9A9A9A"/>
                </a:solidFill>
                <a:latin typeface="Martian Mono Medium" pitchFamily="34" charset="0"/>
                <a:ea typeface="Martian Mono Medium" pitchFamily="34" charset="-122"/>
                <a:cs typeface="Martian Mono Medium" pitchFamily="34" charset="-120"/>
              </a:rPr>
              <a:t>DRIVE STATE</a:t>
            </a:r>
            <a:endParaRPr lang="en-US" sz="1050" dirty="0"/>
          </a:p>
        </p:txBody>
      </p:sp>
      <p:sp>
        <p:nvSpPr>
          <p:cNvPr id="31" name="Text 26"/>
          <p:cNvSpPr/>
          <p:nvPr/>
        </p:nvSpPr>
        <p:spPr>
          <a:xfrm>
            <a:off x="9156471" y="2621994"/>
            <a:ext cx="2298642"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Drive Luminaire</a:t>
            </a:r>
            <a:endParaRPr lang="en-US" sz="1550" dirty="0"/>
          </a:p>
        </p:txBody>
      </p:sp>
      <p:sp>
        <p:nvSpPr>
          <p:cNvPr id="32" name="Text 27"/>
          <p:cNvSpPr/>
          <p:nvPr/>
        </p:nvSpPr>
        <p:spPr>
          <a:xfrm>
            <a:off x="9156471" y="3004939"/>
            <a:ext cx="2298642" cy="688181"/>
          </a:xfrm>
          <a:prstGeom prst="rect">
            <a:avLst/>
          </a:prstGeom>
          <a:noFill/>
          <a:ln/>
        </p:spPr>
        <p:txBody>
          <a:bodyPr wrap="square" lIns="0" tIns="0" rIns="0" bIns="0" rtlCol="0" anchor="t">
            <a:normAutofit/>
          </a:bodyPr>
          <a:lstStyle/>
          <a:p>
            <a:pPr marL="0" indent="0" algn="l">
              <a:lnSpc>
                <a:spcPct val="125000"/>
              </a:lnSpc>
              <a:buNone/>
            </a:pPr>
            <a:r>
              <a:rPr lang="en-US" sz="1150" i="1" dirty="0">
                <a:solidFill>
                  <a:srgbClr val="BFBFBF"/>
                </a:solidFill>
                <a:latin typeface="Consolas" pitchFamily="34" charset="0"/>
                <a:ea typeface="Consolas" pitchFamily="34" charset="-122"/>
                <a:cs typeface="Consolas" pitchFamily="34" charset="-120"/>
              </a:rPr>
              <a:t>   </a:t>
            </a:r>
            <a:r>
              <a:rPr lang="en-US" sz="1200" dirty="0">
                <a:solidFill>
                  <a:srgbClr val="BFBFBF"/>
                </a:solidFill>
                <a:latin typeface="Open Sans" pitchFamily="34" charset="0"/>
                <a:ea typeface="Open Sans" pitchFamily="34" charset="-122"/>
                <a:cs typeface="Open Sans" pitchFamily="34" charset="-120"/>
              </a:rPr>
              <a:t> triggers </a:t>
            </a:r>
            <a:r>
              <a:rPr lang="en-US" sz="1200" b="1" dirty="0">
                <a:solidFill>
                  <a:srgbClr val="BFBFBF"/>
                </a:solidFill>
                <a:latin typeface="Open Sans Bold" pitchFamily="34" charset="0"/>
                <a:ea typeface="Open Sans Bold" pitchFamily="34" charset="-122"/>
                <a:cs typeface="Open Sans Bold" pitchFamily="34" charset="-120"/>
              </a:rPr>
              <a:t>State 2 (FULL 100%)</a:t>
            </a:r>
            <a:r>
              <a:rPr lang="en-US" sz="1200" dirty="0">
                <a:solidFill>
                  <a:srgbClr val="BFBFBF"/>
                </a:solidFill>
                <a:latin typeface="Open Sans" pitchFamily="34" charset="0"/>
                <a:ea typeface="Open Sans" pitchFamily="34" charset="-122"/>
                <a:cs typeface="Open Sans" pitchFamily="34" charset="-120"/>
              </a:rPr>
              <a:t>; </a:t>
            </a:r>
            <a:r>
              <a:rPr lang="en-US" sz="1150" i="1" dirty="0">
                <a:solidFill>
                  <a:srgbClr val="BFBFBF"/>
                </a:solidFill>
                <a:latin typeface="Consolas" pitchFamily="34" charset="0"/>
                <a:ea typeface="Consolas" pitchFamily="34" charset="-122"/>
                <a:cs typeface="Consolas" pitchFamily="34" charset="-120"/>
              </a:rPr>
              <a:t>   </a:t>
            </a:r>
            <a:r>
              <a:rPr lang="en-US" sz="1200" dirty="0">
                <a:solidFill>
                  <a:srgbClr val="BFBFBF"/>
                </a:solidFill>
                <a:latin typeface="Open Sans" pitchFamily="34" charset="0"/>
                <a:ea typeface="Open Sans" pitchFamily="34" charset="-122"/>
                <a:cs typeface="Open Sans" pitchFamily="34" charset="-120"/>
              </a:rPr>
              <a:t> maintains </a:t>
            </a:r>
            <a:r>
              <a:rPr lang="en-US" sz="1200" b="1" dirty="0">
                <a:solidFill>
                  <a:srgbClr val="BFBFBF"/>
                </a:solidFill>
                <a:latin typeface="Open Sans Bold" pitchFamily="34" charset="0"/>
                <a:ea typeface="Open Sans Bold" pitchFamily="34" charset="-122"/>
                <a:cs typeface="Open Sans Bold" pitchFamily="34" charset="-120"/>
              </a:rPr>
              <a:t>State 1 (DIM 30%)</a:t>
            </a:r>
            <a:r>
              <a:rPr lang="en-US" sz="1200" dirty="0">
                <a:solidFill>
                  <a:srgbClr val="BFBFBF"/>
                </a:solidFill>
                <a:latin typeface="Open Sans" pitchFamily="34" charset="0"/>
                <a:ea typeface="Open Sans" pitchFamily="34" charset="-122"/>
                <a:cs typeface="Open Sans" pitchFamily="34" charset="-120"/>
              </a:rPr>
              <a:t>.</a:t>
            </a:r>
            <a:endParaRPr lang="en-US" sz="1200" dirty="0"/>
          </a:p>
        </p:txBody>
      </p:sp>
      <p:pic>
        <p:nvPicPr>
          <p:cNvPr id="33" name="Image 3" descr="preencoded.png"/>
          <p:cNvPicPr>
            <a:picLocks noChangeAspect="1"/>
          </p:cNvPicPr>
          <p:nvPr/>
        </p:nvPicPr>
        <p:blipFill>
          <a:blip r:embed="rId6"/>
          <a:stretch>
            <a:fillRect/>
          </a:stretch>
        </p:blipFill>
        <p:spPr>
          <a:xfrm>
            <a:off x="9156471" y="3036689"/>
            <a:ext cx="433277" cy="191393"/>
          </a:xfrm>
          <a:prstGeom prst="rect">
            <a:avLst/>
          </a:prstGeom>
        </p:spPr>
      </p:pic>
      <p:pic>
        <p:nvPicPr>
          <p:cNvPr id="34" name="Image 4" descr="preencoded.png"/>
          <p:cNvPicPr>
            <a:picLocks noChangeAspect="1"/>
          </p:cNvPicPr>
          <p:nvPr/>
        </p:nvPicPr>
        <p:blipFill>
          <a:blip r:embed="rId7"/>
          <a:stretch>
            <a:fillRect/>
          </a:stretch>
        </p:blipFill>
        <p:spPr>
          <a:xfrm>
            <a:off x="9686484" y="3266480"/>
            <a:ext cx="433277" cy="191393"/>
          </a:xfrm>
          <a:prstGeom prst="rect">
            <a:avLst/>
          </a:prstGeom>
        </p:spPr>
      </p:pic>
      <p:sp>
        <p:nvSpPr>
          <p:cNvPr id="35" name="Shape 28"/>
          <p:cNvSpPr/>
          <p:nvPr/>
        </p:nvSpPr>
        <p:spPr>
          <a:xfrm>
            <a:off x="558786" y="4048720"/>
            <a:ext cx="5384665" cy="762000"/>
          </a:xfrm>
          <a:prstGeom prst="rect">
            <a:avLst/>
          </a:prstGeom>
          <a:solidFill>
            <a:srgbClr val="242424"/>
          </a:solidFill>
          <a:ln/>
        </p:spPr>
      </p:sp>
      <p:sp>
        <p:nvSpPr>
          <p:cNvPr id="36" name="Text 29"/>
          <p:cNvSpPr/>
          <p:nvPr/>
        </p:nvSpPr>
        <p:spPr>
          <a:xfrm>
            <a:off x="787380" y="4201120"/>
            <a:ext cx="4927477" cy="457200"/>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BFBFBF"/>
                </a:solidFill>
                <a:latin typeface="Open Sans Bold" pitchFamily="34" charset="0"/>
                <a:ea typeface="Open Sans Bold" pitchFamily="34" charset="-122"/>
                <a:cs typeface="Open Sans Bold" pitchFamily="34" charset="-120"/>
              </a:rPr>
              <a:t>FSM State Encoding:</a:t>
            </a:r>
            <a:r>
              <a:rPr lang="en-US" sz="1200" dirty="0">
                <a:solidFill>
                  <a:srgbClr val="BFBFBF"/>
                </a:solidFill>
                <a:latin typeface="Open Sans" pitchFamily="34" charset="0"/>
                <a:ea typeface="Open Sans" pitchFamily="34" charset="-122"/>
                <a:cs typeface="Open Sans" pitchFamily="34" charset="-120"/>
              </a:rPr>
              <a:t> S0 = </a:t>
            </a:r>
            <a:r>
              <a:rPr lang="en-US" sz="1200" dirty="0">
                <a:solidFill>
                  <a:srgbClr val="BFBFBF"/>
                </a:solidFill>
                <a:highlight>
                  <a:srgbClr val="242424"/>
                </a:highlight>
                <a:latin typeface="Consolas" pitchFamily="34" charset="0"/>
                <a:ea typeface="Consolas" pitchFamily="34" charset="-122"/>
                <a:cs typeface="Consolas" pitchFamily="34" charset="-120"/>
              </a:rPr>
              <a:t>00</a:t>
            </a:r>
            <a:r>
              <a:rPr lang="en-US" sz="1200" dirty="0">
                <a:solidFill>
                  <a:srgbClr val="BFBFBF"/>
                </a:solidFill>
                <a:latin typeface="Open Sans" pitchFamily="34" charset="0"/>
                <a:ea typeface="Open Sans" pitchFamily="34" charset="-122"/>
                <a:cs typeface="Open Sans" pitchFamily="34" charset="-120"/>
              </a:rPr>
              <a:t> (OFF), S1 = </a:t>
            </a:r>
            <a:r>
              <a:rPr lang="en-US" sz="1200" dirty="0">
                <a:solidFill>
                  <a:srgbClr val="BFBFBF"/>
                </a:solidFill>
                <a:highlight>
                  <a:srgbClr val="242424"/>
                </a:highlight>
                <a:latin typeface="Consolas" pitchFamily="34" charset="0"/>
                <a:ea typeface="Consolas" pitchFamily="34" charset="-122"/>
                <a:cs typeface="Consolas" pitchFamily="34" charset="-120"/>
              </a:rPr>
              <a:t>01</a:t>
            </a:r>
            <a:r>
              <a:rPr lang="en-US" sz="1200" dirty="0">
                <a:solidFill>
                  <a:srgbClr val="BFBFBF"/>
                </a:solidFill>
                <a:latin typeface="Open Sans" pitchFamily="34" charset="0"/>
                <a:ea typeface="Open Sans" pitchFamily="34" charset="-122"/>
                <a:cs typeface="Open Sans" pitchFamily="34" charset="-120"/>
              </a:rPr>
              <a:t> (DIM), S2 = </a:t>
            </a:r>
            <a:r>
              <a:rPr lang="en-US" sz="1200" dirty="0">
                <a:solidFill>
                  <a:srgbClr val="BFBFBF"/>
                </a:solidFill>
                <a:highlight>
                  <a:srgbClr val="242424"/>
                </a:highlight>
                <a:latin typeface="Consolas" pitchFamily="34" charset="0"/>
                <a:ea typeface="Consolas" pitchFamily="34" charset="-122"/>
                <a:cs typeface="Consolas" pitchFamily="34" charset="-120"/>
              </a:rPr>
              <a:t>10</a:t>
            </a:r>
            <a:r>
              <a:rPr lang="en-US" sz="1200" dirty="0">
                <a:solidFill>
                  <a:srgbClr val="BFBFBF"/>
                </a:solidFill>
                <a:latin typeface="Open Sans" pitchFamily="34" charset="0"/>
                <a:ea typeface="Open Sans" pitchFamily="34" charset="-122"/>
                <a:cs typeface="Open Sans" pitchFamily="34" charset="-120"/>
              </a:rPr>
              <a:t> (FULL). The controller holds in S1 during quiet night hours.</a:t>
            </a:r>
            <a:endParaRPr lang="en-US" sz="1200" dirty="0"/>
          </a:p>
        </p:txBody>
      </p:sp>
      <p:sp>
        <p:nvSpPr>
          <p:cNvPr id="37" name="Shape 30"/>
          <p:cNvSpPr/>
          <p:nvPr/>
        </p:nvSpPr>
        <p:spPr>
          <a:xfrm>
            <a:off x="6248244" y="4048720"/>
            <a:ext cx="5384665" cy="762000"/>
          </a:xfrm>
          <a:prstGeom prst="rect">
            <a:avLst/>
          </a:prstGeom>
          <a:solidFill>
            <a:srgbClr val="242424"/>
          </a:solidFill>
          <a:ln/>
        </p:spPr>
      </p:sp>
      <p:sp>
        <p:nvSpPr>
          <p:cNvPr id="38" name="Text 31"/>
          <p:cNvSpPr/>
          <p:nvPr/>
        </p:nvSpPr>
        <p:spPr>
          <a:xfrm>
            <a:off x="6476838" y="4201120"/>
            <a:ext cx="4927477" cy="457200"/>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BFBFBF"/>
                </a:solidFill>
                <a:latin typeface="Open Sans Bold" pitchFamily="34" charset="0"/>
                <a:ea typeface="Open Sans Bold" pitchFamily="34" charset="-122"/>
                <a:cs typeface="Open Sans Bold" pitchFamily="34" charset="-120"/>
              </a:rPr>
              <a:t>Hysteresis Protection:</a:t>
            </a:r>
            <a:r>
              <a:rPr lang="en-US" sz="1200" dirty="0">
                <a:solidFill>
                  <a:srgbClr val="BFBFBF"/>
                </a:solidFill>
                <a:latin typeface="Open Sans" pitchFamily="34" charset="0"/>
                <a:ea typeface="Open Sans" pitchFamily="34" charset="-122"/>
                <a:cs typeface="Open Sans" pitchFamily="34" charset="-120"/>
              </a:rPr>
              <a:t> A software debounce delay prevents rapid oscillation at the dusk/dawn light boundary.</a:t>
            </a:r>
            <a:endParaRPr lang="en-US" sz="1200" dirty="0"/>
          </a:p>
        </p:txBody>
      </p:sp>
      <p:sp>
        <p:nvSpPr>
          <p:cNvPr id="39" name="Text 32"/>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58786" y="431800"/>
            <a:ext cx="3860505" cy="311944"/>
          </a:xfrm>
          <a:prstGeom prst="rect">
            <a:avLst/>
          </a:prstGeom>
          <a:solidFill>
            <a:srgbClr val="F5F547"/>
          </a:solidFill>
          <a:ln/>
        </p:spPr>
      </p:sp>
      <p:sp>
        <p:nvSpPr>
          <p:cNvPr id="3" name="Text 1"/>
          <p:cNvSpPr/>
          <p:nvPr/>
        </p:nvSpPr>
        <p:spPr>
          <a:xfrm>
            <a:off x="685783" y="506222"/>
            <a:ext cx="4190697"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LOGISIM SCHEMATIC ARCHITECTURE</a:t>
            </a:r>
            <a:endParaRPr lang="en-US" sz="1100" dirty="0"/>
          </a:p>
        </p:txBody>
      </p:sp>
      <p:sp>
        <p:nvSpPr>
          <p:cNvPr id="4" name="Text 2"/>
          <p:cNvSpPr/>
          <p:nvPr/>
        </p:nvSpPr>
        <p:spPr>
          <a:xfrm>
            <a:off x="558786" y="918432"/>
            <a:ext cx="11074123" cy="376932"/>
          </a:xfrm>
          <a:prstGeom prst="rect">
            <a:avLst/>
          </a:prstGeom>
          <a:noFill/>
          <a:ln/>
        </p:spPr>
        <p:txBody>
          <a:bodyPr wrap="none" lIns="0" tIns="0" rIns="0" bIns="0" rtlCol="0" anchor="t"/>
          <a:lstStyle/>
          <a:p>
            <a:pPr marL="0" indent="0" algn="l">
              <a:lnSpc>
                <a:spcPct val="88000"/>
              </a:lnSpc>
              <a:buNone/>
            </a:pPr>
            <a:r>
              <a:rPr lang="en-US" sz="2800" kern="100" spc="-56" dirty="0">
                <a:solidFill>
                  <a:srgbClr val="FEFEFE"/>
                </a:solidFill>
                <a:latin typeface="Instrument Sans Medium" pitchFamily="34" charset="0"/>
                <a:ea typeface="Instrument Sans Medium" pitchFamily="34" charset="-122"/>
                <a:cs typeface="Instrument Sans Medium" pitchFamily="34" charset="-120"/>
              </a:rPr>
              <a:t>Circuit design in Logisim</a:t>
            </a:r>
            <a:endParaRPr lang="en-US" sz="2800" dirty="0"/>
          </a:p>
        </p:txBody>
      </p:sp>
      <p:sp>
        <p:nvSpPr>
          <p:cNvPr id="5" name="Text 3"/>
          <p:cNvSpPr/>
          <p:nvPr/>
        </p:nvSpPr>
        <p:spPr>
          <a:xfrm>
            <a:off x="558786" y="1450082"/>
            <a:ext cx="11632909" cy="200025"/>
          </a:xfrm>
          <a:prstGeom prst="rect">
            <a:avLst/>
          </a:prstGeom>
          <a:noFill/>
          <a:ln/>
        </p:spPr>
        <p:txBody>
          <a:bodyPr wrap="none" lIns="0" tIns="0" rIns="0" bIns="0" rtlCol="0" anchor="t"/>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Modular digital schematic implementing combinational gating, state registers, and multiplexed PWM control.</a:t>
            </a:r>
            <a:endParaRPr lang="en-US" sz="1050" dirty="0"/>
          </a:p>
        </p:txBody>
      </p:sp>
      <p:sp>
        <p:nvSpPr>
          <p:cNvPr id="6" name="Shape 4"/>
          <p:cNvSpPr/>
          <p:nvPr/>
        </p:nvSpPr>
        <p:spPr>
          <a:xfrm>
            <a:off x="558786" y="1825526"/>
            <a:ext cx="3488146" cy="2264470"/>
          </a:xfrm>
          <a:prstGeom prst="rect">
            <a:avLst/>
          </a:prstGeom>
          <a:solidFill>
            <a:srgbClr val="242424"/>
          </a:solidFill>
          <a:ln/>
        </p:spPr>
      </p:sp>
      <p:sp>
        <p:nvSpPr>
          <p:cNvPr id="7" name="Text 5"/>
          <p:cNvSpPr/>
          <p:nvPr/>
        </p:nvSpPr>
        <p:spPr>
          <a:xfrm>
            <a:off x="761981" y="2034441"/>
            <a:ext cx="3284951" cy="186630"/>
          </a:xfrm>
          <a:prstGeom prst="rect">
            <a:avLst/>
          </a:prstGeom>
          <a:noFill/>
          <a:ln/>
        </p:spPr>
        <p:txBody>
          <a:bodyPr wrap="none" lIns="0" tIns="0" rIns="0" bIns="0" rtlCol="0" anchor="t"/>
          <a:lstStyle/>
          <a:p>
            <a:pPr marL="0" indent="0" algn="l">
              <a:lnSpc>
                <a:spcPct val="117000"/>
              </a:lnSpc>
              <a:buNone/>
            </a:pPr>
            <a:r>
              <a:rPr lang="en-US" sz="1050" kern="100" spc="126" dirty="0">
                <a:solidFill>
                  <a:srgbClr val="9A9A9A"/>
                </a:solidFill>
                <a:latin typeface="Martian Mono Medium" pitchFamily="34" charset="0"/>
                <a:ea typeface="Martian Mono Medium" pitchFamily="34" charset="-122"/>
                <a:cs typeface="Martian Mono Medium" pitchFamily="34" charset="-120"/>
              </a:rPr>
              <a:t>INPUT BLOCK</a:t>
            </a:r>
            <a:endParaRPr lang="en-US" sz="1050" dirty="0"/>
          </a:p>
        </p:txBody>
      </p:sp>
      <p:sp>
        <p:nvSpPr>
          <p:cNvPr id="8" name="Text 6"/>
          <p:cNvSpPr/>
          <p:nvPr/>
        </p:nvSpPr>
        <p:spPr>
          <a:xfrm>
            <a:off x="761981" y="2298144"/>
            <a:ext cx="3081756"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Sensor Conditioners</a:t>
            </a:r>
            <a:endParaRPr lang="en-US" sz="1550" dirty="0"/>
          </a:p>
        </p:txBody>
      </p:sp>
      <p:sp>
        <p:nvSpPr>
          <p:cNvPr id="9" name="Text 7"/>
          <p:cNvSpPr/>
          <p:nvPr/>
        </p:nvSpPr>
        <p:spPr>
          <a:xfrm>
            <a:off x="761981" y="2681089"/>
            <a:ext cx="3081756" cy="688181"/>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1-bit input </a:t>
            </a:r>
            <a:r>
              <a:rPr lang="en-US" sz="1150" i="1" dirty="0">
                <a:solidFill>
                  <a:srgbClr val="BFBFBF"/>
                </a:solidFill>
                <a:latin typeface="Consolas" pitchFamily="34" charset="0"/>
                <a:ea typeface="Consolas" pitchFamily="34" charset="-122"/>
                <a:cs typeface="Consolas" pitchFamily="34" charset="-120"/>
              </a:rPr>
              <a:t> </a:t>
            </a:r>
            <a:r>
              <a:rPr lang="en-US" sz="1200" dirty="0">
                <a:solidFill>
                  <a:srgbClr val="BFBFBF"/>
                </a:solidFill>
                <a:latin typeface="Open Sans" pitchFamily="34" charset="0"/>
                <a:ea typeface="Open Sans" pitchFamily="34" charset="-122"/>
                <a:cs typeface="Open Sans" pitchFamily="34" charset="-120"/>
              </a:rPr>
              <a:t> models the thresholded LDR comparator; 1-bit input </a:t>
            </a:r>
            <a:r>
              <a:rPr lang="en-US" sz="1150" i="1" dirty="0">
                <a:solidFill>
                  <a:srgbClr val="BFBFBF"/>
                </a:solidFill>
                <a:latin typeface="Consolas" pitchFamily="34" charset="0"/>
                <a:ea typeface="Consolas" pitchFamily="34" charset="-122"/>
                <a:cs typeface="Consolas" pitchFamily="34" charset="-120"/>
              </a:rPr>
              <a:t>  </a:t>
            </a:r>
            <a:r>
              <a:rPr lang="en-US" sz="1200" dirty="0">
                <a:solidFill>
                  <a:srgbClr val="BFBFBF"/>
                </a:solidFill>
                <a:latin typeface="Open Sans" pitchFamily="34" charset="0"/>
                <a:ea typeface="Open Sans" pitchFamily="34" charset="-122"/>
                <a:cs typeface="Open Sans" pitchFamily="34" charset="-120"/>
              </a:rPr>
              <a:t> models the PIR pulse.</a:t>
            </a:r>
            <a:endParaRPr lang="en-US" sz="1200" dirty="0"/>
          </a:p>
        </p:txBody>
      </p:sp>
      <p:pic>
        <p:nvPicPr>
          <p:cNvPr id="10" name="Image 0" descr="preencoded.png"/>
          <p:cNvPicPr>
            <a:picLocks noChangeAspect="1"/>
          </p:cNvPicPr>
          <p:nvPr/>
        </p:nvPicPr>
        <p:blipFill>
          <a:blip r:embed="rId3"/>
          <a:stretch>
            <a:fillRect/>
          </a:stretch>
        </p:blipFill>
        <p:spPr>
          <a:xfrm>
            <a:off x="1536364" y="2712839"/>
            <a:ext cx="127294" cy="191393"/>
          </a:xfrm>
          <a:prstGeom prst="rect">
            <a:avLst/>
          </a:prstGeom>
        </p:spPr>
      </p:pic>
      <p:pic>
        <p:nvPicPr>
          <p:cNvPr id="11" name="Image 1" descr="preencoded.png"/>
          <p:cNvPicPr>
            <a:picLocks noChangeAspect="1"/>
          </p:cNvPicPr>
          <p:nvPr/>
        </p:nvPicPr>
        <p:blipFill>
          <a:blip r:embed="rId4"/>
          <a:stretch>
            <a:fillRect/>
          </a:stretch>
        </p:blipFill>
        <p:spPr>
          <a:xfrm>
            <a:off x="2454908" y="2942630"/>
            <a:ext cx="160532" cy="191393"/>
          </a:xfrm>
          <a:prstGeom prst="rect">
            <a:avLst/>
          </a:prstGeom>
        </p:spPr>
      </p:pic>
      <p:sp>
        <p:nvSpPr>
          <p:cNvPr id="12" name="Shape 8"/>
          <p:cNvSpPr/>
          <p:nvPr/>
        </p:nvSpPr>
        <p:spPr>
          <a:xfrm>
            <a:off x="761981" y="3518495"/>
            <a:ext cx="3081657" cy="19050"/>
          </a:xfrm>
          <a:prstGeom prst="roundRect">
            <a:avLst>
              <a:gd name="adj" fmla="val 49999"/>
            </a:avLst>
          </a:prstGeom>
          <a:solidFill>
            <a:srgbClr val="3B3B3B"/>
          </a:solidFill>
          <a:ln/>
        </p:spPr>
      </p:sp>
      <p:sp>
        <p:nvSpPr>
          <p:cNvPr id="13" name="Text 9"/>
          <p:cNvSpPr/>
          <p:nvPr/>
        </p:nvSpPr>
        <p:spPr>
          <a:xfrm>
            <a:off x="761981" y="3689152"/>
            <a:ext cx="3284951" cy="200025"/>
          </a:xfrm>
          <a:prstGeom prst="rect">
            <a:avLst/>
          </a:prstGeom>
          <a:noFill/>
          <a:ln/>
        </p:spPr>
        <p:txBody>
          <a:bodyPr wrap="none" lIns="0" tIns="0" rIns="0" bIns="0" rtlCol="0" anchor="t"/>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Configurable pull-down logic</a:t>
            </a:r>
            <a:endParaRPr lang="en-US" sz="1050" dirty="0"/>
          </a:p>
        </p:txBody>
      </p:sp>
      <p:sp>
        <p:nvSpPr>
          <p:cNvPr id="14" name="Shape 10"/>
          <p:cNvSpPr/>
          <p:nvPr/>
        </p:nvSpPr>
        <p:spPr>
          <a:xfrm>
            <a:off x="4351725" y="1825526"/>
            <a:ext cx="3488146" cy="2264470"/>
          </a:xfrm>
          <a:prstGeom prst="rect">
            <a:avLst/>
          </a:prstGeom>
          <a:solidFill>
            <a:srgbClr val="242424"/>
          </a:solidFill>
          <a:ln/>
        </p:spPr>
      </p:sp>
      <p:sp>
        <p:nvSpPr>
          <p:cNvPr id="15" name="Text 11"/>
          <p:cNvSpPr/>
          <p:nvPr/>
        </p:nvSpPr>
        <p:spPr>
          <a:xfrm>
            <a:off x="4554920" y="2034441"/>
            <a:ext cx="3284951" cy="186630"/>
          </a:xfrm>
          <a:prstGeom prst="rect">
            <a:avLst/>
          </a:prstGeom>
          <a:noFill/>
          <a:ln/>
        </p:spPr>
        <p:txBody>
          <a:bodyPr wrap="none" lIns="0" tIns="0" rIns="0" bIns="0" rtlCol="0" anchor="t"/>
          <a:lstStyle/>
          <a:p>
            <a:pPr marL="0" indent="0" algn="l">
              <a:lnSpc>
                <a:spcPct val="117000"/>
              </a:lnSpc>
              <a:buNone/>
            </a:pPr>
            <a:r>
              <a:rPr lang="en-US" sz="1050" kern="100" spc="126" dirty="0">
                <a:solidFill>
                  <a:srgbClr val="9A9A9A"/>
                </a:solidFill>
                <a:latin typeface="Martian Mono Medium" pitchFamily="34" charset="0"/>
                <a:ea typeface="Martian Mono Medium" pitchFamily="34" charset="-122"/>
                <a:cs typeface="Martian Mono Medium" pitchFamily="34" charset="-120"/>
              </a:rPr>
              <a:t>GATING &amp; TIMING</a:t>
            </a:r>
            <a:endParaRPr lang="en-US" sz="1050" dirty="0"/>
          </a:p>
        </p:txBody>
      </p:sp>
      <p:sp>
        <p:nvSpPr>
          <p:cNvPr id="16" name="Text 12"/>
          <p:cNvSpPr/>
          <p:nvPr/>
        </p:nvSpPr>
        <p:spPr>
          <a:xfrm>
            <a:off x="4554920" y="2298144"/>
            <a:ext cx="3081756"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Logic &amp; Monostable</a:t>
            </a:r>
            <a:endParaRPr lang="en-US" sz="1550" dirty="0"/>
          </a:p>
        </p:txBody>
      </p:sp>
      <p:sp>
        <p:nvSpPr>
          <p:cNvPr id="17" name="Text 13"/>
          <p:cNvSpPr/>
          <p:nvPr/>
        </p:nvSpPr>
        <p:spPr>
          <a:xfrm>
            <a:off x="4554920" y="2681089"/>
            <a:ext cx="3081756" cy="6858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AND and NOT gates compute raw terms. A clock-driven register and counter hold motion high for a 5-second stretch.</a:t>
            </a:r>
            <a:endParaRPr lang="en-US" sz="1200" dirty="0"/>
          </a:p>
        </p:txBody>
      </p:sp>
      <p:sp>
        <p:nvSpPr>
          <p:cNvPr id="18" name="Shape 14"/>
          <p:cNvSpPr/>
          <p:nvPr/>
        </p:nvSpPr>
        <p:spPr>
          <a:xfrm>
            <a:off x="4554920" y="3516114"/>
            <a:ext cx="3081657" cy="19050"/>
          </a:xfrm>
          <a:prstGeom prst="roundRect">
            <a:avLst>
              <a:gd name="adj" fmla="val 49999"/>
            </a:avLst>
          </a:prstGeom>
          <a:solidFill>
            <a:srgbClr val="3B3B3B"/>
          </a:solidFill>
          <a:ln/>
        </p:spPr>
      </p:sp>
      <p:sp>
        <p:nvSpPr>
          <p:cNvPr id="19" name="Text 15"/>
          <p:cNvSpPr/>
          <p:nvPr/>
        </p:nvSpPr>
        <p:spPr>
          <a:xfrm>
            <a:off x="4554920" y="3686770"/>
            <a:ext cx="3284951" cy="200025"/>
          </a:xfrm>
          <a:prstGeom prst="rect">
            <a:avLst/>
          </a:prstGeom>
          <a:noFill/>
          <a:ln/>
        </p:spPr>
        <p:txBody>
          <a:bodyPr wrap="none" lIns="0" tIns="0" rIns="0" bIns="0" rtlCol="0" anchor="t"/>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Prevents instant turn-off</a:t>
            </a:r>
            <a:endParaRPr lang="en-US" sz="1050" dirty="0"/>
          </a:p>
        </p:txBody>
      </p:sp>
      <p:sp>
        <p:nvSpPr>
          <p:cNvPr id="20" name="Shape 16"/>
          <p:cNvSpPr/>
          <p:nvPr/>
        </p:nvSpPr>
        <p:spPr>
          <a:xfrm>
            <a:off x="8144663" y="1825526"/>
            <a:ext cx="3488246" cy="2264470"/>
          </a:xfrm>
          <a:prstGeom prst="rect">
            <a:avLst/>
          </a:prstGeom>
          <a:solidFill>
            <a:srgbClr val="242424"/>
          </a:solidFill>
          <a:ln/>
        </p:spPr>
      </p:sp>
      <p:sp>
        <p:nvSpPr>
          <p:cNvPr id="21" name="Text 17"/>
          <p:cNvSpPr/>
          <p:nvPr/>
        </p:nvSpPr>
        <p:spPr>
          <a:xfrm>
            <a:off x="8347858" y="2034441"/>
            <a:ext cx="3285051" cy="186630"/>
          </a:xfrm>
          <a:prstGeom prst="rect">
            <a:avLst/>
          </a:prstGeom>
          <a:noFill/>
          <a:ln/>
        </p:spPr>
        <p:txBody>
          <a:bodyPr wrap="none" lIns="0" tIns="0" rIns="0" bIns="0" rtlCol="0" anchor="t"/>
          <a:lstStyle/>
          <a:p>
            <a:pPr marL="0" indent="0" algn="l">
              <a:lnSpc>
                <a:spcPct val="117000"/>
              </a:lnSpc>
              <a:buNone/>
            </a:pPr>
            <a:r>
              <a:rPr lang="en-US" sz="1050" kern="100" spc="126" dirty="0">
                <a:solidFill>
                  <a:srgbClr val="9A9A9A"/>
                </a:solidFill>
                <a:latin typeface="Martian Mono Medium" pitchFamily="34" charset="0"/>
                <a:ea typeface="Martian Mono Medium" pitchFamily="34" charset="-122"/>
                <a:cs typeface="Martian Mono Medium" pitchFamily="34" charset="-120"/>
              </a:rPr>
              <a:t>OUTPUT STAGE</a:t>
            </a:r>
            <a:endParaRPr lang="en-US" sz="1050" dirty="0"/>
          </a:p>
        </p:txBody>
      </p:sp>
      <p:sp>
        <p:nvSpPr>
          <p:cNvPr id="22" name="Text 18"/>
          <p:cNvSpPr/>
          <p:nvPr/>
        </p:nvSpPr>
        <p:spPr>
          <a:xfrm>
            <a:off x="8347858" y="2298144"/>
            <a:ext cx="3081856"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MUX &amp; LED Matrix</a:t>
            </a:r>
            <a:endParaRPr lang="en-US" sz="1550" dirty="0"/>
          </a:p>
        </p:txBody>
      </p:sp>
      <p:sp>
        <p:nvSpPr>
          <p:cNvPr id="23" name="Text 19"/>
          <p:cNvSpPr/>
          <p:nvPr/>
        </p:nvSpPr>
        <p:spPr>
          <a:xfrm>
            <a:off x="8347858" y="2681089"/>
            <a:ext cx="3081856" cy="6858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A 4:1 multiplexer selects between constant 0, 30% duty cycle, and 100% DC power lines into the probe LED.</a:t>
            </a:r>
            <a:endParaRPr lang="en-US" sz="1200" dirty="0"/>
          </a:p>
        </p:txBody>
      </p:sp>
      <p:sp>
        <p:nvSpPr>
          <p:cNvPr id="24" name="Shape 20"/>
          <p:cNvSpPr/>
          <p:nvPr/>
        </p:nvSpPr>
        <p:spPr>
          <a:xfrm>
            <a:off x="8347858" y="3516114"/>
            <a:ext cx="3081756" cy="19050"/>
          </a:xfrm>
          <a:prstGeom prst="roundRect">
            <a:avLst>
              <a:gd name="adj" fmla="val 49999"/>
            </a:avLst>
          </a:prstGeom>
          <a:solidFill>
            <a:srgbClr val="3B3B3B"/>
          </a:solidFill>
          <a:ln/>
        </p:spPr>
      </p:sp>
      <p:sp>
        <p:nvSpPr>
          <p:cNvPr id="25" name="Text 21"/>
          <p:cNvSpPr/>
          <p:nvPr/>
        </p:nvSpPr>
        <p:spPr>
          <a:xfrm>
            <a:off x="8347858" y="3686770"/>
            <a:ext cx="3285051" cy="200025"/>
          </a:xfrm>
          <a:prstGeom prst="rect">
            <a:avLst/>
          </a:prstGeom>
          <a:noFill/>
          <a:ln/>
        </p:spPr>
        <p:txBody>
          <a:bodyPr wrap="none" lIns="0" tIns="0" rIns="0" bIns="0" rtlCol="0" anchor="t"/>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Clean digital simulation probe</a:t>
            </a:r>
            <a:endParaRPr lang="en-US" sz="1050" dirty="0"/>
          </a:p>
        </p:txBody>
      </p:sp>
      <p:sp>
        <p:nvSpPr>
          <p:cNvPr id="26" name="Shape 22"/>
          <p:cNvSpPr/>
          <p:nvPr/>
        </p:nvSpPr>
        <p:spPr>
          <a:xfrm>
            <a:off x="558786" y="4267795"/>
            <a:ext cx="11074123" cy="762000"/>
          </a:xfrm>
          <a:prstGeom prst="rect">
            <a:avLst/>
          </a:prstGeom>
          <a:solidFill>
            <a:srgbClr val="242424"/>
          </a:solidFill>
          <a:ln/>
        </p:spPr>
      </p:sp>
      <p:sp>
        <p:nvSpPr>
          <p:cNvPr id="27" name="Text 23"/>
          <p:cNvSpPr/>
          <p:nvPr/>
        </p:nvSpPr>
        <p:spPr>
          <a:xfrm>
            <a:off x="787380" y="4420195"/>
            <a:ext cx="10616934" cy="457200"/>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BFBFBF"/>
                </a:solidFill>
                <a:latin typeface="Open Sans Bold" pitchFamily="34" charset="0"/>
                <a:ea typeface="Open Sans Bold" pitchFamily="34" charset="-122"/>
                <a:cs typeface="Open Sans Bold" pitchFamily="34" charset="-120"/>
              </a:rPr>
              <a:t>Scalable System Bus:</a:t>
            </a:r>
            <a:r>
              <a:rPr lang="en-US" sz="1200" dirty="0">
                <a:solidFill>
                  <a:srgbClr val="BFBFBF"/>
                </a:solidFill>
                <a:latin typeface="Open Sans" pitchFamily="34" charset="0"/>
                <a:ea typeface="Open Sans" pitchFamily="34" charset="-122"/>
                <a:cs typeface="Open Sans" pitchFamily="34" charset="-120"/>
              </a:rPr>
              <a:t> These exact discrete Logisim functional blocks map 1:1 to memory-mapped GPIO registers in an open-source RISC-V SoC implementation.</a:t>
            </a:r>
            <a:endParaRPr lang="en-US" sz="1200" dirty="0"/>
          </a:p>
        </p:txBody>
      </p:sp>
      <p:sp>
        <p:nvSpPr>
          <p:cNvPr id="28" name="Text 24"/>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09585" y="558800"/>
            <a:ext cx="2547477" cy="311944"/>
          </a:xfrm>
          <a:prstGeom prst="rect">
            <a:avLst/>
          </a:prstGeom>
          <a:solidFill>
            <a:srgbClr val="F5F547"/>
          </a:solidFill>
          <a:ln/>
        </p:spPr>
      </p:sp>
      <p:sp>
        <p:nvSpPr>
          <p:cNvPr id="3" name="Text 1"/>
          <p:cNvSpPr/>
          <p:nvPr/>
        </p:nvSpPr>
        <p:spPr>
          <a:xfrm>
            <a:off x="736582" y="633222"/>
            <a:ext cx="2877669"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SIMULATION PROTOCOL</a:t>
            </a:r>
            <a:endParaRPr lang="en-US" sz="1100" dirty="0"/>
          </a:p>
        </p:txBody>
      </p:sp>
      <p:sp>
        <p:nvSpPr>
          <p:cNvPr id="4" name="Text 2"/>
          <p:cNvSpPr/>
          <p:nvPr/>
        </p:nvSpPr>
        <p:spPr>
          <a:xfrm>
            <a:off x="609585" y="1045432"/>
            <a:ext cx="6603835" cy="376932"/>
          </a:xfrm>
          <a:prstGeom prst="rect">
            <a:avLst/>
          </a:prstGeom>
          <a:noFill/>
          <a:ln/>
        </p:spPr>
        <p:txBody>
          <a:bodyPr wrap="none" lIns="0" tIns="0" rIns="0" bIns="0" rtlCol="0" anchor="t"/>
          <a:lstStyle/>
          <a:p>
            <a:pPr marL="0" indent="0" algn="l">
              <a:lnSpc>
                <a:spcPct val="88000"/>
              </a:lnSpc>
              <a:buNone/>
            </a:pPr>
            <a:r>
              <a:rPr lang="en-US" sz="2800" kern="100" spc="-56" dirty="0">
                <a:solidFill>
                  <a:srgbClr val="FEFEFE"/>
                </a:solidFill>
                <a:latin typeface="Instrument Sans Medium" pitchFamily="34" charset="0"/>
                <a:ea typeface="Instrument Sans Medium" pitchFamily="34" charset="-122"/>
                <a:cs typeface="Instrument Sans Medium" pitchFamily="34" charset="-120"/>
              </a:rPr>
              <a:t>Simulation setup and test conditions</a:t>
            </a:r>
            <a:endParaRPr lang="en-US" sz="2800" dirty="0"/>
          </a:p>
        </p:txBody>
      </p:sp>
      <p:sp>
        <p:nvSpPr>
          <p:cNvPr id="5" name="Text 3"/>
          <p:cNvSpPr/>
          <p:nvPr/>
        </p:nvSpPr>
        <p:spPr>
          <a:xfrm>
            <a:off x="609585" y="1577082"/>
            <a:ext cx="6603835" cy="400050"/>
          </a:xfrm>
          <a:prstGeom prst="rect">
            <a:avLst/>
          </a:prstGeom>
          <a:noFill/>
          <a:ln/>
        </p:spPr>
        <p:txBody>
          <a:bodyPr wrap="square" lIns="0" tIns="0" rIns="0" bIns="0" rtlCol="0" anchor="t">
            <a:normAutofit/>
          </a:bodyPr>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Structured verification across two software environments ensures full state-space coverage.</a:t>
            </a:r>
            <a:endParaRPr lang="en-US" sz="1050" dirty="0"/>
          </a:p>
        </p:txBody>
      </p:sp>
      <p:sp>
        <p:nvSpPr>
          <p:cNvPr id="6" name="Shape 4"/>
          <p:cNvSpPr/>
          <p:nvPr/>
        </p:nvSpPr>
        <p:spPr>
          <a:xfrm>
            <a:off x="609585" y="2152551"/>
            <a:ext cx="6603835" cy="1154708"/>
          </a:xfrm>
          <a:prstGeom prst="rect">
            <a:avLst/>
          </a:prstGeom>
          <a:solidFill>
            <a:srgbClr val="242424"/>
          </a:solidFill>
          <a:ln/>
        </p:spPr>
      </p:sp>
      <p:sp>
        <p:nvSpPr>
          <p:cNvPr id="7" name="Text 5"/>
          <p:cNvSpPr/>
          <p:nvPr/>
        </p:nvSpPr>
        <p:spPr>
          <a:xfrm>
            <a:off x="838179" y="2314714"/>
            <a:ext cx="6146646"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Dual-Platform Testing</a:t>
            </a:r>
            <a:endParaRPr lang="en-US" sz="1550" dirty="0"/>
          </a:p>
        </p:txBody>
      </p:sp>
      <p:sp>
        <p:nvSpPr>
          <p:cNvPr id="8" name="Text 6"/>
          <p:cNvSpPr/>
          <p:nvPr/>
        </p:nvSpPr>
        <p:spPr>
          <a:xfrm>
            <a:off x="838179" y="2697659"/>
            <a:ext cx="6146646" cy="4572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Logisim verifies gate propagation delays and truth-table state vectors; Tinkercad / Proteus models analog resistance sweeps and Arduino MCU firmware execution.</a:t>
            </a:r>
            <a:endParaRPr lang="en-US" sz="1200" dirty="0"/>
          </a:p>
        </p:txBody>
      </p:sp>
      <p:sp>
        <p:nvSpPr>
          <p:cNvPr id="9" name="Shape 7"/>
          <p:cNvSpPr/>
          <p:nvPr/>
        </p:nvSpPr>
        <p:spPr>
          <a:xfrm>
            <a:off x="609585" y="3459659"/>
            <a:ext cx="6603835" cy="1154708"/>
          </a:xfrm>
          <a:prstGeom prst="rect">
            <a:avLst/>
          </a:prstGeom>
          <a:solidFill>
            <a:srgbClr val="242424"/>
          </a:solidFill>
          <a:ln/>
        </p:spPr>
      </p:sp>
      <p:sp>
        <p:nvSpPr>
          <p:cNvPr id="10" name="Text 8"/>
          <p:cNvSpPr/>
          <p:nvPr/>
        </p:nvSpPr>
        <p:spPr>
          <a:xfrm>
            <a:off x="838179" y="3621822"/>
            <a:ext cx="6146646"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Swept Input Vectors</a:t>
            </a:r>
            <a:endParaRPr lang="en-US" sz="1550" dirty="0"/>
          </a:p>
        </p:txBody>
      </p:sp>
      <p:sp>
        <p:nvSpPr>
          <p:cNvPr id="11" name="Text 9"/>
          <p:cNvSpPr/>
          <p:nvPr/>
        </p:nvSpPr>
        <p:spPr>
          <a:xfrm>
            <a:off x="838179" y="4004766"/>
            <a:ext cx="6146646" cy="4572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Simulated light intensity swept from 100 lux (bright day) down to 0.1 lux (night); motion pulses injected at fixed intervals to test timer hold-down.</a:t>
            </a:r>
            <a:endParaRPr lang="en-US" sz="1200" dirty="0"/>
          </a:p>
        </p:txBody>
      </p:sp>
      <p:sp>
        <p:nvSpPr>
          <p:cNvPr id="12" name="Shape 10"/>
          <p:cNvSpPr/>
          <p:nvPr/>
        </p:nvSpPr>
        <p:spPr>
          <a:xfrm>
            <a:off x="609585" y="4766766"/>
            <a:ext cx="6603835" cy="1154708"/>
          </a:xfrm>
          <a:prstGeom prst="rect">
            <a:avLst/>
          </a:prstGeom>
          <a:solidFill>
            <a:srgbClr val="242424"/>
          </a:solidFill>
          <a:ln/>
        </p:spPr>
      </p:sp>
      <p:sp>
        <p:nvSpPr>
          <p:cNvPr id="13" name="Text 11"/>
          <p:cNvSpPr/>
          <p:nvPr/>
        </p:nvSpPr>
        <p:spPr>
          <a:xfrm>
            <a:off x="838179" y="4928930"/>
            <a:ext cx="6146646"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Formal Pass Criteria</a:t>
            </a:r>
            <a:endParaRPr lang="en-US" sz="1550" dirty="0"/>
          </a:p>
        </p:txBody>
      </p:sp>
      <p:sp>
        <p:nvSpPr>
          <p:cNvPr id="14" name="Text 12"/>
          <p:cNvSpPr/>
          <p:nvPr/>
        </p:nvSpPr>
        <p:spPr>
          <a:xfrm>
            <a:off x="838179" y="5311874"/>
            <a:ext cx="6146646" cy="4572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Zero false activations during simulated daylight, steady 30% dim power when idle at night, and latency under 50 ms to hit 100% full brightness upon motion.</a:t>
            </a:r>
            <a:endParaRPr lang="en-US" sz="1200" dirty="0"/>
          </a:p>
        </p:txBody>
      </p:sp>
      <p:pic>
        <p:nvPicPr>
          <p:cNvPr id="15" name="Image 0" descr="preencoded.png"/>
          <p:cNvPicPr>
            <a:picLocks noChangeAspect="1"/>
          </p:cNvPicPr>
          <p:nvPr/>
        </p:nvPicPr>
        <p:blipFill>
          <a:blip r:embed="rId3"/>
          <a:stretch>
            <a:fillRect/>
          </a:stretch>
        </p:blipFill>
        <p:spPr>
          <a:xfrm>
            <a:off x="8330992" y="609600"/>
            <a:ext cx="3251119" cy="5638800"/>
          </a:xfrm>
          <a:prstGeom prst="rect">
            <a:avLst/>
          </a:prstGeom>
        </p:spPr>
      </p:pic>
      <p:sp>
        <p:nvSpPr>
          <p:cNvPr id="16" name="Text 13"/>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09585" y="609600"/>
            <a:ext cx="3024906" cy="311944"/>
          </a:xfrm>
          <a:prstGeom prst="rect">
            <a:avLst/>
          </a:prstGeom>
          <a:solidFill>
            <a:srgbClr val="F5F547"/>
          </a:solidFill>
          <a:ln/>
        </p:spPr>
      </p:sp>
      <p:sp>
        <p:nvSpPr>
          <p:cNvPr id="3" name="Text 1"/>
          <p:cNvSpPr/>
          <p:nvPr/>
        </p:nvSpPr>
        <p:spPr>
          <a:xfrm>
            <a:off x="736582" y="684022"/>
            <a:ext cx="3355097"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SIMULATION VERIFICATION</a:t>
            </a:r>
            <a:endParaRPr lang="en-US" sz="1100" dirty="0"/>
          </a:p>
        </p:txBody>
      </p:sp>
      <p:sp>
        <p:nvSpPr>
          <p:cNvPr id="4" name="Text 2"/>
          <p:cNvSpPr/>
          <p:nvPr/>
        </p:nvSpPr>
        <p:spPr>
          <a:xfrm>
            <a:off x="609585" y="1150207"/>
            <a:ext cx="5821614" cy="753864"/>
          </a:xfrm>
          <a:prstGeom prst="rect">
            <a:avLst/>
          </a:prstGeom>
          <a:noFill/>
          <a:ln/>
        </p:spPr>
        <p:txBody>
          <a:bodyPr wrap="square" lIns="0" tIns="0" rIns="0" bIns="0" rtlCol="0" anchor="t">
            <a:normAutofit/>
          </a:bodyPr>
          <a:lstStyle/>
          <a:p>
            <a:pPr marL="0" indent="0" algn="l">
              <a:lnSpc>
                <a:spcPct val="88000"/>
              </a:lnSpc>
              <a:buNone/>
            </a:pPr>
            <a:r>
              <a:rPr lang="en-US" sz="2800" kern="100" spc="-56" dirty="0">
                <a:solidFill>
                  <a:srgbClr val="FEFEFE"/>
                </a:solidFill>
                <a:latin typeface="Instrument Sans Medium" pitchFamily="34" charset="0"/>
                <a:ea typeface="Instrument Sans Medium" pitchFamily="34" charset="-122"/>
                <a:cs typeface="Instrument Sans Medium" pitchFamily="34" charset="-120"/>
              </a:rPr>
              <a:t>Simulation results: lamp output matches the design</a:t>
            </a:r>
            <a:endParaRPr lang="en-US" sz="2800" dirty="0"/>
          </a:p>
        </p:txBody>
      </p:sp>
      <p:sp>
        <p:nvSpPr>
          <p:cNvPr id="5" name="Text 3"/>
          <p:cNvSpPr/>
          <p:nvPr/>
        </p:nvSpPr>
        <p:spPr>
          <a:xfrm>
            <a:off x="609585" y="2058789"/>
            <a:ext cx="5821614" cy="400050"/>
          </a:xfrm>
          <a:prstGeom prst="rect">
            <a:avLst/>
          </a:prstGeom>
          <a:noFill/>
          <a:ln/>
        </p:spPr>
        <p:txBody>
          <a:bodyPr wrap="square" lIns="0" tIns="0" rIns="0" bIns="0" rtlCol="0" anchor="t">
            <a:normAutofit/>
          </a:bodyPr>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Simulated 24-hour diurnal cycle demonstrates targeted power delivery.</a:t>
            </a:r>
            <a:endParaRPr lang="en-US" sz="1050" dirty="0"/>
          </a:p>
        </p:txBody>
      </p:sp>
      <p:pic>
        <p:nvPicPr>
          <p:cNvPr id="6" name="Image 0" descr="preencoded.png"/>
          <p:cNvPicPr>
            <a:picLocks noChangeAspect="1"/>
          </p:cNvPicPr>
          <p:nvPr/>
        </p:nvPicPr>
        <p:blipFill>
          <a:blip r:embed="rId3"/>
          <a:stretch>
            <a:fillRect/>
          </a:stretch>
        </p:blipFill>
        <p:spPr>
          <a:xfrm>
            <a:off x="609585" y="2615208"/>
            <a:ext cx="5821614" cy="3027263"/>
          </a:xfrm>
          <a:prstGeom prst="rect">
            <a:avLst/>
          </a:prstGeom>
        </p:spPr>
      </p:pic>
      <p:sp>
        <p:nvSpPr>
          <p:cNvPr id="7" name="Text 4"/>
          <p:cNvSpPr/>
          <p:nvPr/>
        </p:nvSpPr>
        <p:spPr>
          <a:xfrm>
            <a:off x="609585" y="5717877"/>
            <a:ext cx="5821614" cy="400050"/>
          </a:xfrm>
          <a:prstGeom prst="rect">
            <a:avLst/>
          </a:prstGeom>
          <a:noFill/>
          <a:ln/>
        </p:spPr>
        <p:txBody>
          <a:bodyPr wrap="square" lIns="0" tIns="0" rIns="0" bIns="0" rtlCol="0" anchor="t">
            <a:normAutofit/>
          </a:bodyPr>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Illustrative simulated test bench run · Logisim &amp; Tinkercad simulation.</a:t>
            </a:r>
            <a:endParaRPr lang="en-US" sz="1050" dirty="0"/>
          </a:p>
        </p:txBody>
      </p:sp>
      <p:sp>
        <p:nvSpPr>
          <p:cNvPr id="8" name="Text 5"/>
          <p:cNvSpPr/>
          <p:nvPr/>
        </p:nvSpPr>
        <p:spPr>
          <a:xfrm>
            <a:off x="8107457" y="1124684"/>
            <a:ext cx="3474653"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Experimental Test Log</a:t>
            </a:r>
            <a:endParaRPr lang="en-US" sz="1550" dirty="0"/>
          </a:p>
        </p:txBody>
      </p:sp>
      <p:sp>
        <p:nvSpPr>
          <p:cNvPr id="9" name="Text 6"/>
          <p:cNvSpPr/>
          <p:nvPr/>
        </p:nvSpPr>
        <p:spPr>
          <a:xfrm>
            <a:off x="8107457" y="1507629"/>
            <a:ext cx="3474653" cy="4572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BFBFBF"/>
                </a:solidFill>
                <a:latin typeface="Open Sans" pitchFamily="34" charset="0"/>
                <a:ea typeface="Open Sans" pitchFamily="34" charset="-122"/>
                <a:cs typeface="Open Sans" pitchFamily="34" charset="-120"/>
              </a:rPr>
              <a:t>All four input combinations verified against the truth table: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07457" y="2091829"/>
          <a:ext cx="3474653" cy="914400"/>
        </p:xfrm>
        <a:graphic>
          <a:graphicData uri="http://schemas.openxmlformats.org/drawingml/2006/table">
            <a:tbl>
              <a:tblPr/>
              <a:tblGrid>
                <a:gridCol w="1449450">
                  <a:extLst>
                    <a:ext uri="{9D8B030D-6E8A-4147-A177-3AD203B41FA5}">
                      <a16:colId xmlns:a16="http://schemas.microsoft.com/office/drawing/2014/main" val="20000"/>
                    </a:ext>
                  </a:extLst>
                </a:gridCol>
                <a:gridCol w="984523">
                  <a:extLst>
                    <a:ext uri="{9D8B030D-6E8A-4147-A177-3AD203B41FA5}">
                      <a16:colId xmlns:a16="http://schemas.microsoft.com/office/drawing/2014/main" val="20001"/>
                    </a:ext>
                  </a:extLst>
                </a:gridCol>
                <a:gridCol w="1040679">
                  <a:extLst>
                    <a:ext uri="{9D8B030D-6E8A-4147-A177-3AD203B41FA5}">
                      <a16:colId xmlns:a16="http://schemas.microsoft.com/office/drawing/2014/main" val="20002"/>
                    </a:ext>
                  </a:extLst>
                </a:gridCol>
              </a:tblGrid>
              <a:tr h="742931">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AMBIENT LIGHT</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MOTION</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LAMP OUTPUT</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0"/>
                  </a:ext>
                </a:extLst>
              </a:tr>
              <a:tr h="476238">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Bright day</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No</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OFF (0%)</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1"/>
                  </a:ext>
                </a:extLst>
              </a:tr>
              <a:tr h="476238">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Bright day</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Yes</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OFF (0%)</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2"/>
                  </a:ext>
                </a:extLst>
              </a:tr>
              <a:tr h="742931">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Dusk (below threshold)</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No</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b="1" dirty="0">
                          <a:solidFill>
                            <a:srgbClr val="F5F547"/>
                          </a:solidFill>
                          <a:latin typeface="Open Sans" pitchFamily="34" charset="0"/>
                          <a:ea typeface="Open Sans" pitchFamily="34" charset="-122"/>
                          <a:cs typeface="Open Sans" pitchFamily="34" charset="-120"/>
                        </a:rPr>
                        <a:t>DIM (30%)</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3"/>
                  </a:ext>
                </a:extLst>
              </a:tr>
              <a:tr h="476238">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Night</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No</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b="1" dirty="0">
                          <a:solidFill>
                            <a:srgbClr val="F5F547"/>
                          </a:solidFill>
                          <a:latin typeface="Open Sans" pitchFamily="34" charset="0"/>
                          <a:ea typeface="Open Sans" pitchFamily="34" charset="-122"/>
                          <a:cs typeface="Open Sans" pitchFamily="34" charset="-120"/>
                        </a:rPr>
                        <a:t>DIM (30%)</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4"/>
                  </a:ext>
                </a:extLst>
              </a:tr>
              <a:tr h="736582">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Night</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Yes</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lgn="l">
                        <a:buNone/>
                      </a:pPr>
                      <a:r>
                        <a:rPr lang="en-US" sz="1400" b="1" dirty="0">
                          <a:solidFill>
                            <a:srgbClr val="F5F547"/>
                          </a:solidFill>
                          <a:latin typeface="Open Sans" pitchFamily="34" charset="0"/>
                          <a:ea typeface="Open Sans" pitchFamily="34" charset="-122"/>
                          <a:cs typeface="Open Sans" pitchFamily="34" charset="-120"/>
                        </a:rPr>
                        <a:t>FULL (100%)</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Text 7"/>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09585" y="609600"/>
            <a:ext cx="3860505" cy="311944"/>
          </a:xfrm>
          <a:prstGeom prst="rect">
            <a:avLst/>
          </a:prstGeom>
          <a:solidFill>
            <a:srgbClr val="F5F547"/>
          </a:solidFill>
          <a:ln/>
        </p:spPr>
      </p:sp>
      <p:sp>
        <p:nvSpPr>
          <p:cNvPr id="3" name="Text 1"/>
          <p:cNvSpPr/>
          <p:nvPr/>
        </p:nvSpPr>
        <p:spPr>
          <a:xfrm>
            <a:off x="736582" y="684022"/>
            <a:ext cx="4190697" cy="184944"/>
          </a:xfrm>
          <a:prstGeom prst="rect">
            <a:avLst/>
          </a:prstGeom>
          <a:noFill/>
          <a:ln/>
        </p:spPr>
        <p:txBody>
          <a:bodyPr wrap="none" lIns="0" tIns="0" rIns="0" bIns="0" rtlCol="0" anchor="t"/>
          <a:lstStyle/>
          <a:p>
            <a:pPr marL="0" indent="0" algn="l">
              <a:lnSpc>
                <a:spcPct val="108000"/>
              </a:lnSpc>
              <a:buNone/>
            </a:pPr>
            <a:r>
              <a:rPr lang="en-US" sz="1100" kern="100" spc="157" dirty="0">
                <a:solidFill>
                  <a:srgbClr val="000000"/>
                </a:solidFill>
                <a:latin typeface="Martian Mono SemiBold" pitchFamily="34" charset="0"/>
                <a:ea typeface="Martian Mono SemiBold" pitchFamily="34" charset="-122"/>
                <a:cs typeface="Martian Mono SemiBold" pitchFamily="34" charset="-120"/>
              </a:rPr>
              <a:t>COMPARATIVE ANALYSIS &amp; OUTLOOK</a:t>
            </a:r>
            <a:endParaRPr lang="en-US" sz="1100" dirty="0"/>
          </a:p>
        </p:txBody>
      </p:sp>
      <p:sp>
        <p:nvSpPr>
          <p:cNvPr id="4" name="Text 2"/>
          <p:cNvSpPr/>
          <p:nvPr/>
        </p:nvSpPr>
        <p:spPr>
          <a:xfrm>
            <a:off x="609585" y="1023207"/>
            <a:ext cx="10972526" cy="376932"/>
          </a:xfrm>
          <a:prstGeom prst="rect">
            <a:avLst/>
          </a:prstGeom>
          <a:noFill/>
          <a:ln/>
        </p:spPr>
        <p:txBody>
          <a:bodyPr wrap="none" lIns="0" tIns="0" rIns="0" bIns="0" rtlCol="0" anchor="t"/>
          <a:lstStyle/>
          <a:p>
            <a:pPr marL="0" indent="0" algn="l">
              <a:lnSpc>
                <a:spcPct val="88000"/>
              </a:lnSpc>
              <a:buNone/>
            </a:pPr>
            <a:r>
              <a:rPr lang="en-US" sz="2800" kern="100" spc="-56" dirty="0">
                <a:solidFill>
                  <a:srgbClr val="FEFEFE"/>
                </a:solidFill>
                <a:latin typeface="Instrument Sans Medium" pitchFamily="34" charset="0"/>
                <a:ea typeface="Instrument Sans Medium" pitchFamily="34" charset="-122"/>
                <a:cs typeface="Instrument Sans Medium" pitchFamily="34" charset="-120"/>
              </a:rPr>
              <a:t>Automatic beats manual; the same logic scales to RISC-V</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09585" y="1552476"/>
          <a:ext cx="6309262" cy="914400"/>
        </p:xfrm>
        <a:graphic>
          <a:graphicData uri="http://schemas.openxmlformats.org/drawingml/2006/table">
            <a:tbl>
              <a:tblPr/>
              <a:tblGrid>
                <a:gridCol w="1388036">
                  <a:extLst>
                    <a:ext uri="{9D8B030D-6E8A-4147-A177-3AD203B41FA5}">
                      <a16:colId xmlns:a16="http://schemas.microsoft.com/office/drawing/2014/main" val="20000"/>
                    </a:ext>
                  </a:extLst>
                </a:gridCol>
                <a:gridCol w="2460563">
                  <a:extLst>
                    <a:ext uri="{9D8B030D-6E8A-4147-A177-3AD203B41FA5}">
                      <a16:colId xmlns:a16="http://schemas.microsoft.com/office/drawing/2014/main" val="20001"/>
                    </a:ext>
                  </a:extLst>
                </a:gridCol>
                <a:gridCol w="2460663">
                  <a:extLst>
                    <a:ext uri="{9D8B030D-6E8A-4147-A177-3AD203B41FA5}">
                      <a16:colId xmlns:a16="http://schemas.microsoft.com/office/drawing/2014/main" val="20002"/>
                    </a:ext>
                  </a:extLst>
                </a:gridCol>
              </a:tblGrid>
              <a:tr h="476238">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FACTOR</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MANUAL</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kern="100" spc="112" dirty="0">
                          <a:solidFill>
                            <a:srgbClr val="9A9A9A"/>
                          </a:solidFill>
                          <a:latin typeface="Martian Mono" pitchFamily="34" charset="0"/>
                          <a:ea typeface="Martian Mono" pitchFamily="34" charset="-122"/>
                          <a:cs typeface="Martian Mono" pitchFamily="34" charset="-120"/>
                        </a:rPr>
                        <a:t>AUTOMATIC</a:t>
                      </a:r>
                      <a:endParaRPr lang="en-US" sz="1400" dirty="0">
                        <a:latin typeface="Martian Mono" charset="0"/>
                        <a:ea typeface="Martian Mono" charset="0"/>
                        <a:cs typeface="Martian Mono"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1F1F1F"/>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0"/>
                  </a:ext>
                </a:extLst>
              </a:tr>
              <a:tr h="742931">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Energy use</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Fixed schedule, full power all night</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On only in darkness, dims when idle</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1"/>
                  </a:ext>
                </a:extLst>
              </a:tr>
              <a:tr h="742931">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Cost</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Low install, high running</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Higher install, lower running</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3B3B3B"/>
                      </a:solidFill>
                      <a:prstDash val="solid"/>
                      <a:round/>
                      <a:headEnd type="none" w="med" len="med"/>
                      <a:tailEnd type="none" w="med" len="med"/>
                    </a:lnB>
                  </a:tcPr>
                </a:tc>
                <a:extLst>
                  <a:ext uri="{0D108BD9-81ED-4DB2-BD59-A6C34878D82A}">
                    <a16:rowId xmlns:a16="http://schemas.microsoft.com/office/drawing/2014/main" val="10002"/>
                  </a:ext>
                </a:extLst>
              </a:tr>
              <a:tr h="736582">
                <a:tc>
                  <a:txBody>
                    <a:bodyPr/>
                    <a:lstStyle/>
                    <a:p>
                      <a:pPr marL="0" indent="0" algn="l">
                        <a:buNone/>
                      </a:pPr>
                      <a:r>
                        <a:rPr lang="en-US" sz="1400" b="1" dirty="0">
                          <a:solidFill>
                            <a:srgbClr val="BFBFBF"/>
                          </a:solidFill>
                          <a:latin typeface="Open Sans" pitchFamily="34" charset="0"/>
                          <a:ea typeface="Open Sans" pitchFamily="34" charset="-122"/>
                          <a:cs typeface="Open Sans" pitchFamily="34" charset="-120"/>
                        </a:rPr>
                        <a:t>Maintenance</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Manual switching and resets</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tc>
                  <a:txBody>
                    <a:bodyPr/>
                    <a:lstStyle/>
                    <a:p>
                      <a:pPr marL="0" indent="0" algn="l">
                        <a:buNone/>
                      </a:pPr>
                      <a:r>
                        <a:rPr lang="en-US" sz="1400" dirty="0">
                          <a:solidFill>
                            <a:srgbClr val="BFBFBF"/>
                          </a:solidFill>
                          <a:latin typeface="Open Sans" pitchFamily="34" charset="0"/>
                          <a:ea typeface="Open Sans" pitchFamily="34" charset="-122"/>
                          <a:cs typeface="Open Sans" pitchFamily="34" charset="-120"/>
                        </a:rPr>
                        <a:t>Self-regulating, longer lamp life</a:t>
                      </a:r>
                      <a:endParaRPr lang="en-US" sz="1400" dirty="0">
                        <a:latin typeface="Open Sans" charset="0"/>
                        <a:ea typeface="Open Sans" charset="0"/>
                        <a:cs typeface="Open Sans" charset="0"/>
                      </a:endParaRPr>
                    </a:p>
                  </a:txBody>
                  <a:tcPr marL="64008" marR="152396" marT="101598" marB="101598" anchor="ctr">
                    <a:lnL w="12700" cap="flat" cmpd="sng" algn="ctr">
                      <a:solidFill>
                        <a:srgbClr val="1F1F1F"/>
                      </a:solidFill>
                      <a:prstDash val="solid"/>
                      <a:round/>
                      <a:headEnd type="none" w="med" len="med"/>
                      <a:tailEnd type="none" w="med" len="med"/>
                    </a:lnL>
                    <a:lnR w="12700" cap="flat" cmpd="sng" algn="ctr">
                      <a:solidFill>
                        <a:srgbClr val="1F1F1F"/>
                      </a:solidFill>
                      <a:prstDash val="solid"/>
                      <a:round/>
                      <a:headEnd type="none" w="med" len="med"/>
                      <a:tailEnd type="none" w="med" len="med"/>
                    </a:lnR>
                    <a:lnT w="12700" cap="flat" cmpd="sng" algn="ctr">
                      <a:solidFill>
                        <a:srgbClr val="3B3B3B"/>
                      </a:solidFill>
                      <a:prstDash val="solid"/>
                      <a:round/>
                      <a:headEnd type="none" w="med" len="med"/>
                      <a:tailEnd type="none" w="med" len="med"/>
                    </a:lnT>
                    <a:lnB w="12700" cap="flat" cmpd="sng" algn="ctr">
                      <a:solidFill>
                        <a:srgbClr val="1F1F1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7375936" y="1562239"/>
            <a:ext cx="4206174" cy="265708"/>
          </a:xfrm>
          <a:prstGeom prst="rect">
            <a:avLst/>
          </a:prstGeom>
          <a:noFill/>
          <a:ln/>
        </p:spPr>
        <p:txBody>
          <a:bodyPr wrap="none" lIns="0" tIns="0" rIns="0" bIns="0" rtlCol="0" anchor="t"/>
          <a:lstStyle/>
          <a:p>
            <a:pPr marL="0" indent="0" algn="l">
              <a:lnSpc>
                <a:spcPct val="112000"/>
              </a:lnSpc>
              <a:buNone/>
            </a:pPr>
            <a:r>
              <a:rPr lang="en-US" sz="1550" dirty="0">
                <a:solidFill>
                  <a:srgbClr val="FEFEFE"/>
                </a:solidFill>
                <a:latin typeface="Open Sans" pitchFamily="34" charset="0"/>
                <a:ea typeface="Open Sans" pitchFamily="34" charset="-122"/>
                <a:cs typeface="Open Sans" pitchFamily="34" charset="-120"/>
              </a:rPr>
              <a:t>Relative Nightly Energy</a:t>
            </a:r>
            <a:endParaRPr lang="en-US" sz="1550" dirty="0"/>
          </a:p>
        </p:txBody>
      </p:sp>
      <p:pic>
        <p:nvPicPr>
          <p:cNvPr id="7" name="Image 0" descr="preencoded.png"/>
          <p:cNvPicPr>
            <a:picLocks noChangeAspect="1"/>
          </p:cNvPicPr>
          <p:nvPr/>
        </p:nvPicPr>
        <p:blipFill>
          <a:blip r:embed="rId3"/>
          <a:stretch>
            <a:fillRect/>
          </a:stretch>
        </p:blipFill>
        <p:spPr>
          <a:xfrm>
            <a:off x="7375936" y="1922959"/>
            <a:ext cx="3555911" cy="2413000"/>
          </a:xfrm>
          <a:prstGeom prst="rect">
            <a:avLst/>
          </a:prstGeom>
        </p:spPr>
      </p:pic>
      <p:sp>
        <p:nvSpPr>
          <p:cNvPr id="8" name="Text 4"/>
          <p:cNvSpPr/>
          <p:nvPr/>
        </p:nvSpPr>
        <p:spPr>
          <a:xfrm>
            <a:off x="7375936" y="4411365"/>
            <a:ext cx="4206174" cy="200025"/>
          </a:xfrm>
          <a:prstGeom prst="rect">
            <a:avLst/>
          </a:prstGeom>
          <a:noFill/>
          <a:ln/>
        </p:spPr>
        <p:txBody>
          <a:bodyPr wrap="none" lIns="0" tIns="0" rIns="0" bIns="0" rtlCol="0" anchor="t"/>
          <a:lstStyle/>
          <a:p>
            <a:pPr marL="0" indent="0" algn="l">
              <a:lnSpc>
                <a:spcPct val="125000"/>
              </a:lnSpc>
              <a:buNone/>
            </a:pPr>
            <a:r>
              <a:rPr lang="en-US" sz="1050" kern="100" spc="21" dirty="0">
                <a:solidFill>
                  <a:srgbClr val="9A9A9A"/>
                </a:solidFill>
                <a:latin typeface="Martian Mono" pitchFamily="34" charset="0"/>
                <a:ea typeface="Martian Mono" pitchFamily="34" charset="-122"/>
                <a:cs typeface="Martian Mono" pitchFamily="34" charset="-120"/>
              </a:rPr>
              <a:t>Illustrative estimate.</a:t>
            </a:r>
            <a:endParaRPr lang="en-US" sz="1050" dirty="0"/>
          </a:p>
        </p:txBody>
      </p:sp>
      <p:sp>
        <p:nvSpPr>
          <p:cNvPr id="9" name="Shape 5"/>
          <p:cNvSpPr/>
          <p:nvPr/>
        </p:nvSpPr>
        <p:spPr>
          <a:xfrm>
            <a:off x="609585" y="4767759"/>
            <a:ext cx="10972526" cy="520700"/>
          </a:xfrm>
          <a:prstGeom prst="rect">
            <a:avLst/>
          </a:prstGeom>
          <a:solidFill>
            <a:srgbClr val="242424"/>
          </a:solidFill>
          <a:ln/>
        </p:spPr>
      </p:sp>
      <p:sp>
        <p:nvSpPr>
          <p:cNvPr id="10" name="Text 6"/>
          <p:cNvSpPr/>
          <p:nvPr/>
        </p:nvSpPr>
        <p:spPr>
          <a:xfrm>
            <a:off x="812780" y="4899521"/>
            <a:ext cx="10769331" cy="266700"/>
          </a:xfrm>
          <a:prstGeom prst="rect">
            <a:avLst/>
          </a:prstGeom>
          <a:noFill/>
          <a:ln/>
        </p:spPr>
        <p:txBody>
          <a:bodyPr wrap="none" lIns="0" tIns="0" rIns="0" bIns="0" rtlCol="0" anchor="t"/>
          <a:lstStyle/>
          <a:p>
            <a:pPr marL="0" indent="0" algn="l">
              <a:lnSpc>
                <a:spcPct val="125000"/>
              </a:lnSpc>
              <a:buNone/>
            </a:pPr>
            <a:r>
              <a:rPr lang="en-US" sz="1400" b="1" dirty="0">
                <a:solidFill>
                  <a:srgbClr val="BFBFBF"/>
                </a:solidFill>
                <a:latin typeface="Open Sans Bold" pitchFamily="34" charset="0"/>
                <a:ea typeface="Open Sans Bold" pitchFamily="34" charset="-122"/>
                <a:cs typeface="Open Sans Bold" pitchFamily="34" charset="-120"/>
              </a:rPr>
              <a:t>Next step:</a:t>
            </a:r>
            <a:r>
              <a:rPr lang="en-US" sz="1400" dirty="0">
                <a:solidFill>
                  <a:srgbClr val="BFBFBF"/>
                </a:solidFill>
                <a:latin typeface="Open Sans" pitchFamily="34" charset="0"/>
                <a:ea typeface="Open Sans" pitchFamily="34" charset="-122"/>
                <a:cs typeface="Open Sans" pitchFamily="34" charset="-120"/>
              </a:rPr>
              <a:t> A RISC-V core drives a memory-mapped LED output, built on gates, FSMs, registers and memory.</a:t>
            </a:r>
            <a:endParaRPr lang="en-US" sz="1400" dirty="0"/>
          </a:p>
        </p:txBody>
      </p:sp>
      <p:sp>
        <p:nvSpPr>
          <p:cNvPr id="5" name="Text 7"/>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585" y="2813407"/>
            <a:ext cx="11582110" cy="186630"/>
          </a:xfrm>
          <a:prstGeom prst="rect">
            <a:avLst/>
          </a:prstGeom>
          <a:noFill/>
          <a:ln/>
        </p:spPr>
        <p:txBody>
          <a:bodyPr wrap="none" lIns="0" tIns="0" rIns="0" bIns="0" rtlCol="0" anchor="t"/>
          <a:lstStyle/>
          <a:p>
            <a:pPr marL="0" indent="0" algn="l">
              <a:lnSpc>
                <a:spcPct val="117000"/>
              </a:lnSpc>
              <a:buNone/>
            </a:pPr>
            <a:r>
              <a:rPr lang="en-US" sz="1050" kern="100" spc="126" dirty="0">
                <a:solidFill>
                  <a:srgbClr val="9A9A9A"/>
                </a:solidFill>
                <a:latin typeface="Martian Mono Medium" pitchFamily="34" charset="0"/>
                <a:ea typeface="Martian Mono Medium" pitchFamily="34" charset="-122"/>
                <a:cs typeface="Martian Mono Medium" pitchFamily="34" charset="-120"/>
              </a:rPr>
              <a:t>STREET LIGHT CONTROL PROJECT</a:t>
            </a:r>
            <a:endParaRPr lang="en-US" sz="1050" dirty="0"/>
          </a:p>
        </p:txBody>
      </p:sp>
      <p:sp>
        <p:nvSpPr>
          <p:cNvPr id="3" name="Text 1"/>
          <p:cNvSpPr/>
          <p:nvPr/>
        </p:nvSpPr>
        <p:spPr>
          <a:xfrm>
            <a:off x="609585" y="3105765"/>
            <a:ext cx="10972526" cy="538460"/>
          </a:xfrm>
          <a:prstGeom prst="rect">
            <a:avLst/>
          </a:prstGeom>
          <a:noFill/>
          <a:ln/>
        </p:spPr>
        <p:txBody>
          <a:bodyPr wrap="none" lIns="0" tIns="0" rIns="0" bIns="0" rtlCol="0" anchor="t"/>
          <a:lstStyle/>
          <a:p>
            <a:pPr marL="0" indent="0" algn="l">
              <a:lnSpc>
                <a:spcPct val="88000"/>
              </a:lnSpc>
              <a:buNone/>
            </a:pPr>
            <a:r>
              <a:rPr lang="en-US" sz="4000" kern="100" spc="-80" dirty="0">
                <a:solidFill>
                  <a:srgbClr val="FEFEFE"/>
                </a:solidFill>
                <a:latin typeface="Instrument Sans Medium" pitchFamily="34" charset="0"/>
                <a:ea typeface="Instrument Sans Medium" pitchFamily="34" charset="-122"/>
                <a:cs typeface="Instrument Sans Medium" pitchFamily="34" charset="-120"/>
              </a:rPr>
              <a:t>Thank you</a:t>
            </a:r>
            <a:endParaRPr lang="en-US" sz="4000" dirty="0"/>
          </a:p>
        </p:txBody>
      </p:sp>
      <p:sp>
        <p:nvSpPr>
          <p:cNvPr id="4" name="Text 2"/>
          <p:cNvSpPr/>
          <p:nvPr/>
        </p:nvSpPr>
        <p:spPr>
          <a:xfrm>
            <a:off x="609585" y="3788370"/>
            <a:ext cx="11582110" cy="266700"/>
          </a:xfrm>
          <a:prstGeom prst="rect">
            <a:avLst/>
          </a:prstGeom>
          <a:noFill/>
          <a:ln/>
        </p:spPr>
        <p:txBody>
          <a:bodyPr wrap="none" lIns="0" tIns="0" rIns="0" bIns="0" rtlCol="0" anchor="t"/>
          <a:lstStyle/>
          <a:p>
            <a:pPr marL="0" indent="0" algn="l">
              <a:lnSpc>
                <a:spcPct val="125000"/>
              </a:lnSpc>
              <a:buNone/>
            </a:pPr>
            <a:r>
              <a:rPr lang="en-US" sz="1400" dirty="0">
                <a:solidFill>
                  <a:srgbClr val="BFBFBF"/>
                </a:solidFill>
                <a:latin typeface="Open Sans" pitchFamily="34" charset="0"/>
                <a:ea typeface="Open Sans" pitchFamily="34" charset="-122"/>
                <a:cs typeface="Open Sans" pitchFamily="34" charset="-120"/>
              </a:rPr>
              <a:t>Questions and discussion are welcome.</a:t>
            </a:r>
            <a:endParaRPr lang="en-US" sz="1400" dirty="0"/>
          </a:p>
        </p:txBody>
      </p:sp>
      <p:sp>
        <p:nvSpPr>
          <p:cNvPr id="5" name="Text 3"/>
          <p:cNvSpPr/>
          <p:nvPr/>
        </p:nvSpPr>
        <p:spPr>
          <a:xfrm>
            <a:off x="11871524" y="6459835"/>
            <a:ext cx="320171" cy="186630"/>
          </a:xfrm>
          <a:prstGeom prst="rect">
            <a:avLst/>
          </a:prstGeom>
          <a:noFill/>
          <a:ln/>
        </p:spPr>
        <p:txBody>
          <a:bodyPr wrap="none" lIns="0" tIns="0" rIns="0" bIns="0" rtlCol="0" anchor="ctr"/>
          <a:lstStyle/>
          <a:p>
            <a:pPr marL="0" indent="0" algn="l">
              <a:lnSpc>
                <a:spcPct val="125000"/>
              </a:lnSpc>
              <a:buNone/>
            </a:pPr>
            <a:r>
              <a:rPr lang="en-US" sz="1000" dirty="0">
                <a:solidFill>
                  <a:srgbClr val="BFBFBF"/>
                </a:solidFill>
                <a:latin typeface="Open Sans" pitchFamily="34" charset="0"/>
                <a:ea typeface="Open Sans" pitchFamily="34" charset="-122"/>
                <a:cs typeface="Open Sans"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1632</Words>
  <Application>Microsoft Office PowerPoint</Application>
  <PresentationFormat>Widescreen</PresentationFormat>
  <Paragraphs>204</Paragraphs>
  <Slides>11</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Open Sans Bold</vt:lpstr>
      <vt:lpstr>Consolas</vt:lpstr>
      <vt:lpstr>Martian Mono Medium</vt:lpstr>
      <vt:lpstr>Martian Mono</vt:lpstr>
      <vt:lpstr>Open Sans SemiBold</vt:lpstr>
      <vt:lpstr>Martian Mono SemiBold</vt:lpstr>
      <vt:lpstr>Instrument Sans Medium</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Shaan Inampudi</cp:lastModifiedBy>
  <cp:revision>2</cp:revision>
  <dcterms:created xsi:type="dcterms:W3CDTF">2026-10-15T03:03:50Z</dcterms:created>
  <dcterms:modified xsi:type="dcterms:W3CDTF">2026-10-15T03:04:15Z</dcterms:modified>
</cp:coreProperties>
</file>